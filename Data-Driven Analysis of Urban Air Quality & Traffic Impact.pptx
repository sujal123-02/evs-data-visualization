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94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757ab2fb66e3393c7155c149d93db85a6f2b2f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1250" b="312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98611" y="0"/>
            <a:ext cx="11986415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4810" y="774383"/>
            <a:ext cx="3369945" cy="426720"/>
          </a:xfrm>
          <a:custGeom>
            <a:avLst/>
            <a:gdLst/>
            <a:ahLst/>
            <a:cxnLst/>
            <a:rect l="l" t="t" r="r" b="b"/>
            <a:pathLst>
              <a:path w="3369945" h="426720">
                <a:moveTo>
                  <a:pt x="213360" y="0"/>
                </a:moveTo>
                <a:lnTo>
                  <a:pt x="3156585" y="0"/>
                </a:lnTo>
                <a:cubicBezTo>
                  <a:pt x="3274420" y="0"/>
                  <a:pt x="3369945" y="95525"/>
                  <a:pt x="3369945" y="213360"/>
                </a:cubicBezTo>
                <a:lnTo>
                  <a:pt x="3369945" y="213360"/>
                </a:lnTo>
                <a:cubicBezTo>
                  <a:pt x="3369945" y="331195"/>
                  <a:pt x="3274420" y="426720"/>
                  <a:pt x="31565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02932" y="90201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7733" y="87344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Data Analytics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14513"/>
            <a:ext cx="100965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Analysis of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Air Quality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Traffic 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8245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Assessing Environmental Compliance and Health Risks in Indian Cities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9474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76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66800" y="596265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6191250"/>
            <a:ext cx="1523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Sujal Chaudhari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72644" y="56045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921234" y="575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454634" y="561975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54634" y="584835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 Academy of Engineering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600" y="381000"/>
            <a:ext cx="477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906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analysis framework linking traffic patterns to urban air quality degradation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7700" y="201287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148" y="2146221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187964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Identification &amp; Relevance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260521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environmental records linking traffic density to pollutant concentration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6386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0050" y="326386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7700" y="3714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8312" y="38481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47800" y="3705225"/>
            <a:ext cx="421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Linkage &amp; 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7800" y="4086106"/>
            <a:ext cx="4181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CPCB framework, NAAQS standards, NCAP &amp; NAMP programs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96574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0050" y="496574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7700" y="541651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002" y="554986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5407105"/>
            <a:ext cx="418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Legislation &amp; Compliance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5787985"/>
            <a:ext cx="4143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Act 1981, BS-VI norms, EV mission, Non-Attainment Cities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56210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29350" y="156210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77000" y="201287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06421" y="214622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187964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Architecture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77100" y="2260521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Four-pillar visualization: Spatial, Causal, Chemical &amp; Temporal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326386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29350" y="326386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77000" y="3714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08326" y="38481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77100" y="35814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77100" y="3962281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showing pollution hotspots, traffic correlation &amp; trends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4965740"/>
            <a:ext cx="5581650" cy="1514475"/>
          </a:xfrm>
          <a:custGeom>
            <a:avLst/>
            <a:gdLst/>
            <a:ahLst/>
            <a:cxnLst/>
            <a:rect l="l" t="t" r="r" b="b"/>
            <a:pathLst>
              <a:path w="5581650" h="1514475">
                <a:moveTo>
                  <a:pt x="0" y="0"/>
                </a:moveTo>
                <a:lnTo>
                  <a:pt x="5467353" y="0"/>
                </a:lnTo>
                <a:cubicBezTo>
                  <a:pt x="5530435" y="0"/>
                  <a:pt x="5581650" y="51215"/>
                  <a:pt x="5581650" y="114297"/>
                </a:cubicBezTo>
                <a:lnTo>
                  <a:pt x="5581650" y="1400178"/>
                </a:lnTo>
                <a:cubicBezTo>
                  <a:pt x="5581650" y="1463260"/>
                  <a:pt x="5530435" y="1514475"/>
                  <a:pt x="5467353" y="1514475"/>
                </a:cubicBez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29350" y="496574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77000" y="541651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05111" y="554986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77100" y="5407105"/>
            <a:ext cx="441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Recommendations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77100" y="5787985"/>
            <a:ext cx="4371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insights: Low Emission Zones &amp; synchronized traffic signals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674495" cy="350520"/>
          </a:xfrm>
          <a:custGeom>
            <a:avLst/>
            <a:gdLst/>
            <a:ahLst/>
            <a:cxnLst/>
            <a:rect l="l" t="t" r="r" b="b"/>
            <a:pathLst>
              <a:path w="1674495" h="350520">
                <a:moveTo>
                  <a:pt x="175260" y="0"/>
                </a:moveTo>
                <a:lnTo>
                  <a:pt x="1499235" y="0"/>
                </a:lnTo>
                <a:cubicBezTo>
                  <a:pt x="1596028" y="0"/>
                  <a:pt x="1674495" y="78467"/>
                  <a:pt x="1674495" y="175260"/>
                </a:cubicBezTo>
                <a:lnTo>
                  <a:pt x="1674495" y="175260"/>
                </a:lnTo>
                <a:cubicBezTo>
                  <a:pt x="1674495" y="272053"/>
                  <a:pt x="1596028" y="350520"/>
                  <a:pt x="1499235" y="350520"/>
                </a:cubicBezTo>
                <a:lnTo>
                  <a:pt x="175260" y="350520"/>
                </a:lnTo>
                <a:cubicBezTo>
                  <a:pt x="78531" y="350520"/>
                  <a:pt x="0" y="271989"/>
                  <a:pt x="0" y="175260"/>
                </a:cubicBezTo>
                <a:lnTo>
                  <a:pt x="0" y="175260"/>
                </a:lnTo>
                <a:cubicBezTo>
                  <a:pt x="0" y="78531"/>
                  <a:pt x="78531" y="0"/>
                  <a:pt x="17526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1020" y="491490"/>
            <a:ext cx="1428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76820" y="555308"/>
            <a:ext cx="9629775" cy="9525"/>
          </a:xfrm>
          <a:custGeom>
            <a:avLst/>
            <a:gdLst/>
            <a:ahLst/>
            <a:cxnLst/>
            <a:rect l="l" t="t" r="r" b="b"/>
            <a:pathLst>
              <a:path w="9629775" h="9525">
                <a:moveTo>
                  <a:pt x="0" y="0"/>
                </a:moveTo>
                <a:lnTo>
                  <a:pt x="9629775" y="0"/>
                </a:lnTo>
                <a:lnTo>
                  <a:pt x="96297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1000" y="8534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Identification &amp; Relevance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8684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Processed Multi-City Air Quality Dataset (2022-2023)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885950"/>
            <a:ext cx="6713220" cy="2198370"/>
          </a:xfrm>
          <a:custGeom>
            <a:avLst/>
            <a:gdLst/>
            <a:ahLst/>
            <a:cxnLst/>
            <a:rect l="l" t="t" r="r" b="b"/>
            <a:pathLst>
              <a:path w="6713220" h="2198370">
                <a:moveTo>
                  <a:pt x="114293" y="0"/>
                </a:moveTo>
                <a:lnTo>
                  <a:pt x="6598927" y="0"/>
                </a:lnTo>
                <a:cubicBezTo>
                  <a:pt x="6662049" y="0"/>
                  <a:pt x="6713220" y="51171"/>
                  <a:pt x="6713220" y="114293"/>
                </a:cubicBezTo>
                <a:lnTo>
                  <a:pt x="6713220" y="2084077"/>
                </a:lnTo>
                <a:cubicBezTo>
                  <a:pt x="6713220" y="2147199"/>
                  <a:pt x="6662049" y="2198370"/>
                  <a:pt x="6598927" y="2198370"/>
                </a:cubicBezTo>
                <a:lnTo>
                  <a:pt x="114293" y="2198370"/>
                </a:lnTo>
                <a:cubicBezTo>
                  <a:pt x="51171" y="2198370"/>
                  <a:pt x="0" y="2147199"/>
                  <a:pt x="0" y="20840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7220" y="21183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3908" y="227076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03020" y="211836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Volume &amp; 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03020" y="242304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environmental monitoring records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30" y="2846070"/>
            <a:ext cx="3036570" cy="998220"/>
          </a:xfrm>
          <a:custGeom>
            <a:avLst/>
            <a:gdLst/>
            <a:ahLst/>
            <a:cxnLst/>
            <a:rect l="l" t="t" r="r" b="b"/>
            <a:pathLst>
              <a:path w="3036570" h="998220">
                <a:moveTo>
                  <a:pt x="76204" y="0"/>
                </a:moveTo>
                <a:lnTo>
                  <a:pt x="2960366" y="0"/>
                </a:lnTo>
                <a:cubicBezTo>
                  <a:pt x="3002452" y="0"/>
                  <a:pt x="3036570" y="34118"/>
                  <a:pt x="3036570" y="76204"/>
                </a:cubicBezTo>
                <a:lnTo>
                  <a:pt x="3036570" y="922016"/>
                </a:lnTo>
                <a:cubicBezTo>
                  <a:pt x="3036570" y="964102"/>
                  <a:pt x="3002452" y="998220"/>
                  <a:pt x="29603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4865" y="302133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29665" y="300228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307081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 </a:t>
            </a:r>
            <a:r>
              <a:rPr lang="en-US" sz="1500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21430" y="2846070"/>
            <a:ext cx="3036570" cy="998220"/>
          </a:xfrm>
          <a:custGeom>
            <a:avLst/>
            <a:gdLst/>
            <a:ahLst/>
            <a:cxnLst/>
            <a:rect l="l" t="t" r="r" b="b"/>
            <a:pathLst>
              <a:path w="3036570" h="998220">
                <a:moveTo>
                  <a:pt x="76204" y="0"/>
                </a:moveTo>
                <a:lnTo>
                  <a:pt x="2960366" y="0"/>
                </a:lnTo>
                <a:cubicBezTo>
                  <a:pt x="3002452" y="0"/>
                  <a:pt x="3036570" y="34118"/>
                  <a:pt x="3036570" y="76204"/>
                </a:cubicBezTo>
                <a:lnTo>
                  <a:pt x="3036570" y="922016"/>
                </a:lnTo>
                <a:cubicBezTo>
                  <a:pt x="3036570" y="964102"/>
                  <a:pt x="3002452" y="998220"/>
                  <a:pt x="29603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13359" y="302133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30065" y="3002281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77640" y="3307081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2022-23 </a:t>
            </a:r>
            <a:r>
              <a:rPr lang="en-US" sz="1500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4278630"/>
            <a:ext cx="6713220" cy="2322195"/>
          </a:xfrm>
          <a:custGeom>
            <a:avLst/>
            <a:gdLst/>
            <a:ahLst/>
            <a:cxnLst/>
            <a:rect l="l" t="t" r="r" b="b"/>
            <a:pathLst>
              <a:path w="6713220" h="2322195">
                <a:moveTo>
                  <a:pt x="114298" y="0"/>
                </a:moveTo>
                <a:lnTo>
                  <a:pt x="6598922" y="0"/>
                </a:lnTo>
                <a:cubicBezTo>
                  <a:pt x="6662047" y="0"/>
                  <a:pt x="6713220" y="51173"/>
                  <a:pt x="6713220" y="114298"/>
                </a:cubicBezTo>
                <a:lnTo>
                  <a:pt x="6713220" y="2207897"/>
                </a:lnTo>
                <a:cubicBezTo>
                  <a:pt x="6713220" y="2271022"/>
                  <a:pt x="6662047" y="2322195"/>
                  <a:pt x="6598922" y="2322195"/>
                </a:cubicBezTo>
                <a:lnTo>
                  <a:pt x="114298" y="2322195"/>
                </a:lnTo>
                <a:cubicBezTo>
                  <a:pt x="51215" y="2322195"/>
                  <a:pt x="0" y="2270980"/>
                  <a:pt x="0" y="220789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2939" y="45491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5345" y="4511040"/>
            <a:ext cx="610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Pollutants Analyzed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" y="4933951"/>
            <a:ext cx="1150620" cy="912495"/>
          </a:xfrm>
          <a:custGeom>
            <a:avLst/>
            <a:gdLst/>
            <a:ahLst/>
            <a:cxnLst/>
            <a:rect l="l" t="t" r="r" b="b"/>
            <a:pathLst>
              <a:path w="1150620" h="912495">
                <a:moveTo>
                  <a:pt x="76202" y="0"/>
                </a:moveTo>
                <a:lnTo>
                  <a:pt x="1074418" y="0"/>
                </a:lnTo>
                <a:cubicBezTo>
                  <a:pt x="1116503" y="0"/>
                  <a:pt x="1150620" y="34117"/>
                  <a:pt x="1150620" y="76202"/>
                </a:cubicBezTo>
                <a:lnTo>
                  <a:pt x="1150620" y="836293"/>
                </a:lnTo>
                <a:cubicBezTo>
                  <a:pt x="1150620" y="878378"/>
                  <a:pt x="1116503" y="912495"/>
                  <a:pt x="1074418" y="912495"/>
                </a:cubicBezTo>
                <a:lnTo>
                  <a:pt x="76202" y="912495"/>
                </a:lnTo>
                <a:cubicBezTo>
                  <a:pt x="34117" y="912495"/>
                  <a:pt x="0" y="878378"/>
                  <a:pt x="0" y="8362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1990" y="505206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PM₂.₅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5802" y="5394840"/>
            <a:ext cx="9810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 Particulates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93570" y="4933951"/>
            <a:ext cx="1150620" cy="912495"/>
          </a:xfrm>
          <a:custGeom>
            <a:avLst/>
            <a:gdLst/>
            <a:ahLst/>
            <a:cxnLst/>
            <a:rect l="l" t="t" r="r" b="b"/>
            <a:pathLst>
              <a:path w="1150620" h="912495">
                <a:moveTo>
                  <a:pt x="76202" y="0"/>
                </a:moveTo>
                <a:lnTo>
                  <a:pt x="1074418" y="0"/>
                </a:lnTo>
                <a:cubicBezTo>
                  <a:pt x="1116503" y="0"/>
                  <a:pt x="1150620" y="34117"/>
                  <a:pt x="1150620" y="76202"/>
                </a:cubicBezTo>
                <a:lnTo>
                  <a:pt x="1150620" y="836293"/>
                </a:lnTo>
                <a:cubicBezTo>
                  <a:pt x="1150620" y="878378"/>
                  <a:pt x="1116503" y="912495"/>
                  <a:pt x="1074418" y="912495"/>
                </a:cubicBezTo>
                <a:lnTo>
                  <a:pt x="76202" y="912495"/>
                </a:lnTo>
                <a:cubicBezTo>
                  <a:pt x="34117" y="912495"/>
                  <a:pt x="0" y="878378"/>
                  <a:pt x="0" y="8362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954530" y="505206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PM₁₀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78342" y="5394840"/>
            <a:ext cx="9810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Coarse Particulates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66110" y="4933951"/>
            <a:ext cx="1150620" cy="912495"/>
          </a:xfrm>
          <a:custGeom>
            <a:avLst/>
            <a:gdLst/>
            <a:ahLst/>
            <a:cxnLst/>
            <a:rect l="l" t="t" r="r" b="b"/>
            <a:pathLst>
              <a:path w="1150620" h="912495">
                <a:moveTo>
                  <a:pt x="76202" y="0"/>
                </a:moveTo>
                <a:lnTo>
                  <a:pt x="1074418" y="0"/>
                </a:lnTo>
                <a:cubicBezTo>
                  <a:pt x="1116503" y="0"/>
                  <a:pt x="1150620" y="34117"/>
                  <a:pt x="1150620" y="76202"/>
                </a:cubicBezTo>
                <a:lnTo>
                  <a:pt x="1150620" y="836293"/>
                </a:lnTo>
                <a:cubicBezTo>
                  <a:pt x="1150620" y="878378"/>
                  <a:pt x="1116503" y="912495"/>
                  <a:pt x="1074418" y="912495"/>
                </a:cubicBezTo>
                <a:lnTo>
                  <a:pt x="76202" y="912495"/>
                </a:lnTo>
                <a:cubicBezTo>
                  <a:pt x="34117" y="912495"/>
                  <a:pt x="0" y="878378"/>
                  <a:pt x="0" y="8362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27070" y="505206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50883" y="5394840"/>
            <a:ext cx="9810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Nitrogen Dioxide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8650" y="4933951"/>
            <a:ext cx="1150620" cy="912495"/>
          </a:xfrm>
          <a:custGeom>
            <a:avLst/>
            <a:gdLst/>
            <a:ahLst/>
            <a:cxnLst/>
            <a:rect l="l" t="t" r="r" b="b"/>
            <a:pathLst>
              <a:path w="1150620" h="912495">
                <a:moveTo>
                  <a:pt x="76202" y="0"/>
                </a:moveTo>
                <a:lnTo>
                  <a:pt x="1074418" y="0"/>
                </a:lnTo>
                <a:cubicBezTo>
                  <a:pt x="1116503" y="0"/>
                  <a:pt x="1150620" y="34117"/>
                  <a:pt x="1150620" y="76202"/>
                </a:cubicBezTo>
                <a:lnTo>
                  <a:pt x="1150620" y="836293"/>
                </a:lnTo>
                <a:cubicBezTo>
                  <a:pt x="1150620" y="878378"/>
                  <a:pt x="1116503" y="912495"/>
                  <a:pt x="1074418" y="912495"/>
                </a:cubicBezTo>
                <a:lnTo>
                  <a:pt x="76202" y="912495"/>
                </a:lnTo>
                <a:cubicBezTo>
                  <a:pt x="34117" y="912495"/>
                  <a:pt x="0" y="878378"/>
                  <a:pt x="0" y="8362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499610" y="505206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23422" y="5394840"/>
            <a:ext cx="981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Sulfur Dioxide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1190" y="4933951"/>
            <a:ext cx="1150620" cy="912495"/>
          </a:xfrm>
          <a:custGeom>
            <a:avLst/>
            <a:gdLst/>
            <a:ahLst/>
            <a:cxnLst/>
            <a:rect l="l" t="t" r="r" b="b"/>
            <a:pathLst>
              <a:path w="1150620" h="912495">
                <a:moveTo>
                  <a:pt x="76202" y="0"/>
                </a:moveTo>
                <a:lnTo>
                  <a:pt x="1074418" y="0"/>
                </a:lnTo>
                <a:cubicBezTo>
                  <a:pt x="1116503" y="0"/>
                  <a:pt x="1150620" y="34117"/>
                  <a:pt x="1150620" y="76202"/>
                </a:cubicBezTo>
                <a:lnTo>
                  <a:pt x="1150620" y="836293"/>
                </a:lnTo>
                <a:cubicBezTo>
                  <a:pt x="1150620" y="878378"/>
                  <a:pt x="1116503" y="912495"/>
                  <a:pt x="1074418" y="912495"/>
                </a:cubicBezTo>
                <a:lnTo>
                  <a:pt x="76202" y="912495"/>
                </a:lnTo>
                <a:cubicBezTo>
                  <a:pt x="34117" y="912495"/>
                  <a:pt x="0" y="878378"/>
                  <a:pt x="0" y="8362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772150" y="505206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95963" y="5394840"/>
            <a:ext cx="9810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Monoxide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4250" y="1885950"/>
            <a:ext cx="4474845" cy="2560320"/>
          </a:xfrm>
          <a:custGeom>
            <a:avLst/>
            <a:gdLst/>
            <a:ahLst/>
            <a:cxnLst/>
            <a:rect l="l" t="t" r="r" b="b"/>
            <a:pathLst>
              <a:path w="4474845" h="2560320">
                <a:moveTo>
                  <a:pt x="114293" y="0"/>
                </a:moveTo>
                <a:lnTo>
                  <a:pt x="4360552" y="0"/>
                </a:lnTo>
                <a:cubicBezTo>
                  <a:pt x="4423674" y="0"/>
                  <a:pt x="4474845" y="51171"/>
                  <a:pt x="4474845" y="114293"/>
                </a:cubicBezTo>
                <a:lnTo>
                  <a:pt x="4474845" y="2446027"/>
                </a:lnTo>
                <a:cubicBezTo>
                  <a:pt x="4474845" y="2509149"/>
                  <a:pt x="4423674" y="2560320"/>
                  <a:pt x="4360552" y="2560320"/>
                </a:cubicBezTo>
                <a:lnTo>
                  <a:pt x="114293" y="2560320"/>
                </a:lnTo>
                <a:cubicBezTo>
                  <a:pt x="51171" y="2560320"/>
                  <a:pt x="0" y="2509149"/>
                  <a:pt x="0" y="24460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590473" y="21564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804785" y="2118360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Data Layers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66660" y="25755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709535" y="268986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19050" y="-9525"/>
                </a:moveTo>
                <a:cubicBezTo>
                  <a:pt x="8543" y="-9525"/>
                  <a:pt x="0" y="-982"/>
                  <a:pt x="0" y="9525"/>
                </a:cubicBezTo>
                <a:lnTo>
                  <a:pt x="0" y="114300"/>
                </a:lnTo>
                <a:cubicBezTo>
                  <a:pt x="0" y="140613"/>
                  <a:pt x="21312" y="161925"/>
                  <a:pt x="47625" y="161925"/>
                </a:cubicBezTo>
                <a:cubicBezTo>
                  <a:pt x="73938" y="161925"/>
                  <a:pt x="95250" y="140613"/>
                  <a:pt x="95250" y="114300"/>
                </a:cubicBezTo>
                <a:lnTo>
                  <a:pt x="95250" y="9525"/>
                </a:lnTo>
                <a:cubicBezTo>
                  <a:pt x="95250" y="-982"/>
                  <a:pt x="86707" y="-9525"/>
                  <a:pt x="76200" y="-9525"/>
                </a:cubicBezTo>
                <a:lnTo>
                  <a:pt x="19050" y="-9525"/>
                </a:lnTo>
                <a:close/>
                <a:moveTo>
                  <a:pt x="47625" y="107156"/>
                </a:moveTo>
                <a:cubicBezTo>
                  <a:pt x="56823" y="107156"/>
                  <a:pt x="64294" y="114627"/>
                  <a:pt x="64294" y="123825"/>
                </a:cubicBezTo>
                <a:cubicBezTo>
                  <a:pt x="64294" y="133023"/>
                  <a:pt x="56823" y="140494"/>
                  <a:pt x="47625" y="140494"/>
                </a:cubicBezTo>
                <a:cubicBezTo>
                  <a:pt x="38427" y="140494"/>
                  <a:pt x="30956" y="133023"/>
                  <a:pt x="30956" y="123825"/>
                </a:cubicBezTo>
                <a:cubicBezTo>
                  <a:pt x="30956" y="114627"/>
                  <a:pt x="38427" y="107156"/>
                  <a:pt x="47625" y="107156"/>
                </a:cubicBezTo>
                <a:close/>
                <a:moveTo>
                  <a:pt x="64294" y="76200"/>
                </a:moveTo>
                <a:cubicBezTo>
                  <a:pt x="64294" y="85400"/>
                  <a:pt x="56825" y="92869"/>
                  <a:pt x="47625" y="92869"/>
                </a:cubicBezTo>
                <a:cubicBezTo>
                  <a:pt x="38425" y="92869"/>
                  <a:pt x="30956" y="85400"/>
                  <a:pt x="30956" y="76200"/>
                </a:cubicBezTo>
                <a:cubicBezTo>
                  <a:pt x="30956" y="67000"/>
                  <a:pt x="38425" y="59531"/>
                  <a:pt x="47625" y="59531"/>
                </a:cubicBezTo>
                <a:cubicBezTo>
                  <a:pt x="56825" y="59531"/>
                  <a:pt x="64294" y="67000"/>
                  <a:pt x="64294" y="76200"/>
                </a:cubicBezTo>
                <a:close/>
                <a:moveTo>
                  <a:pt x="47625" y="45244"/>
                </a:moveTo>
                <a:cubicBezTo>
                  <a:pt x="38425" y="45244"/>
                  <a:pt x="30956" y="37775"/>
                  <a:pt x="30956" y="28575"/>
                </a:cubicBezTo>
                <a:cubicBezTo>
                  <a:pt x="30956" y="19375"/>
                  <a:pt x="38425" y="11906"/>
                  <a:pt x="47625" y="11906"/>
                </a:cubicBezTo>
                <a:cubicBezTo>
                  <a:pt x="56825" y="11906"/>
                  <a:pt x="64294" y="19375"/>
                  <a:pt x="64294" y="28575"/>
                </a:cubicBezTo>
                <a:cubicBezTo>
                  <a:pt x="64294" y="37775"/>
                  <a:pt x="56825" y="45244"/>
                  <a:pt x="47625" y="4524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61960" y="253746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Scenario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061960" y="2804160"/>
            <a:ext cx="32766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vs. Non-Peak hour classification for causal analysis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66660" y="317325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700010" y="328755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061960" y="3135154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Coordinates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61960" y="3401854"/>
            <a:ext cx="2867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location data for spatial hotspot mapping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66660" y="37709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680960" y="38852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061960" y="3732848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Categories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61960" y="3999548"/>
            <a:ext cx="3286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impact descriptions aligned with CPCB standards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4250" y="4646772"/>
            <a:ext cx="4474845" cy="1950720"/>
          </a:xfrm>
          <a:custGeom>
            <a:avLst/>
            <a:gdLst/>
            <a:ahLst/>
            <a:cxnLst/>
            <a:rect l="l" t="t" r="r" b="b"/>
            <a:pathLst>
              <a:path w="4474845" h="1950720">
                <a:moveTo>
                  <a:pt x="114293" y="0"/>
                </a:moveTo>
                <a:lnTo>
                  <a:pt x="4360552" y="0"/>
                </a:lnTo>
                <a:cubicBezTo>
                  <a:pt x="4423674" y="0"/>
                  <a:pt x="4474845" y="51171"/>
                  <a:pt x="4474845" y="114293"/>
                </a:cubicBezTo>
                <a:lnTo>
                  <a:pt x="4474845" y="1836427"/>
                </a:lnTo>
                <a:cubicBezTo>
                  <a:pt x="4474845" y="1899549"/>
                  <a:pt x="4423674" y="1950720"/>
                  <a:pt x="4360552" y="1950720"/>
                </a:cubicBezTo>
                <a:lnTo>
                  <a:pt x="114293" y="1950720"/>
                </a:lnTo>
                <a:cubicBezTo>
                  <a:pt x="51171" y="1950720"/>
                  <a:pt x="0" y="1899549"/>
                  <a:pt x="0" y="18364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580948" y="48982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966710" y="4879181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 Value Proposition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66660" y="5260181"/>
            <a:ext cx="4086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dataset is unique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it explicitly links </a:t>
            </a:r>
            <a:r>
              <a:rPr lang="en-US" sz="1200" dirty="0">
                <a:solidFill>
                  <a:srgbClr val="E0E2E5"/>
                </a:solidFill>
                <a:highlight>
                  <a:srgbClr val="D4A26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density (cause) 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</a:t>
            </a:r>
            <a:r>
              <a:rPr lang="en-US" sz="1200" dirty="0">
                <a:solidFill>
                  <a:srgbClr val="E0E2E5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pollutant concentration (effect) 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66660" y="5869781"/>
            <a:ext cx="4086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a holistic view of urban environmental health, enabling evidence-based policy interventions.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99" y="340399"/>
            <a:ext cx="1860396" cy="310066"/>
          </a:xfrm>
          <a:custGeom>
            <a:avLst/>
            <a:gdLst/>
            <a:ahLst/>
            <a:cxnLst/>
            <a:rect l="l" t="t" r="r" b="b"/>
            <a:pathLst>
              <a:path w="1860396" h="310066">
                <a:moveTo>
                  <a:pt x="155033" y="0"/>
                </a:moveTo>
                <a:lnTo>
                  <a:pt x="1705363" y="0"/>
                </a:lnTo>
                <a:cubicBezTo>
                  <a:pt x="1790986" y="0"/>
                  <a:pt x="1860396" y="69411"/>
                  <a:pt x="1860396" y="155033"/>
                </a:cubicBezTo>
                <a:lnTo>
                  <a:pt x="1860396" y="155033"/>
                </a:lnTo>
                <a:cubicBezTo>
                  <a:pt x="1860396" y="240655"/>
                  <a:pt x="1790986" y="310066"/>
                  <a:pt x="1705363" y="310066"/>
                </a:cubicBezTo>
                <a:lnTo>
                  <a:pt x="155033" y="310066"/>
                </a:lnTo>
                <a:cubicBezTo>
                  <a:pt x="69411" y="310066"/>
                  <a:pt x="0" y="240655"/>
                  <a:pt x="0" y="155033"/>
                </a:cubicBezTo>
                <a:lnTo>
                  <a:pt x="0" y="155033"/>
                </a:lnTo>
                <a:cubicBezTo>
                  <a:pt x="0" y="69411"/>
                  <a:pt x="69411" y="0"/>
                  <a:pt x="15503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78580" y="434767"/>
            <a:ext cx="1641117" cy="13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kern="0" spc="46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03378" y="491219"/>
            <a:ext cx="9554753" cy="8426"/>
          </a:xfrm>
          <a:custGeom>
            <a:avLst/>
            <a:gdLst/>
            <a:ahLst/>
            <a:cxnLst/>
            <a:rect l="l" t="t" r="r" b="b"/>
            <a:pathLst>
              <a:path w="9554753" h="8426">
                <a:moveTo>
                  <a:pt x="0" y="0"/>
                </a:moveTo>
                <a:lnTo>
                  <a:pt x="9554753" y="0"/>
                </a:lnTo>
                <a:lnTo>
                  <a:pt x="9554753" y="8426"/>
                </a:lnTo>
                <a:lnTo>
                  <a:pt x="0" y="842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7028" y="754944"/>
            <a:ext cx="11720160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Linkage &amp; Monitoring Bodies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7028" y="1226784"/>
            <a:ext cx="1160220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standards and programs guiding air quality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0399" y="1668291"/>
            <a:ext cx="5651965" cy="2635562"/>
          </a:xfrm>
          <a:custGeom>
            <a:avLst/>
            <a:gdLst/>
            <a:ahLst/>
            <a:cxnLst/>
            <a:rect l="l" t="t" r="r" b="b"/>
            <a:pathLst>
              <a:path w="5651965" h="2635562">
                <a:moveTo>
                  <a:pt x="101100" y="0"/>
                </a:moveTo>
                <a:lnTo>
                  <a:pt x="5550865" y="0"/>
                </a:lnTo>
                <a:cubicBezTo>
                  <a:pt x="5606701" y="0"/>
                  <a:pt x="5651965" y="45264"/>
                  <a:pt x="5651965" y="101100"/>
                </a:cubicBezTo>
                <a:lnTo>
                  <a:pt x="5651965" y="2534461"/>
                </a:lnTo>
                <a:cubicBezTo>
                  <a:pt x="5651965" y="2590297"/>
                  <a:pt x="5606701" y="2635562"/>
                  <a:pt x="5550865" y="2635562"/>
                </a:cubicBezTo>
                <a:lnTo>
                  <a:pt x="101100" y="2635562"/>
                </a:lnTo>
                <a:cubicBezTo>
                  <a:pt x="45264" y="2635562"/>
                  <a:pt x="0" y="2590298"/>
                  <a:pt x="0" y="2534461"/>
                </a:cubicBezTo>
                <a:lnTo>
                  <a:pt x="0" y="101100"/>
                </a:lnTo>
                <a:cubicBezTo>
                  <a:pt x="0" y="45264"/>
                  <a:pt x="45264" y="0"/>
                  <a:pt x="101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9356" y="1877249"/>
            <a:ext cx="529134" cy="529134"/>
          </a:xfrm>
          <a:custGeom>
            <a:avLst/>
            <a:gdLst/>
            <a:ahLst/>
            <a:cxnLst/>
            <a:rect l="l" t="t" r="r" b="b"/>
            <a:pathLst>
              <a:path w="529134" h="529134">
                <a:moveTo>
                  <a:pt x="101107" y="0"/>
                </a:moveTo>
                <a:lnTo>
                  <a:pt x="428027" y="0"/>
                </a:lnTo>
                <a:cubicBezTo>
                  <a:pt x="483830" y="0"/>
                  <a:pt x="529134" y="45305"/>
                  <a:pt x="529134" y="101107"/>
                </a:cubicBezTo>
                <a:lnTo>
                  <a:pt x="529134" y="428027"/>
                </a:lnTo>
                <a:cubicBezTo>
                  <a:pt x="529134" y="483867"/>
                  <a:pt x="483867" y="529134"/>
                  <a:pt x="428027" y="529134"/>
                </a:cubicBezTo>
                <a:lnTo>
                  <a:pt x="101107" y="529134"/>
                </a:lnTo>
                <a:cubicBezTo>
                  <a:pt x="45305" y="529134"/>
                  <a:pt x="0" y="483830"/>
                  <a:pt x="0" y="428027"/>
                </a:cubicBezTo>
                <a:lnTo>
                  <a:pt x="0" y="101107"/>
                </a:lnTo>
                <a:cubicBezTo>
                  <a:pt x="0" y="45267"/>
                  <a:pt x="45267" y="0"/>
                  <a:pt x="101107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2926" y="2017116"/>
            <a:ext cx="189578" cy="252771"/>
          </a:xfrm>
          <a:custGeom>
            <a:avLst/>
            <a:gdLst/>
            <a:ahLst/>
            <a:cxnLst/>
            <a:rect l="l" t="t" r="r" b="b"/>
            <a:pathLst>
              <a:path w="189578" h="252771">
                <a:moveTo>
                  <a:pt x="31596" y="0"/>
                </a:moveTo>
                <a:cubicBezTo>
                  <a:pt x="14169" y="0"/>
                  <a:pt x="0" y="14169"/>
                  <a:pt x="0" y="31596"/>
                </a:cubicBezTo>
                <a:lnTo>
                  <a:pt x="0" y="221175"/>
                </a:lnTo>
                <a:cubicBezTo>
                  <a:pt x="0" y="238602"/>
                  <a:pt x="14169" y="252771"/>
                  <a:pt x="31596" y="252771"/>
                </a:cubicBezTo>
                <a:lnTo>
                  <a:pt x="157982" y="252771"/>
                </a:lnTo>
                <a:cubicBezTo>
                  <a:pt x="175409" y="252771"/>
                  <a:pt x="189578" y="238602"/>
                  <a:pt x="189578" y="221175"/>
                </a:cubicBezTo>
                <a:lnTo>
                  <a:pt x="189578" y="31596"/>
                </a:lnTo>
                <a:cubicBezTo>
                  <a:pt x="189578" y="14169"/>
                  <a:pt x="175409" y="0"/>
                  <a:pt x="157982" y="0"/>
                </a:cubicBezTo>
                <a:lnTo>
                  <a:pt x="31596" y="0"/>
                </a:lnTo>
                <a:close/>
                <a:moveTo>
                  <a:pt x="86890" y="173780"/>
                </a:moveTo>
                <a:lnTo>
                  <a:pt x="102688" y="173780"/>
                </a:lnTo>
                <a:cubicBezTo>
                  <a:pt x="111427" y="173780"/>
                  <a:pt x="118487" y="180840"/>
                  <a:pt x="118487" y="189578"/>
                </a:cubicBezTo>
                <a:lnTo>
                  <a:pt x="118487" y="229074"/>
                </a:lnTo>
                <a:lnTo>
                  <a:pt x="71092" y="229074"/>
                </a:lnTo>
                <a:lnTo>
                  <a:pt x="71092" y="189578"/>
                </a:lnTo>
                <a:cubicBezTo>
                  <a:pt x="71092" y="180840"/>
                  <a:pt x="78152" y="173780"/>
                  <a:pt x="86890" y="173780"/>
                </a:cubicBezTo>
                <a:close/>
                <a:moveTo>
                  <a:pt x="47395" y="55294"/>
                </a:moveTo>
                <a:cubicBezTo>
                  <a:pt x="47395" y="50949"/>
                  <a:pt x="50949" y="47395"/>
                  <a:pt x="55294" y="47395"/>
                </a:cubicBezTo>
                <a:lnTo>
                  <a:pt x="71092" y="47395"/>
                </a:lnTo>
                <a:cubicBezTo>
                  <a:pt x="75436" y="47395"/>
                  <a:pt x="78991" y="50949"/>
                  <a:pt x="78991" y="55294"/>
                </a:cubicBezTo>
                <a:lnTo>
                  <a:pt x="78991" y="71092"/>
                </a:lnTo>
                <a:cubicBezTo>
                  <a:pt x="78991" y="75436"/>
                  <a:pt x="75436" y="78991"/>
                  <a:pt x="71092" y="78991"/>
                </a:cubicBezTo>
                <a:lnTo>
                  <a:pt x="55294" y="78991"/>
                </a:lnTo>
                <a:cubicBezTo>
                  <a:pt x="50949" y="78991"/>
                  <a:pt x="47395" y="75436"/>
                  <a:pt x="47395" y="71092"/>
                </a:cubicBezTo>
                <a:lnTo>
                  <a:pt x="47395" y="55294"/>
                </a:lnTo>
                <a:close/>
                <a:moveTo>
                  <a:pt x="118487" y="47395"/>
                </a:moveTo>
                <a:lnTo>
                  <a:pt x="134285" y="47395"/>
                </a:lnTo>
                <a:cubicBezTo>
                  <a:pt x="138629" y="47395"/>
                  <a:pt x="142184" y="50949"/>
                  <a:pt x="142184" y="55294"/>
                </a:cubicBezTo>
                <a:lnTo>
                  <a:pt x="142184" y="71092"/>
                </a:lnTo>
                <a:cubicBezTo>
                  <a:pt x="142184" y="75436"/>
                  <a:pt x="138629" y="78991"/>
                  <a:pt x="134285" y="78991"/>
                </a:cubicBezTo>
                <a:lnTo>
                  <a:pt x="118487" y="78991"/>
                </a:lnTo>
                <a:cubicBezTo>
                  <a:pt x="114142" y="78991"/>
                  <a:pt x="110587" y="75436"/>
                  <a:pt x="110587" y="71092"/>
                </a:cubicBezTo>
                <a:lnTo>
                  <a:pt x="110587" y="55294"/>
                </a:lnTo>
                <a:cubicBezTo>
                  <a:pt x="110587" y="50949"/>
                  <a:pt x="114142" y="47395"/>
                  <a:pt x="118487" y="47395"/>
                </a:cubicBezTo>
                <a:close/>
                <a:moveTo>
                  <a:pt x="47395" y="118487"/>
                </a:moveTo>
                <a:cubicBezTo>
                  <a:pt x="47395" y="114142"/>
                  <a:pt x="50949" y="110587"/>
                  <a:pt x="55294" y="110587"/>
                </a:cubicBezTo>
                <a:lnTo>
                  <a:pt x="71092" y="110587"/>
                </a:lnTo>
                <a:cubicBezTo>
                  <a:pt x="75436" y="110587"/>
                  <a:pt x="78991" y="114142"/>
                  <a:pt x="78991" y="118487"/>
                </a:cubicBezTo>
                <a:lnTo>
                  <a:pt x="78991" y="134285"/>
                </a:lnTo>
                <a:cubicBezTo>
                  <a:pt x="78991" y="138629"/>
                  <a:pt x="75436" y="142184"/>
                  <a:pt x="71092" y="142184"/>
                </a:cubicBezTo>
                <a:lnTo>
                  <a:pt x="55294" y="142184"/>
                </a:lnTo>
                <a:cubicBezTo>
                  <a:pt x="50949" y="142184"/>
                  <a:pt x="47395" y="138629"/>
                  <a:pt x="47395" y="134285"/>
                </a:cubicBezTo>
                <a:lnTo>
                  <a:pt x="47395" y="118487"/>
                </a:lnTo>
                <a:close/>
                <a:moveTo>
                  <a:pt x="118487" y="110587"/>
                </a:moveTo>
                <a:lnTo>
                  <a:pt x="134285" y="110587"/>
                </a:lnTo>
                <a:cubicBezTo>
                  <a:pt x="138629" y="110587"/>
                  <a:pt x="142184" y="114142"/>
                  <a:pt x="142184" y="118487"/>
                </a:cubicBezTo>
                <a:lnTo>
                  <a:pt x="142184" y="134285"/>
                </a:lnTo>
                <a:cubicBezTo>
                  <a:pt x="142184" y="138629"/>
                  <a:pt x="138629" y="142184"/>
                  <a:pt x="134285" y="142184"/>
                </a:cubicBezTo>
                <a:lnTo>
                  <a:pt x="118487" y="142184"/>
                </a:lnTo>
                <a:cubicBezTo>
                  <a:pt x="114142" y="142184"/>
                  <a:pt x="110587" y="138629"/>
                  <a:pt x="110587" y="134285"/>
                </a:cubicBezTo>
                <a:lnTo>
                  <a:pt x="110587" y="118487"/>
                </a:lnTo>
                <a:cubicBezTo>
                  <a:pt x="110587" y="114142"/>
                  <a:pt x="114142" y="110587"/>
                  <a:pt x="118487" y="1105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20043" y="1907582"/>
            <a:ext cx="2839464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Pollution Control 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0043" y="2177097"/>
            <a:ext cx="280576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Monitoring Authority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7050" y="2615341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151663"/>
                </a:moveTo>
                <a:cubicBezTo>
                  <a:pt x="117684" y="151663"/>
                  <a:pt x="151663" y="117684"/>
                  <a:pt x="151663" y="75831"/>
                </a:cubicBezTo>
                <a:cubicBezTo>
                  <a:pt x="151663" y="33979"/>
                  <a:pt x="117684" y="0"/>
                  <a:pt x="75831" y="0"/>
                </a:cubicBezTo>
                <a:cubicBezTo>
                  <a:pt x="33979" y="0"/>
                  <a:pt x="0" y="33979"/>
                  <a:pt x="0" y="75831"/>
                </a:cubicBezTo>
                <a:cubicBezTo>
                  <a:pt x="0" y="117684"/>
                  <a:pt x="33979" y="151663"/>
                  <a:pt x="75831" y="151663"/>
                </a:cubicBezTo>
                <a:close/>
                <a:moveTo>
                  <a:pt x="100832" y="63005"/>
                </a:moveTo>
                <a:lnTo>
                  <a:pt x="77135" y="100921"/>
                </a:lnTo>
                <a:cubicBezTo>
                  <a:pt x="75891" y="102906"/>
                  <a:pt x="73758" y="104150"/>
                  <a:pt x="71418" y="104268"/>
                </a:cubicBezTo>
                <a:cubicBezTo>
                  <a:pt x="69078" y="104387"/>
                  <a:pt x="66826" y="103320"/>
                  <a:pt x="65434" y="101424"/>
                </a:cubicBezTo>
                <a:lnTo>
                  <a:pt x="51216" y="82467"/>
                </a:lnTo>
                <a:cubicBezTo>
                  <a:pt x="48846" y="79327"/>
                  <a:pt x="49498" y="74883"/>
                  <a:pt x="52638" y="72514"/>
                </a:cubicBezTo>
                <a:cubicBezTo>
                  <a:pt x="55778" y="70144"/>
                  <a:pt x="60221" y="70796"/>
                  <a:pt x="62591" y="73936"/>
                </a:cubicBezTo>
                <a:lnTo>
                  <a:pt x="70588" y="84599"/>
                </a:lnTo>
                <a:lnTo>
                  <a:pt x="88776" y="55481"/>
                </a:lnTo>
                <a:cubicBezTo>
                  <a:pt x="90850" y="52164"/>
                  <a:pt x="95234" y="51127"/>
                  <a:pt x="98581" y="53230"/>
                </a:cubicBezTo>
                <a:cubicBezTo>
                  <a:pt x="101928" y="55333"/>
                  <a:pt x="102935" y="59688"/>
                  <a:pt x="100832" y="6303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6673" y="2581638"/>
            <a:ext cx="50132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Color Codes: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 uses CPCB-defined color-coded health risk brackets (Good → Severe)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7050" y="3154586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151663"/>
                </a:moveTo>
                <a:cubicBezTo>
                  <a:pt x="117684" y="151663"/>
                  <a:pt x="151663" y="117684"/>
                  <a:pt x="151663" y="75831"/>
                </a:cubicBezTo>
                <a:cubicBezTo>
                  <a:pt x="151663" y="33979"/>
                  <a:pt x="117684" y="0"/>
                  <a:pt x="75831" y="0"/>
                </a:cubicBezTo>
                <a:cubicBezTo>
                  <a:pt x="33979" y="0"/>
                  <a:pt x="0" y="33979"/>
                  <a:pt x="0" y="75831"/>
                </a:cubicBezTo>
                <a:cubicBezTo>
                  <a:pt x="0" y="117684"/>
                  <a:pt x="33979" y="151663"/>
                  <a:pt x="75831" y="151663"/>
                </a:cubicBezTo>
                <a:close/>
                <a:moveTo>
                  <a:pt x="100832" y="63005"/>
                </a:moveTo>
                <a:lnTo>
                  <a:pt x="77135" y="100921"/>
                </a:lnTo>
                <a:cubicBezTo>
                  <a:pt x="75891" y="102906"/>
                  <a:pt x="73758" y="104150"/>
                  <a:pt x="71418" y="104268"/>
                </a:cubicBezTo>
                <a:cubicBezTo>
                  <a:pt x="69078" y="104387"/>
                  <a:pt x="66826" y="103320"/>
                  <a:pt x="65434" y="101424"/>
                </a:cubicBezTo>
                <a:lnTo>
                  <a:pt x="51216" y="82467"/>
                </a:lnTo>
                <a:cubicBezTo>
                  <a:pt x="48846" y="79327"/>
                  <a:pt x="49498" y="74883"/>
                  <a:pt x="52638" y="72514"/>
                </a:cubicBezTo>
                <a:cubicBezTo>
                  <a:pt x="55778" y="70144"/>
                  <a:pt x="60221" y="70796"/>
                  <a:pt x="62591" y="73936"/>
                </a:cubicBezTo>
                <a:lnTo>
                  <a:pt x="70588" y="84599"/>
                </a:lnTo>
                <a:lnTo>
                  <a:pt x="88776" y="55481"/>
                </a:lnTo>
                <a:cubicBezTo>
                  <a:pt x="90850" y="52164"/>
                  <a:pt x="95234" y="51127"/>
                  <a:pt x="98581" y="53230"/>
                </a:cubicBezTo>
                <a:cubicBezTo>
                  <a:pt x="101928" y="55333"/>
                  <a:pt x="102935" y="59688"/>
                  <a:pt x="100832" y="6303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6673" y="3120884"/>
            <a:ext cx="50132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Methodology: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 calculation protocols across all monitoring stations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050" y="3693832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151663"/>
                </a:moveTo>
                <a:cubicBezTo>
                  <a:pt x="117684" y="151663"/>
                  <a:pt x="151663" y="117684"/>
                  <a:pt x="151663" y="75831"/>
                </a:cubicBezTo>
                <a:cubicBezTo>
                  <a:pt x="151663" y="33979"/>
                  <a:pt x="117684" y="0"/>
                  <a:pt x="75831" y="0"/>
                </a:cubicBezTo>
                <a:cubicBezTo>
                  <a:pt x="33979" y="0"/>
                  <a:pt x="0" y="33979"/>
                  <a:pt x="0" y="75831"/>
                </a:cubicBezTo>
                <a:cubicBezTo>
                  <a:pt x="0" y="117684"/>
                  <a:pt x="33979" y="151663"/>
                  <a:pt x="75831" y="151663"/>
                </a:cubicBezTo>
                <a:close/>
                <a:moveTo>
                  <a:pt x="100832" y="63005"/>
                </a:moveTo>
                <a:lnTo>
                  <a:pt x="77135" y="100921"/>
                </a:lnTo>
                <a:cubicBezTo>
                  <a:pt x="75891" y="102906"/>
                  <a:pt x="73758" y="104150"/>
                  <a:pt x="71418" y="104268"/>
                </a:cubicBezTo>
                <a:cubicBezTo>
                  <a:pt x="69078" y="104387"/>
                  <a:pt x="66826" y="103320"/>
                  <a:pt x="65434" y="101424"/>
                </a:cubicBezTo>
                <a:lnTo>
                  <a:pt x="51216" y="82467"/>
                </a:lnTo>
                <a:cubicBezTo>
                  <a:pt x="48846" y="79327"/>
                  <a:pt x="49498" y="74883"/>
                  <a:pt x="52638" y="72514"/>
                </a:cubicBezTo>
                <a:cubicBezTo>
                  <a:pt x="55778" y="70144"/>
                  <a:pt x="60221" y="70796"/>
                  <a:pt x="62591" y="73936"/>
                </a:cubicBezTo>
                <a:lnTo>
                  <a:pt x="70588" y="84599"/>
                </a:lnTo>
                <a:lnTo>
                  <a:pt x="88776" y="55481"/>
                </a:lnTo>
                <a:cubicBezTo>
                  <a:pt x="90850" y="52164"/>
                  <a:pt x="95234" y="51127"/>
                  <a:pt x="98581" y="53230"/>
                </a:cubicBezTo>
                <a:cubicBezTo>
                  <a:pt x="101928" y="55333"/>
                  <a:pt x="102935" y="59688"/>
                  <a:pt x="100832" y="6303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6673" y="3660129"/>
            <a:ext cx="50132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Risk Categories: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 correlation between AQI values and public health advisories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0399" y="4479106"/>
            <a:ext cx="5651965" cy="2382790"/>
          </a:xfrm>
          <a:custGeom>
            <a:avLst/>
            <a:gdLst/>
            <a:ahLst/>
            <a:cxnLst/>
            <a:rect l="l" t="t" r="r" b="b"/>
            <a:pathLst>
              <a:path w="5651965" h="2382790">
                <a:moveTo>
                  <a:pt x="101102" y="0"/>
                </a:moveTo>
                <a:lnTo>
                  <a:pt x="5550863" y="0"/>
                </a:lnTo>
                <a:cubicBezTo>
                  <a:pt x="5606700" y="0"/>
                  <a:pt x="5651965" y="45265"/>
                  <a:pt x="5651965" y="101102"/>
                </a:cubicBezTo>
                <a:lnTo>
                  <a:pt x="5651965" y="2281689"/>
                </a:lnTo>
                <a:cubicBezTo>
                  <a:pt x="5651965" y="2337526"/>
                  <a:pt x="5606700" y="2382790"/>
                  <a:pt x="5550863" y="2382790"/>
                </a:cubicBezTo>
                <a:lnTo>
                  <a:pt x="101102" y="2382790"/>
                </a:lnTo>
                <a:cubicBezTo>
                  <a:pt x="45265" y="2382790"/>
                  <a:pt x="0" y="2337526"/>
                  <a:pt x="0" y="2281689"/>
                </a:cubicBezTo>
                <a:lnTo>
                  <a:pt x="0" y="101102"/>
                </a:lnTo>
                <a:cubicBezTo>
                  <a:pt x="0" y="45302"/>
                  <a:pt x="45302" y="0"/>
                  <a:pt x="101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5986" y="4684694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5520" y="4819505"/>
            <a:ext cx="252771" cy="202217"/>
          </a:xfrm>
          <a:custGeom>
            <a:avLst/>
            <a:gdLst/>
            <a:ahLst/>
            <a:cxnLst/>
            <a:rect l="l" t="t" r="r" b="b"/>
            <a:pathLst>
              <a:path w="252771" h="202217">
                <a:moveTo>
                  <a:pt x="151663" y="12639"/>
                </a:moveTo>
                <a:lnTo>
                  <a:pt x="202217" y="12639"/>
                </a:lnTo>
                <a:cubicBezTo>
                  <a:pt x="209208" y="12639"/>
                  <a:pt x="214856" y="18286"/>
                  <a:pt x="214856" y="25277"/>
                </a:cubicBezTo>
                <a:cubicBezTo>
                  <a:pt x="214856" y="32268"/>
                  <a:pt x="209208" y="37916"/>
                  <a:pt x="202217" y="37916"/>
                </a:cubicBezTo>
                <a:lnTo>
                  <a:pt x="157350" y="37916"/>
                </a:lnTo>
                <a:cubicBezTo>
                  <a:pt x="155296" y="48106"/>
                  <a:pt x="148306" y="56518"/>
                  <a:pt x="139024" y="60547"/>
                </a:cubicBezTo>
                <a:lnTo>
                  <a:pt x="139024" y="176940"/>
                </a:lnTo>
                <a:lnTo>
                  <a:pt x="202217" y="176940"/>
                </a:lnTo>
                <a:cubicBezTo>
                  <a:pt x="209208" y="176940"/>
                  <a:pt x="214856" y="182588"/>
                  <a:pt x="214856" y="189578"/>
                </a:cubicBezTo>
                <a:cubicBezTo>
                  <a:pt x="214856" y="196569"/>
                  <a:pt x="209208" y="202217"/>
                  <a:pt x="202217" y="202217"/>
                </a:cubicBezTo>
                <a:lnTo>
                  <a:pt x="50554" y="202217"/>
                </a:lnTo>
                <a:cubicBezTo>
                  <a:pt x="43564" y="202217"/>
                  <a:pt x="37916" y="196569"/>
                  <a:pt x="37916" y="189578"/>
                </a:cubicBezTo>
                <a:cubicBezTo>
                  <a:pt x="37916" y="182588"/>
                  <a:pt x="43564" y="176940"/>
                  <a:pt x="50554" y="176940"/>
                </a:cubicBezTo>
                <a:lnTo>
                  <a:pt x="113747" y="176940"/>
                </a:lnTo>
                <a:lnTo>
                  <a:pt x="113747" y="60547"/>
                </a:lnTo>
                <a:cubicBezTo>
                  <a:pt x="104466" y="56479"/>
                  <a:pt x="97475" y="48066"/>
                  <a:pt x="95421" y="37916"/>
                </a:cubicBezTo>
                <a:lnTo>
                  <a:pt x="50554" y="37916"/>
                </a:lnTo>
                <a:cubicBezTo>
                  <a:pt x="43564" y="37916"/>
                  <a:pt x="37916" y="32268"/>
                  <a:pt x="37916" y="25277"/>
                </a:cubicBezTo>
                <a:cubicBezTo>
                  <a:pt x="37916" y="18286"/>
                  <a:pt x="43564" y="12639"/>
                  <a:pt x="50554" y="12639"/>
                </a:cubicBezTo>
                <a:lnTo>
                  <a:pt x="101109" y="12639"/>
                </a:lnTo>
                <a:cubicBezTo>
                  <a:pt x="106875" y="4976"/>
                  <a:pt x="116038" y="0"/>
                  <a:pt x="126386" y="0"/>
                </a:cubicBezTo>
                <a:cubicBezTo>
                  <a:pt x="136733" y="0"/>
                  <a:pt x="145896" y="4976"/>
                  <a:pt x="151663" y="12639"/>
                </a:cubicBezTo>
                <a:close/>
                <a:moveTo>
                  <a:pt x="173622" y="126386"/>
                </a:moveTo>
                <a:lnTo>
                  <a:pt x="230812" y="126386"/>
                </a:lnTo>
                <a:lnTo>
                  <a:pt x="202217" y="77332"/>
                </a:lnTo>
                <a:lnTo>
                  <a:pt x="173622" y="126386"/>
                </a:lnTo>
                <a:close/>
                <a:moveTo>
                  <a:pt x="202217" y="164301"/>
                </a:moveTo>
                <a:cubicBezTo>
                  <a:pt x="177374" y="164301"/>
                  <a:pt x="156718" y="150873"/>
                  <a:pt x="152453" y="133139"/>
                </a:cubicBezTo>
                <a:cubicBezTo>
                  <a:pt x="151426" y="128795"/>
                  <a:pt x="152848" y="124332"/>
                  <a:pt x="155099" y="120461"/>
                </a:cubicBezTo>
                <a:lnTo>
                  <a:pt x="192699" y="56005"/>
                </a:lnTo>
                <a:cubicBezTo>
                  <a:pt x="194673" y="52608"/>
                  <a:pt x="198307" y="50554"/>
                  <a:pt x="202217" y="50554"/>
                </a:cubicBezTo>
                <a:cubicBezTo>
                  <a:pt x="206127" y="50554"/>
                  <a:pt x="209761" y="52648"/>
                  <a:pt x="211735" y="56005"/>
                </a:cubicBezTo>
                <a:lnTo>
                  <a:pt x="249335" y="120461"/>
                </a:lnTo>
                <a:cubicBezTo>
                  <a:pt x="251586" y="124332"/>
                  <a:pt x="253008" y="128795"/>
                  <a:pt x="251981" y="133139"/>
                </a:cubicBezTo>
                <a:cubicBezTo>
                  <a:pt x="247716" y="150833"/>
                  <a:pt x="227060" y="164301"/>
                  <a:pt x="202217" y="164301"/>
                </a:cubicBezTo>
                <a:close/>
                <a:moveTo>
                  <a:pt x="50080" y="77332"/>
                </a:moveTo>
                <a:lnTo>
                  <a:pt x="21486" y="126386"/>
                </a:lnTo>
                <a:lnTo>
                  <a:pt x="78715" y="126386"/>
                </a:lnTo>
                <a:lnTo>
                  <a:pt x="50080" y="77332"/>
                </a:lnTo>
                <a:close/>
                <a:moveTo>
                  <a:pt x="355" y="133139"/>
                </a:moveTo>
                <a:cubicBezTo>
                  <a:pt x="-671" y="128795"/>
                  <a:pt x="750" y="124332"/>
                  <a:pt x="3002" y="120461"/>
                </a:cubicBezTo>
                <a:lnTo>
                  <a:pt x="40601" y="56005"/>
                </a:lnTo>
                <a:cubicBezTo>
                  <a:pt x="42576" y="52608"/>
                  <a:pt x="46210" y="50554"/>
                  <a:pt x="50120" y="50554"/>
                </a:cubicBezTo>
                <a:cubicBezTo>
                  <a:pt x="54030" y="50554"/>
                  <a:pt x="57663" y="52648"/>
                  <a:pt x="59638" y="56005"/>
                </a:cubicBezTo>
                <a:lnTo>
                  <a:pt x="97238" y="120461"/>
                </a:lnTo>
                <a:cubicBezTo>
                  <a:pt x="99489" y="124332"/>
                  <a:pt x="100911" y="128795"/>
                  <a:pt x="99884" y="133139"/>
                </a:cubicBezTo>
                <a:cubicBezTo>
                  <a:pt x="95619" y="150833"/>
                  <a:pt x="74962" y="164301"/>
                  <a:pt x="50120" y="164301"/>
                </a:cubicBezTo>
                <a:cubicBezTo>
                  <a:pt x="25277" y="164301"/>
                  <a:pt x="4621" y="150873"/>
                  <a:pt x="355" y="13313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52637" y="4785802"/>
            <a:ext cx="1744122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NAAQS Standards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5986" y="5291345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pollutant measurements are compared against </a:t>
            </a:r>
            <a:r>
              <a:rPr lang="en-US" sz="1062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Ambient Air Quality Standards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determine compliance status and identify violations.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9356" y="5867663"/>
            <a:ext cx="2559730" cy="680797"/>
          </a:xfrm>
          <a:custGeom>
            <a:avLst/>
            <a:gdLst/>
            <a:ahLst/>
            <a:cxnLst/>
            <a:rect l="l" t="t" r="r" b="b"/>
            <a:pathLst>
              <a:path w="2559730" h="680797">
                <a:moveTo>
                  <a:pt x="67406" y="0"/>
                </a:moveTo>
                <a:lnTo>
                  <a:pt x="2492324" y="0"/>
                </a:lnTo>
                <a:cubicBezTo>
                  <a:pt x="2529552" y="0"/>
                  <a:pt x="2559730" y="30179"/>
                  <a:pt x="2559730" y="67406"/>
                </a:cubicBezTo>
                <a:lnTo>
                  <a:pt x="2559730" y="613392"/>
                </a:lnTo>
                <a:cubicBezTo>
                  <a:pt x="2559730" y="650619"/>
                  <a:pt x="2529552" y="680797"/>
                  <a:pt x="2492324" y="680797"/>
                </a:cubicBezTo>
                <a:lnTo>
                  <a:pt x="67406" y="680797"/>
                </a:lnTo>
                <a:cubicBezTo>
                  <a:pt x="30203" y="680797"/>
                  <a:pt x="0" y="650594"/>
                  <a:pt x="0" y="613392"/>
                </a:cubicBezTo>
                <a:lnTo>
                  <a:pt x="0" y="67406"/>
                </a:lnTo>
                <a:cubicBezTo>
                  <a:pt x="0" y="30179"/>
                  <a:pt x="30179" y="0"/>
                  <a:pt x="674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4345" y="5972142"/>
            <a:ext cx="2409753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PM₂.₅ Limit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81" y="6174359"/>
            <a:ext cx="2451881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 </a:t>
            </a:r>
            <a:r>
              <a:rPr lang="en-US" sz="1062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µg/m³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20095" y="5867663"/>
            <a:ext cx="2559730" cy="680797"/>
          </a:xfrm>
          <a:custGeom>
            <a:avLst/>
            <a:gdLst/>
            <a:ahLst/>
            <a:cxnLst/>
            <a:rect l="l" t="t" r="r" b="b"/>
            <a:pathLst>
              <a:path w="2559730" h="680797">
                <a:moveTo>
                  <a:pt x="67406" y="0"/>
                </a:moveTo>
                <a:lnTo>
                  <a:pt x="2492324" y="0"/>
                </a:lnTo>
                <a:cubicBezTo>
                  <a:pt x="2529552" y="0"/>
                  <a:pt x="2559730" y="30179"/>
                  <a:pt x="2559730" y="67406"/>
                </a:cubicBezTo>
                <a:lnTo>
                  <a:pt x="2559730" y="613392"/>
                </a:lnTo>
                <a:cubicBezTo>
                  <a:pt x="2559730" y="650619"/>
                  <a:pt x="2529552" y="680797"/>
                  <a:pt x="2492324" y="680797"/>
                </a:cubicBezTo>
                <a:lnTo>
                  <a:pt x="67406" y="680797"/>
                </a:lnTo>
                <a:cubicBezTo>
                  <a:pt x="30203" y="680797"/>
                  <a:pt x="0" y="650594"/>
                  <a:pt x="0" y="613392"/>
                </a:cubicBezTo>
                <a:lnTo>
                  <a:pt x="0" y="67406"/>
                </a:lnTo>
                <a:cubicBezTo>
                  <a:pt x="0" y="30179"/>
                  <a:pt x="30179" y="0"/>
                  <a:pt x="674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5084" y="5972142"/>
            <a:ext cx="2409753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PM₁₀ Limit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74020" y="6174359"/>
            <a:ext cx="2451881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</a:t>
            </a:r>
            <a:r>
              <a:rPr lang="en-US" sz="1062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µg/m³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0900" y="1668291"/>
            <a:ext cx="5651965" cy="2719819"/>
          </a:xfrm>
          <a:custGeom>
            <a:avLst/>
            <a:gdLst/>
            <a:ahLst/>
            <a:cxnLst/>
            <a:rect l="l" t="t" r="r" b="b"/>
            <a:pathLst>
              <a:path w="5651965" h="2719819">
                <a:moveTo>
                  <a:pt x="101096" y="0"/>
                </a:moveTo>
                <a:lnTo>
                  <a:pt x="5550870" y="0"/>
                </a:lnTo>
                <a:cubicBezTo>
                  <a:pt x="5606666" y="0"/>
                  <a:pt x="5651965" y="45299"/>
                  <a:pt x="5651965" y="101096"/>
                </a:cubicBezTo>
                <a:lnTo>
                  <a:pt x="5651965" y="2618723"/>
                </a:lnTo>
                <a:cubicBezTo>
                  <a:pt x="5651965" y="2674557"/>
                  <a:pt x="5606703" y="2719819"/>
                  <a:pt x="5550870" y="2719819"/>
                </a:cubicBezTo>
                <a:lnTo>
                  <a:pt x="101096" y="2719819"/>
                </a:lnTo>
                <a:cubicBezTo>
                  <a:pt x="45299" y="2719819"/>
                  <a:pt x="0" y="2674519"/>
                  <a:pt x="0" y="2618723"/>
                </a:cubicBezTo>
                <a:lnTo>
                  <a:pt x="0" y="101096"/>
                </a:lnTo>
                <a:cubicBezTo>
                  <a:pt x="0" y="45262"/>
                  <a:pt x="45262" y="0"/>
                  <a:pt x="10109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6488" y="1873879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101109" y="0"/>
                </a:moveTo>
                <a:lnTo>
                  <a:pt x="438137" y="0"/>
                </a:lnTo>
                <a:cubicBezTo>
                  <a:pt x="493978" y="0"/>
                  <a:pt x="539245" y="45268"/>
                  <a:pt x="539245" y="101109"/>
                </a:cubicBezTo>
                <a:lnTo>
                  <a:pt x="539245" y="438137"/>
                </a:lnTo>
                <a:cubicBezTo>
                  <a:pt x="539245" y="493978"/>
                  <a:pt x="493978" y="539245"/>
                  <a:pt x="438137" y="539245"/>
                </a:cubicBezTo>
                <a:lnTo>
                  <a:pt x="101109" y="539245"/>
                </a:lnTo>
                <a:cubicBezTo>
                  <a:pt x="45268" y="539245"/>
                  <a:pt x="0" y="493978"/>
                  <a:pt x="0" y="438137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551831" y="2017116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221175" y="126386"/>
                </a:moveTo>
                <a:cubicBezTo>
                  <a:pt x="221175" y="74070"/>
                  <a:pt x="178701" y="31596"/>
                  <a:pt x="126386" y="31596"/>
                </a:cubicBezTo>
                <a:cubicBezTo>
                  <a:pt x="74070" y="31596"/>
                  <a:pt x="31596" y="74070"/>
                  <a:pt x="31596" y="126386"/>
                </a:cubicBezTo>
                <a:cubicBezTo>
                  <a:pt x="31596" y="178701"/>
                  <a:pt x="74070" y="221175"/>
                  <a:pt x="126386" y="221175"/>
                </a:cubicBezTo>
                <a:cubicBezTo>
                  <a:pt x="178701" y="221175"/>
                  <a:pt x="221175" y="178701"/>
                  <a:pt x="221175" y="126386"/>
                </a:cubicBezTo>
                <a:close/>
                <a:moveTo>
                  <a:pt x="0" y="126386"/>
                </a:moveTo>
                <a:cubicBezTo>
                  <a:pt x="0" y="56631"/>
                  <a:pt x="56631" y="0"/>
                  <a:pt x="126386" y="0"/>
                </a:cubicBezTo>
                <a:cubicBezTo>
                  <a:pt x="196140" y="0"/>
                  <a:pt x="252771" y="56631"/>
                  <a:pt x="252771" y="126386"/>
                </a:cubicBezTo>
                <a:cubicBezTo>
                  <a:pt x="252771" y="196140"/>
                  <a:pt x="196140" y="252771"/>
                  <a:pt x="126386" y="252771"/>
                </a:cubicBezTo>
                <a:cubicBezTo>
                  <a:pt x="56631" y="252771"/>
                  <a:pt x="0" y="196140"/>
                  <a:pt x="0" y="126386"/>
                </a:cubicBezTo>
                <a:close/>
                <a:moveTo>
                  <a:pt x="126386" y="165881"/>
                </a:moveTo>
                <a:cubicBezTo>
                  <a:pt x="148184" y="165881"/>
                  <a:pt x="165881" y="148184"/>
                  <a:pt x="165881" y="126386"/>
                </a:cubicBezTo>
                <a:cubicBezTo>
                  <a:pt x="165881" y="104587"/>
                  <a:pt x="148184" y="86890"/>
                  <a:pt x="126386" y="86890"/>
                </a:cubicBezTo>
                <a:cubicBezTo>
                  <a:pt x="104587" y="86890"/>
                  <a:pt x="86890" y="104587"/>
                  <a:pt x="86890" y="126386"/>
                </a:cubicBezTo>
                <a:cubicBezTo>
                  <a:pt x="86890" y="148184"/>
                  <a:pt x="104587" y="165881"/>
                  <a:pt x="126386" y="165881"/>
                </a:cubicBezTo>
                <a:close/>
                <a:moveTo>
                  <a:pt x="126386" y="55294"/>
                </a:moveTo>
                <a:cubicBezTo>
                  <a:pt x="165622" y="55294"/>
                  <a:pt x="197478" y="87149"/>
                  <a:pt x="197478" y="126386"/>
                </a:cubicBezTo>
                <a:cubicBezTo>
                  <a:pt x="197478" y="165622"/>
                  <a:pt x="165622" y="197478"/>
                  <a:pt x="126386" y="197478"/>
                </a:cubicBezTo>
                <a:cubicBezTo>
                  <a:pt x="87149" y="197478"/>
                  <a:pt x="55294" y="165622"/>
                  <a:pt x="55294" y="126386"/>
                </a:cubicBezTo>
                <a:cubicBezTo>
                  <a:pt x="55294" y="87149"/>
                  <a:pt x="87149" y="55294"/>
                  <a:pt x="126386" y="55294"/>
                </a:cubicBezTo>
                <a:close/>
                <a:moveTo>
                  <a:pt x="110587" y="126386"/>
                </a:moveTo>
                <a:cubicBezTo>
                  <a:pt x="110587" y="117666"/>
                  <a:pt x="117666" y="110587"/>
                  <a:pt x="126386" y="110587"/>
                </a:cubicBezTo>
                <a:cubicBezTo>
                  <a:pt x="135105" y="110587"/>
                  <a:pt x="142184" y="117666"/>
                  <a:pt x="142184" y="126386"/>
                </a:cubicBezTo>
                <a:cubicBezTo>
                  <a:pt x="142184" y="135105"/>
                  <a:pt x="135105" y="142184"/>
                  <a:pt x="126386" y="142184"/>
                </a:cubicBezTo>
                <a:cubicBezTo>
                  <a:pt x="117666" y="142184"/>
                  <a:pt x="110587" y="135105"/>
                  <a:pt x="110587" y="12638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080544" y="1907582"/>
            <a:ext cx="185365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NCAP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0544" y="2177097"/>
            <a:ext cx="1819953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Clean Air Programme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9858" y="2585009"/>
            <a:ext cx="5230680" cy="1017826"/>
          </a:xfrm>
          <a:custGeom>
            <a:avLst/>
            <a:gdLst/>
            <a:ahLst/>
            <a:cxnLst/>
            <a:rect l="l" t="t" r="r" b="b"/>
            <a:pathLst>
              <a:path w="5230680" h="1017826">
                <a:moveTo>
                  <a:pt x="67411" y="0"/>
                </a:moveTo>
                <a:lnTo>
                  <a:pt x="5163269" y="0"/>
                </a:lnTo>
                <a:cubicBezTo>
                  <a:pt x="5200499" y="0"/>
                  <a:pt x="5230680" y="30181"/>
                  <a:pt x="5230680" y="67411"/>
                </a:cubicBezTo>
                <a:lnTo>
                  <a:pt x="5230680" y="950415"/>
                </a:lnTo>
                <a:cubicBezTo>
                  <a:pt x="5230680" y="987645"/>
                  <a:pt x="5200499" y="1017826"/>
                  <a:pt x="5163269" y="1017826"/>
                </a:cubicBezTo>
                <a:lnTo>
                  <a:pt x="67411" y="1017826"/>
                </a:lnTo>
                <a:cubicBezTo>
                  <a:pt x="30181" y="1017826"/>
                  <a:pt x="0" y="987645"/>
                  <a:pt x="0" y="950415"/>
                </a:cubicBezTo>
                <a:lnTo>
                  <a:pt x="0" y="67411"/>
                </a:lnTo>
                <a:cubicBezTo>
                  <a:pt x="0" y="30181"/>
                  <a:pt x="30181" y="0"/>
                  <a:pt x="674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D4A26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48039" y="2773743"/>
            <a:ext cx="127228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 Reduction Target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85429" y="2723189"/>
            <a:ext cx="1044788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9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20-30%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48039" y="3127623"/>
            <a:ext cx="4954317" cy="101109"/>
          </a:xfrm>
          <a:custGeom>
            <a:avLst/>
            <a:gdLst/>
            <a:ahLst/>
            <a:cxnLst/>
            <a:rect l="l" t="t" r="r" b="b"/>
            <a:pathLst>
              <a:path w="4954317" h="101109">
                <a:moveTo>
                  <a:pt x="50554" y="0"/>
                </a:moveTo>
                <a:lnTo>
                  <a:pt x="4903762" y="0"/>
                </a:lnTo>
                <a:cubicBezTo>
                  <a:pt x="4931683" y="0"/>
                  <a:pt x="4954317" y="22634"/>
                  <a:pt x="4954317" y="50554"/>
                </a:cubicBezTo>
                <a:lnTo>
                  <a:pt x="4954317" y="50554"/>
                </a:lnTo>
                <a:cubicBezTo>
                  <a:pt x="4954317" y="78475"/>
                  <a:pt x="4931683" y="101109"/>
                  <a:pt x="4903762" y="101109"/>
                </a:cubicBezTo>
                <a:lnTo>
                  <a:pt x="50554" y="101109"/>
                </a:lnTo>
                <a:cubicBezTo>
                  <a:pt x="22653" y="101109"/>
                  <a:pt x="0" y="78456"/>
                  <a:pt x="0" y="50554"/>
                </a:cubicBezTo>
                <a:lnTo>
                  <a:pt x="0" y="50554"/>
                </a:lnTo>
                <a:cubicBezTo>
                  <a:pt x="0" y="22653"/>
                  <a:pt x="22653" y="0"/>
                  <a:pt x="5055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48039" y="3127623"/>
            <a:ext cx="1238579" cy="101109"/>
          </a:xfrm>
          <a:custGeom>
            <a:avLst/>
            <a:gdLst/>
            <a:ahLst/>
            <a:cxnLst/>
            <a:rect l="l" t="t" r="r" b="b"/>
            <a:pathLst>
              <a:path w="1238579" h="101109">
                <a:moveTo>
                  <a:pt x="50554" y="0"/>
                </a:moveTo>
                <a:lnTo>
                  <a:pt x="1188025" y="0"/>
                </a:lnTo>
                <a:cubicBezTo>
                  <a:pt x="1215945" y="0"/>
                  <a:pt x="1238579" y="22634"/>
                  <a:pt x="1238579" y="50554"/>
                </a:cubicBezTo>
                <a:lnTo>
                  <a:pt x="1238579" y="50554"/>
                </a:lnTo>
                <a:cubicBezTo>
                  <a:pt x="1238579" y="78475"/>
                  <a:pt x="1215945" y="101109"/>
                  <a:pt x="1188025" y="101109"/>
                </a:cubicBezTo>
                <a:lnTo>
                  <a:pt x="50554" y="101109"/>
                </a:lnTo>
                <a:cubicBezTo>
                  <a:pt x="22653" y="101109"/>
                  <a:pt x="0" y="78456"/>
                  <a:pt x="0" y="50554"/>
                </a:cubicBezTo>
                <a:lnTo>
                  <a:pt x="0" y="50554"/>
                </a:lnTo>
                <a:cubicBezTo>
                  <a:pt x="0" y="22653"/>
                  <a:pt x="22653" y="0"/>
                  <a:pt x="50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/>
              </a:gs>
              <a:gs pos="100000">
                <a:srgbClr val="4A6C8C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48039" y="3296137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year: 2024-2025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6488" y="3741015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tracks progress toward </a:t>
            </a:r>
            <a:r>
              <a:rPr lang="en-US" sz="106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Particulate Matter reduction goals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monitored cities, providing real-time compliance assessment.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0900" y="4559994"/>
            <a:ext cx="5651965" cy="2298533"/>
          </a:xfrm>
          <a:custGeom>
            <a:avLst/>
            <a:gdLst/>
            <a:ahLst/>
            <a:cxnLst/>
            <a:rect l="l" t="t" r="r" b="b"/>
            <a:pathLst>
              <a:path w="5651965" h="2298533">
                <a:moveTo>
                  <a:pt x="101112" y="0"/>
                </a:moveTo>
                <a:lnTo>
                  <a:pt x="5550853" y="0"/>
                </a:lnTo>
                <a:cubicBezTo>
                  <a:pt x="5606696" y="0"/>
                  <a:pt x="5651965" y="45270"/>
                  <a:pt x="5651965" y="101112"/>
                </a:cubicBezTo>
                <a:lnTo>
                  <a:pt x="5651965" y="2197421"/>
                </a:lnTo>
                <a:cubicBezTo>
                  <a:pt x="5651965" y="2253264"/>
                  <a:pt x="5606696" y="2298533"/>
                  <a:pt x="5550853" y="2298533"/>
                </a:cubicBezTo>
                <a:lnTo>
                  <a:pt x="101112" y="2298533"/>
                </a:lnTo>
                <a:cubicBezTo>
                  <a:pt x="45270" y="2298533"/>
                  <a:pt x="0" y="2253264"/>
                  <a:pt x="0" y="2197421"/>
                </a:cubicBezTo>
                <a:lnTo>
                  <a:pt x="0" y="101112"/>
                </a:lnTo>
                <a:cubicBezTo>
                  <a:pt x="0" y="45307"/>
                  <a:pt x="45307" y="0"/>
                  <a:pt x="1011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406488" y="4765581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528660" y="4900393"/>
            <a:ext cx="227494" cy="202217"/>
          </a:xfrm>
          <a:custGeom>
            <a:avLst/>
            <a:gdLst/>
            <a:ahLst/>
            <a:cxnLst/>
            <a:rect l="l" t="t" r="r" b="b"/>
            <a:pathLst>
              <a:path w="227494" h="202217">
                <a:moveTo>
                  <a:pt x="97949" y="34756"/>
                </a:moveTo>
                <a:lnTo>
                  <a:pt x="129545" y="34756"/>
                </a:lnTo>
                <a:lnTo>
                  <a:pt x="129545" y="53714"/>
                </a:lnTo>
                <a:lnTo>
                  <a:pt x="97949" y="53714"/>
                </a:lnTo>
                <a:lnTo>
                  <a:pt x="97949" y="34756"/>
                </a:lnTo>
                <a:close/>
                <a:moveTo>
                  <a:pt x="94789" y="12639"/>
                </a:moveTo>
                <a:cubicBezTo>
                  <a:pt x="84323" y="12639"/>
                  <a:pt x="75831" y="21130"/>
                  <a:pt x="75831" y="31596"/>
                </a:cubicBezTo>
                <a:lnTo>
                  <a:pt x="75831" y="56874"/>
                </a:lnTo>
                <a:cubicBezTo>
                  <a:pt x="75831" y="67340"/>
                  <a:pt x="84323" y="75831"/>
                  <a:pt x="94789" y="75831"/>
                </a:cubicBezTo>
                <a:lnTo>
                  <a:pt x="101109" y="75831"/>
                </a:lnTo>
                <a:lnTo>
                  <a:pt x="101109" y="88470"/>
                </a:lnTo>
                <a:lnTo>
                  <a:pt x="12639" y="88470"/>
                </a:lnTo>
                <a:cubicBezTo>
                  <a:pt x="5648" y="88470"/>
                  <a:pt x="0" y="94118"/>
                  <a:pt x="0" y="101109"/>
                </a:cubicBezTo>
                <a:cubicBezTo>
                  <a:pt x="0" y="108099"/>
                  <a:pt x="5648" y="113747"/>
                  <a:pt x="12639" y="113747"/>
                </a:cubicBezTo>
                <a:lnTo>
                  <a:pt x="50554" y="113747"/>
                </a:lnTo>
                <a:lnTo>
                  <a:pt x="50554" y="126386"/>
                </a:lnTo>
                <a:lnTo>
                  <a:pt x="44235" y="126386"/>
                </a:lnTo>
                <a:cubicBezTo>
                  <a:pt x="33769" y="126386"/>
                  <a:pt x="25277" y="134877"/>
                  <a:pt x="25277" y="145343"/>
                </a:cubicBezTo>
                <a:lnTo>
                  <a:pt x="25277" y="170621"/>
                </a:lnTo>
                <a:cubicBezTo>
                  <a:pt x="25277" y="181087"/>
                  <a:pt x="33769" y="189578"/>
                  <a:pt x="44235" y="189578"/>
                </a:cubicBezTo>
                <a:lnTo>
                  <a:pt x="82151" y="189578"/>
                </a:lnTo>
                <a:cubicBezTo>
                  <a:pt x="92617" y="189578"/>
                  <a:pt x="101109" y="181087"/>
                  <a:pt x="101109" y="170621"/>
                </a:cubicBezTo>
                <a:lnTo>
                  <a:pt x="101109" y="145343"/>
                </a:lnTo>
                <a:cubicBezTo>
                  <a:pt x="101109" y="134877"/>
                  <a:pt x="92617" y="126386"/>
                  <a:pt x="82151" y="126386"/>
                </a:cubicBezTo>
                <a:lnTo>
                  <a:pt x="75831" y="126386"/>
                </a:lnTo>
                <a:lnTo>
                  <a:pt x="75831" y="113747"/>
                </a:lnTo>
                <a:lnTo>
                  <a:pt x="151663" y="113747"/>
                </a:lnTo>
                <a:lnTo>
                  <a:pt x="151663" y="126386"/>
                </a:lnTo>
                <a:lnTo>
                  <a:pt x="145343" y="126386"/>
                </a:lnTo>
                <a:cubicBezTo>
                  <a:pt x="134877" y="126386"/>
                  <a:pt x="126386" y="134877"/>
                  <a:pt x="126386" y="145343"/>
                </a:cubicBezTo>
                <a:lnTo>
                  <a:pt x="126386" y="170621"/>
                </a:lnTo>
                <a:cubicBezTo>
                  <a:pt x="126386" y="181087"/>
                  <a:pt x="134877" y="189578"/>
                  <a:pt x="145343" y="189578"/>
                </a:cubicBezTo>
                <a:lnTo>
                  <a:pt x="183259" y="189578"/>
                </a:lnTo>
                <a:cubicBezTo>
                  <a:pt x="193725" y="189578"/>
                  <a:pt x="202217" y="181087"/>
                  <a:pt x="202217" y="170621"/>
                </a:cubicBezTo>
                <a:lnTo>
                  <a:pt x="202217" y="145343"/>
                </a:lnTo>
                <a:cubicBezTo>
                  <a:pt x="202217" y="134877"/>
                  <a:pt x="193725" y="126386"/>
                  <a:pt x="183259" y="126386"/>
                </a:cubicBezTo>
                <a:lnTo>
                  <a:pt x="176940" y="126386"/>
                </a:lnTo>
                <a:lnTo>
                  <a:pt x="176940" y="113747"/>
                </a:lnTo>
                <a:lnTo>
                  <a:pt x="214856" y="113747"/>
                </a:lnTo>
                <a:cubicBezTo>
                  <a:pt x="221846" y="113747"/>
                  <a:pt x="227494" y="108099"/>
                  <a:pt x="227494" y="101109"/>
                </a:cubicBezTo>
                <a:cubicBezTo>
                  <a:pt x="227494" y="94118"/>
                  <a:pt x="221846" y="88470"/>
                  <a:pt x="214856" y="88470"/>
                </a:cubicBezTo>
                <a:lnTo>
                  <a:pt x="126386" y="88470"/>
                </a:lnTo>
                <a:lnTo>
                  <a:pt x="126386" y="75831"/>
                </a:lnTo>
                <a:lnTo>
                  <a:pt x="132705" y="75831"/>
                </a:lnTo>
                <a:cubicBezTo>
                  <a:pt x="143171" y="75831"/>
                  <a:pt x="151663" y="67340"/>
                  <a:pt x="151663" y="56874"/>
                </a:cubicBezTo>
                <a:lnTo>
                  <a:pt x="151663" y="31596"/>
                </a:lnTo>
                <a:cubicBezTo>
                  <a:pt x="151663" y="21130"/>
                  <a:pt x="143171" y="12639"/>
                  <a:pt x="132705" y="12639"/>
                </a:cubicBezTo>
                <a:lnTo>
                  <a:pt x="94789" y="12639"/>
                </a:lnTo>
                <a:close/>
                <a:moveTo>
                  <a:pt x="176940" y="148503"/>
                </a:moveTo>
                <a:lnTo>
                  <a:pt x="180100" y="148503"/>
                </a:lnTo>
                <a:lnTo>
                  <a:pt x="180100" y="167461"/>
                </a:lnTo>
                <a:lnTo>
                  <a:pt x="148503" y="167461"/>
                </a:lnTo>
                <a:lnTo>
                  <a:pt x="148503" y="148503"/>
                </a:lnTo>
                <a:lnTo>
                  <a:pt x="176940" y="148503"/>
                </a:lnTo>
                <a:close/>
                <a:moveTo>
                  <a:pt x="75831" y="148503"/>
                </a:moveTo>
                <a:lnTo>
                  <a:pt x="78991" y="148503"/>
                </a:lnTo>
                <a:lnTo>
                  <a:pt x="78991" y="167461"/>
                </a:lnTo>
                <a:lnTo>
                  <a:pt x="47395" y="167461"/>
                </a:lnTo>
                <a:lnTo>
                  <a:pt x="47395" y="148503"/>
                </a:lnTo>
                <a:lnTo>
                  <a:pt x="75831" y="148503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013139" y="4866690"/>
            <a:ext cx="173569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NAMP Framework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6488" y="5372232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Air Quality Monitoring Programme</a:t>
            </a:r>
            <a:r>
              <a:rPr lang="en-US" sz="106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the foundational infrastructure for city-level data collection.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6488" y="5978883"/>
            <a:ext cx="67406" cy="67406"/>
          </a:xfrm>
          <a:custGeom>
            <a:avLst/>
            <a:gdLst/>
            <a:ahLst/>
            <a:cxnLst/>
            <a:rect l="l" t="t" r="r" b="b"/>
            <a:pathLst>
              <a:path w="67406" h="67406">
                <a:moveTo>
                  <a:pt x="33703" y="0"/>
                </a:moveTo>
                <a:lnTo>
                  <a:pt x="33703" y="0"/>
                </a:lnTo>
                <a:cubicBezTo>
                  <a:pt x="52304" y="0"/>
                  <a:pt x="67406" y="15102"/>
                  <a:pt x="67406" y="33703"/>
                </a:cubicBezTo>
                <a:lnTo>
                  <a:pt x="67406" y="33703"/>
                </a:lnTo>
                <a:cubicBezTo>
                  <a:pt x="67406" y="52304"/>
                  <a:pt x="52304" y="67406"/>
                  <a:pt x="33703" y="67406"/>
                </a:cubicBezTo>
                <a:lnTo>
                  <a:pt x="33703" y="67406"/>
                </a:lnTo>
                <a:cubicBezTo>
                  <a:pt x="15102" y="67406"/>
                  <a:pt x="0" y="52304"/>
                  <a:pt x="0" y="33703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75002" y="5911478"/>
            <a:ext cx="250243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monitoring station protocols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6488" y="6248506"/>
            <a:ext cx="67406" cy="67406"/>
          </a:xfrm>
          <a:custGeom>
            <a:avLst/>
            <a:gdLst/>
            <a:ahLst/>
            <a:cxnLst/>
            <a:rect l="l" t="t" r="r" b="b"/>
            <a:pathLst>
              <a:path w="67406" h="67406">
                <a:moveTo>
                  <a:pt x="33703" y="0"/>
                </a:moveTo>
                <a:lnTo>
                  <a:pt x="33703" y="0"/>
                </a:lnTo>
                <a:cubicBezTo>
                  <a:pt x="52304" y="0"/>
                  <a:pt x="67406" y="15102"/>
                  <a:pt x="67406" y="33703"/>
                </a:cubicBezTo>
                <a:lnTo>
                  <a:pt x="67406" y="33703"/>
                </a:lnTo>
                <a:cubicBezTo>
                  <a:pt x="67406" y="52304"/>
                  <a:pt x="52304" y="67406"/>
                  <a:pt x="33703" y="67406"/>
                </a:cubicBezTo>
                <a:lnTo>
                  <a:pt x="33703" y="67406"/>
                </a:lnTo>
                <a:cubicBezTo>
                  <a:pt x="15102" y="67406"/>
                  <a:pt x="0" y="52304"/>
                  <a:pt x="0" y="33703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75002" y="6181100"/>
            <a:ext cx="2308644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City-level data aggregation framework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6488" y="6518129"/>
            <a:ext cx="67406" cy="67406"/>
          </a:xfrm>
          <a:custGeom>
            <a:avLst/>
            <a:gdLst/>
            <a:ahLst/>
            <a:cxnLst/>
            <a:rect l="l" t="t" r="r" b="b"/>
            <a:pathLst>
              <a:path w="67406" h="67406">
                <a:moveTo>
                  <a:pt x="33703" y="0"/>
                </a:moveTo>
                <a:lnTo>
                  <a:pt x="33703" y="0"/>
                </a:lnTo>
                <a:cubicBezTo>
                  <a:pt x="52304" y="0"/>
                  <a:pt x="67406" y="15102"/>
                  <a:pt x="67406" y="33703"/>
                </a:cubicBezTo>
                <a:lnTo>
                  <a:pt x="67406" y="33703"/>
                </a:lnTo>
                <a:cubicBezTo>
                  <a:pt x="67406" y="52304"/>
                  <a:pt x="52304" y="67406"/>
                  <a:pt x="33703" y="67406"/>
                </a:cubicBezTo>
                <a:lnTo>
                  <a:pt x="33703" y="67406"/>
                </a:lnTo>
                <a:cubicBezTo>
                  <a:pt x="15102" y="67406"/>
                  <a:pt x="0" y="52304"/>
                  <a:pt x="0" y="33703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575002" y="6450723"/>
            <a:ext cx="2468733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Inter-city comparative analysis capability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27" y="349827"/>
            <a:ext cx="1487632" cy="318655"/>
          </a:xfrm>
          <a:custGeom>
            <a:avLst/>
            <a:gdLst/>
            <a:ahLst/>
            <a:cxnLst/>
            <a:rect l="l" t="t" r="r" b="b"/>
            <a:pathLst>
              <a:path w="1487632" h="318655">
                <a:moveTo>
                  <a:pt x="159327" y="0"/>
                </a:moveTo>
                <a:lnTo>
                  <a:pt x="1328305" y="0"/>
                </a:lnTo>
                <a:cubicBezTo>
                  <a:pt x="1416240" y="0"/>
                  <a:pt x="1487632" y="71392"/>
                  <a:pt x="1487632" y="159327"/>
                </a:cubicBezTo>
                <a:lnTo>
                  <a:pt x="1487632" y="159327"/>
                </a:lnTo>
                <a:cubicBezTo>
                  <a:pt x="1487632" y="247262"/>
                  <a:pt x="1416240" y="318655"/>
                  <a:pt x="1328305" y="318655"/>
                </a:cubicBezTo>
                <a:lnTo>
                  <a:pt x="159327" y="318655"/>
                </a:lnTo>
                <a:cubicBezTo>
                  <a:pt x="71392" y="318655"/>
                  <a:pt x="0" y="247262"/>
                  <a:pt x="0" y="159327"/>
                </a:cubicBezTo>
                <a:lnTo>
                  <a:pt x="0" y="159327"/>
                </a:lnTo>
                <a:cubicBezTo>
                  <a:pt x="0" y="71392"/>
                  <a:pt x="71392" y="0"/>
                  <a:pt x="15932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1836" y="446810"/>
            <a:ext cx="1262604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kern="0" spc="48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943208" y="504825"/>
            <a:ext cx="9906000" cy="8659"/>
          </a:xfrm>
          <a:custGeom>
            <a:avLst/>
            <a:gdLst/>
            <a:ahLst/>
            <a:cxnLst/>
            <a:rect l="l" t="t" r="r" b="b"/>
            <a:pathLst>
              <a:path w="9906000" h="8659">
                <a:moveTo>
                  <a:pt x="0" y="0"/>
                </a:moveTo>
                <a:lnTo>
                  <a:pt x="9906000" y="0"/>
                </a:lnTo>
                <a:lnTo>
                  <a:pt x="9906000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6364" y="775855"/>
            <a:ext cx="11707091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Legislation &amp; Compliance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6364" y="1260764"/>
            <a:ext cx="1158586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mechanisms and emission standards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9827" y="1679864"/>
            <a:ext cx="3713018" cy="2327564"/>
          </a:xfrm>
          <a:custGeom>
            <a:avLst/>
            <a:gdLst/>
            <a:ahLst/>
            <a:cxnLst/>
            <a:rect l="l" t="t" r="r" b="b"/>
            <a:pathLst>
              <a:path w="3713018" h="2327564">
                <a:moveTo>
                  <a:pt x="103902" y="0"/>
                </a:moveTo>
                <a:lnTo>
                  <a:pt x="3609116" y="0"/>
                </a:lnTo>
                <a:cubicBezTo>
                  <a:pt x="3666499" y="0"/>
                  <a:pt x="3713018" y="46519"/>
                  <a:pt x="3713018" y="103902"/>
                </a:cubicBezTo>
                <a:lnTo>
                  <a:pt x="3713018" y="2223661"/>
                </a:lnTo>
                <a:cubicBezTo>
                  <a:pt x="3713018" y="2281045"/>
                  <a:pt x="3666499" y="2327564"/>
                  <a:pt x="3609116" y="2327564"/>
                </a:cubicBezTo>
                <a:lnTo>
                  <a:pt x="103902" y="2327564"/>
                </a:lnTo>
                <a:cubicBezTo>
                  <a:pt x="46519" y="2327564"/>
                  <a:pt x="0" y="2281045"/>
                  <a:pt x="0" y="2223661"/>
                </a:cubicBezTo>
                <a:lnTo>
                  <a:pt x="0" y="103902"/>
                </a:lnTo>
                <a:cubicBezTo>
                  <a:pt x="0" y="46557"/>
                  <a:pt x="46557" y="0"/>
                  <a:pt x="1039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6473" y="1856510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6876" y="1977738"/>
            <a:ext cx="194830" cy="173182"/>
          </a:xfrm>
          <a:custGeom>
            <a:avLst/>
            <a:gdLst/>
            <a:ahLst/>
            <a:cxnLst/>
            <a:rect l="l" t="t" r="r" b="b"/>
            <a:pathLst>
              <a:path w="194830" h="173182">
                <a:moveTo>
                  <a:pt x="57366" y="51887"/>
                </a:moveTo>
                <a:lnTo>
                  <a:pt x="51041" y="45562"/>
                </a:lnTo>
                <a:cubicBezTo>
                  <a:pt x="46813" y="41334"/>
                  <a:pt x="46813" y="34467"/>
                  <a:pt x="51041" y="30239"/>
                </a:cubicBezTo>
                <a:lnTo>
                  <a:pt x="89838" y="-8591"/>
                </a:lnTo>
                <a:cubicBezTo>
                  <a:pt x="94066" y="-12820"/>
                  <a:pt x="100933" y="-12820"/>
                  <a:pt x="105161" y="-8591"/>
                </a:cubicBezTo>
                <a:lnTo>
                  <a:pt x="111486" y="-2232"/>
                </a:lnTo>
                <a:cubicBezTo>
                  <a:pt x="115714" y="1996"/>
                  <a:pt x="115714" y="8862"/>
                  <a:pt x="111486" y="13090"/>
                </a:cubicBezTo>
                <a:lnTo>
                  <a:pt x="72689" y="51887"/>
                </a:lnTo>
                <a:cubicBezTo>
                  <a:pt x="68461" y="56115"/>
                  <a:pt x="61595" y="56115"/>
                  <a:pt x="57366" y="51887"/>
                </a:cubicBezTo>
                <a:close/>
                <a:moveTo>
                  <a:pt x="93356" y="71607"/>
                </a:moveTo>
                <a:lnTo>
                  <a:pt x="82735" y="60986"/>
                </a:lnTo>
                <a:lnTo>
                  <a:pt x="120618" y="23102"/>
                </a:lnTo>
                <a:lnTo>
                  <a:pt x="161005" y="63489"/>
                </a:lnTo>
                <a:lnTo>
                  <a:pt x="123121" y="101372"/>
                </a:lnTo>
                <a:lnTo>
                  <a:pt x="112501" y="90751"/>
                </a:lnTo>
                <a:lnTo>
                  <a:pt x="34028" y="169224"/>
                </a:lnTo>
                <a:cubicBezTo>
                  <a:pt x="28751" y="174501"/>
                  <a:pt x="20193" y="174501"/>
                  <a:pt x="14883" y="169224"/>
                </a:cubicBezTo>
                <a:cubicBezTo>
                  <a:pt x="9572" y="163948"/>
                  <a:pt x="9606" y="155390"/>
                  <a:pt x="14883" y="150080"/>
                </a:cubicBezTo>
                <a:lnTo>
                  <a:pt x="93356" y="71607"/>
                </a:lnTo>
                <a:close/>
                <a:moveTo>
                  <a:pt x="132220" y="126707"/>
                </a:moveTo>
                <a:cubicBezTo>
                  <a:pt x="127992" y="122479"/>
                  <a:pt x="127992" y="115612"/>
                  <a:pt x="132220" y="111384"/>
                </a:cubicBezTo>
                <a:lnTo>
                  <a:pt x="171017" y="72588"/>
                </a:lnTo>
                <a:cubicBezTo>
                  <a:pt x="175245" y="68359"/>
                  <a:pt x="182112" y="68359"/>
                  <a:pt x="186340" y="72588"/>
                </a:cubicBezTo>
                <a:lnTo>
                  <a:pt x="192665" y="78913"/>
                </a:lnTo>
                <a:cubicBezTo>
                  <a:pt x="196893" y="83141"/>
                  <a:pt x="196893" y="90007"/>
                  <a:pt x="192665" y="94235"/>
                </a:cubicBezTo>
                <a:lnTo>
                  <a:pt x="153868" y="133066"/>
                </a:lnTo>
                <a:cubicBezTo>
                  <a:pt x="149640" y="137294"/>
                  <a:pt x="142774" y="137294"/>
                  <a:pt x="138545" y="133066"/>
                </a:cubicBezTo>
                <a:lnTo>
                  <a:pt x="132220" y="12674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46018" y="1943101"/>
            <a:ext cx="891886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 Act 1981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6473" y="2410692"/>
            <a:ext cx="3429000" cy="675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(Prevention and Control of Pollution) Act, 1981</a:t>
            </a: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the legal foundation for air quality management.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936" y="3193474"/>
            <a:ext cx="3349336" cy="630382"/>
          </a:xfrm>
          <a:custGeom>
            <a:avLst/>
            <a:gdLst/>
            <a:ahLst/>
            <a:cxnLst/>
            <a:rect l="l" t="t" r="r" b="b"/>
            <a:pathLst>
              <a:path w="3349336" h="630382">
                <a:moveTo>
                  <a:pt x="69273" y="0"/>
                </a:moveTo>
                <a:lnTo>
                  <a:pt x="3280064" y="0"/>
                </a:lnTo>
                <a:cubicBezTo>
                  <a:pt x="3318322" y="0"/>
                  <a:pt x="3349336" y="31014"/>
                  <a:pt x="3349336" y="69273"/>
                </a:cubicBezTo>
                <a:lnTo>
                  <a:pt x="3349336" y="561109"/>
                </a:lnTo>
                <a:cubicBezTo>
                  <a:pt x="3349336" y="599367"/>
                  <a:pt x="3318322" y="630382"/>
                  <a:pt x="3280064" y="630382"/>
                </a:cubicBezTo>
                <a:lnTo>
                  <a:pt x="69273" y="630382"/>
                </a:lnTo>
                <a:cubicBezTo>
                  <a:pt x="31040" y="630382"/>
                  <a:pt x="0" y="599342"/>
                  <a:pt x="0" y="5611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7309" y="3300845"/>
            <a:ext cx="319520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Evidence Tool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309" y="3508663"/>
            <a:ext cx="32038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for GRAP Implementation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0573" y="1679864"/>
            <a:ext cx="3713018" cy="2327564"/>
          </a:xfrm>
          <a:custGeom>
            <a:avLst/>
            <a:gdLst/>
            <a:ahLst/>
            <a:cxnLst/>
            <a:rect l="l" t="t" r="r" b="b"/>
            <a:pathLst>
              <a:path w="3713018" h="2327564">
                <a:moveTo>
                  <a:pt x="103902" y="0"/>
                </a:moveTo>
                <a:lnTo>
                  <a:pt x="3609116" y="0"/>
                </a:lnTo>
                <a:cubicBezTo>
                  <a:pt x="3666499" y="0"/>
                  <a:pt x="3713018" y="46519"/>
                  <a:pt x="3713018" y="103902"/>
                </a:cubicBezTo>
                <a:lnTo>
                  <a:pt x="3713018" y="2223661"/>
                </a:lnTo>
                <a:cubicBezTo>
                  <a:pt x="3713018" y="2281045"/>
                  <a:pt x="3666499" y="2327564"/>
                  <a:pt x="3609116" y="2327564"/>
                </a:cubicBezTo>
                <a:lnTo>
                  <a:pt x="103902" y="2327564"/>
                </a:lnTo>
                <a:cubicBezTo>
                  <a:pt x="46519" y="2327564"/>
                  <a:pt x="0" y="2281045"/>
                  <a:pt x="0" y="2223661"/>
                </a:cubicBezTo>
                <a:lnTo>
                  <a:pt x="0" y="103902"/>
                </a:lnTo>
                <a:cubicBezTo>
                  <a:pt x="0" y="46557"/>
                  <a:pt x="46557" y="0"/>
                  <a:pt x="1039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17219" y="1856510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38446" y="1977738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45731" y="39710"/>
                </a:moveTo>
                <a:lnTo>
                  <a:pt x="36903" y="64943"/>
                </a:lnTo>
                <a:lnTo>
                  <a:pt x="136279" y="64943"/>
                </a:lnTo>
                <a:lnTo>
                  <a:pt x="127451" y="39710"/>
                </a:lnTo>
                <a:cubicBezTo>
                  <a:pt x="125929" y="35381"/>
                  <a:pt x="121836" y="32472"/>
                  <a:pt x="117236" y="32472"/>
                </a:cubicBezTo>
                <a:lnTo>
                  <a:pt x="55946" y="32472"/>
                </a:lnTo>
                <a:cubicBezTo>
                  <a:pt x="51346" y="32472"/>
                  <a:pt x="47253" y="35381"/>
                  <a:pt x="45731" y="39710"/>
                </a:cubicBezTo>
                <a:close/>
                <a:moveTo>
                  <a:pt x="13395" y="66567"/>
                </a:moveTo>
                <a:lnTo>
                  <a:pt x="25301" y="32573"/>
                </a:lnTo>
                <a:cubicBezTo>
                  <a:pt x="29867" y="19551"/>
                  <a:pt x="42145" y="10824"/>
                  <a:pt x="55946" y="10824"/>
                </a:cubicBezTo>
                <a:lnTo>
                  <a:pt x="117236" y="10824"/>
                </a:lnTo>
                <a:cubicBezTo>
                  <a:pt x="131036" y="10824"/>
                  <a:pt x="143315" y="19551"/>
                  <a:pt x="147881" y="32573"/>
                </a:cubicBezTo>
                <a:lnTo>
                  <a:pt x="159787" y="66567"/>
                </a:lnTo>
                <a:cubicBezTo>
                  <a:pt x="167635" y="69814"/>
                  <a:pt x="173182" y="77560"/>
                  <a:pt x="173182" y="86591"/>
                </a:cubicBezTo>
                <a:lnTo>
                  <a:pt x="173182" y="151534"/>
                </a:lnTo>
                <a:cubicBezTo>
                  <a:pt x="173182" y="157521"/>
                  <a:pt x="168345" y="162358"/>
                  <a:pt x="162358" y="162358"/>
                </a:cubicBezTo>
                <a:lnTo>
                  <a:pt x="151534" y="162358"/>
                </a:lnTo>
                <a:cubicBezTo>
                  <a:pt x="145547" y="162358"/>
                  <a:pt x="140710" y="157521"/>
                  <a:pt x="140710" y="151534"/>
                </a:cubicBezTo>
                <a:lnTo>
                  <a:pt x="140710" y="140710"/>
                </a:lnTo>
                <a:lnTo>
                  <a:pt x="32472" y="140710"/>
                </a:lnTo>
                <a:lnTo>
                  <a:pt x="32472" y="151534"/>
                </a:lnTo>
                <a:cubicBezTo>
                  <a:pt x="32472" y="157521"/>
                  <a:pt x="27635" y="162358"/>
                  <a:pt x="21648" y="162358"/>
                </a:cubicBezTo>
                <a:lnTo>
                  <a:pt x="10824" y="162358"/>
                </a:lnTo>
                <a:cubicBezTo>
                  <a:pt x="4837" y="162358"/>
                  <a:pt x="0" y="157521"/>
                  <a:pt x="0" y="151534"/>
                </a:cubicBezTo>
                <a:lnTo>
                  <a:pt x="0" y="86591"/>
                </a:lnTo>
                <a:cubicBezTo>
                  <a:pt x="0" y="77560"/>
                  <a:pt x="5547" y="69814"/>
                  <a:pt x="13395" y="66567"/>
                </a:cubicBezTo>
                <a:close/>
                <a:moveTo>
                  <a:pt x="43295" y="102827"/>
                </a:moveTo>
                <a:cubicBezTo>
                  <a:pt x="43295" y="96853"/>
                  <a:pt x="38445" y="92003"/>
                  <a:pt x="32472" y="92003"/>
                </a:cubicBezTo>
                <a:cubicBezTo>
                  <a:pt x="26498" y="92003"/>
                  <a:pt x="21648" y="96853"/>
                  <a:pt x="21648" y="102827"/>
                </a:cubicBezTo>
                <a:cubicBezTo>
                  <a:pt x="21648" y="108801"/>
                  <a:pt x="26498" y="113651"/>
                  <a:pt x="32472" y="113651"/>
                </a:cubicBezTo>
                <a:cubicBezTo>
                  <a:pt x="38445" y="113651"/>
                  <a:pt x="43295" y="108801"/>
                  <a:pt x="43295" y="102827"/>
                </a:cubicBezTo>
                <a:close/>
                <a:moveTo>
                  <a:pt x="140710" y="113651"/>
                </a:moveTo>
                <a:cubicBezTo>
                  <a:pt x="146684" y="113651"/>
                  <a:pt x="151534" y="108801"/>
                  <a:pt x="151534" y="102827"/>
                </a:cubicBezTo>
                <a:cubicBezTo>
                  <a:pt x="151534" y="96853"/>
                  <a:pt x="146684" y="92003"/>
                  <a:pt x="140710" y="92003"/>
                </a:cubicBezTo>
                <a:cubicBezTo>
                  <a:pt x="134736" y="92003"/>
                  <a:pt x="129886" y="96853"/>
                  <a:pt x="129886" y="102827"/>
                </a:cubicBezTo>
                <a:cubicBezTo>
                  <a:pt x="129886" y="108801"/>
                  <a:pt x="134736" y="113651"/>
                  <a:pt x="140710" y="11365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6764" y="1943101"/>
            <a:ext cx="969818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BS-VI Norms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7219" y="2410692"/>
            <a:ext cx="3429000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Bharat Stage VI Emission Standards</a:t>
            </a: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 India's most stringent vehicle emission regulations.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0682" y="2968338"/>
            <a:ext cx="3349336" cy="630382"/>
          </a:xfrm>
          <a:custGeom>
            <a:avLst/>
            <a:gdLst/>
            <a:ahLst/>
            <a:cxnLst/>
            <a:rect l="l" t="t" r="r" b="b"/>
            <a:pathLst>
              <a:path w="3349336" h="630382">
                <a:moveTo>
                  <a:pt x="69273" y="0"/>
                </a:moveTo>
                <a:lnTo>
                  <a:pt x="3280064" y="0"/>
                </a:lnTo>
                <a:cubicBezTo>
                  <a:pt x="3318322" y="0"/>
                  <a:pt x="3349336" y="31014"/>
                  <a:pt x="3349336" y="69273"/>
                </a:cubicBezTo>
                <a:lnTo>
                  <a:pt x="3349336" y="561109"/>
                </a:lnTo>
                <a:cubicBezTo>
                  <a:pt x="3349336" y="599367"/>
                  <a:pt x="3318322" y="630382"/>
                  <a:pt x="3280064" y="630382"/>
                </a:cubicBezTo>
                <a:lnTo>
                  <a:pt x="69273" y="630382"/>
                </a:lnTo>
                <a:cubicBezTo>
                  <a:pt x="31040" y="630382"/>
                  <a:pt x="0" y="599342"/>
                  <a:pt x="0" y="5611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28055" y="3075709"/>
            <a:ext cx="319520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Justification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8055" y="3283527"/>
            <a:ext cx="32038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NO₂ Level Analysis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1428" y="1679864"/>
            <a:ext cx="3713018" cy="2327564"/>
          </a:xfrm>
          <a:custGeom>
            <a:avLst/>
            <a:gdLst/>
            <a:ahLst/>
            <a:cxnLst/>
            <a:rect l="l" t="t" r="r" b="b"/>
            <a:pathLst>
              <a:path w="3713018" h="2327564">
                <a:moveTo>
                  <a:pt x="103902" y="0"/>
                </a:moveTo>
                <a:lnTo>
                  <a:pt x="3609116" y="0"/>
                </a:lnTo>
                <a:cubicBezTo>
                  <a:pt x="3666499" y="0"/>
                  <a:pt x="3713018" y="46519"/>
                  <a:pt x="3713018" y="103902"/>
                </a:cubicBezTo>
                <a:lnTo>
                  <a:pt x="3713018" y="2223661"/>
                </a:lnTo>
                <a:cubicBezTo>
                  <a:pt x="3713018" y="2281045"/>
                  <a:pt x="3666499" y="2327564"/>
                  <a:pt x="3609116" y="2327564"/>
                </a:cubicBezTo>
                <a:lnTo>
                  <a:pt x="103902" y="2327564"/>
                </a:lnTo>
                <a:cubicBezTo>
                  <a:pt x="46519" y="2327564"/>
                  <a:pt x="0" y="2281045"/>
                  <a:pt x="0" y="2223661"/>
                </a:cubicBezTo>
                <a:lnTo>
                  <a:pt x="0" y="103902"/>
                </a:lnTo>
                <a:cubicBezTo>
                  <a:pt x="0" y="46557"/>
                  <a:pt x="46557" y="0"/>
                  <a:pt x="1039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08073" y="1856510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18477" y="1977738"/>
            <a:ext cx="194830" cy="173182"/>
          </a:xfrm>
          <a:custGeom>
            <a:avLst/>
            <a:gdLst/>
            <a:ahLst/>
            <a:cxnLst/>
            <a:rect l="l" t="t" r="r" b="b"/>
            <a:pathLst>
              <a:path w="194830" h="173182">
                <a:moveTo>
                  <a:pt x="21648" y="21648"/>
                </a:moveTo>
                <a:cubicBezTo>
                  <a:pt x="21648" y="9708"/>
                  <a:pt x="31355" y="0"/>
                  <a:pt x="43295" y="0"/>
                </a:cubicBezTo>
                <a:lnTo>
                  <a:pt x="97415" y="0"/>
                </a:lnTo>
                <a:cubicBezTo>
                  <a:pt x="109355" y="0"/>
                  <a:pt x="119063" y="9708"/>
                  <a:pt x="119063" y="21648"/>
                </a:cubicBezTo>
                <a:lnTo>
                  <a:pt x="119063" y="97415"/>
                </a:lnTo>
                <a:cubicBezTo>
                  <a:pt x="134013" y="97415"/>
                  <a:pt x="146122" y="109524"/>
                  <a:pt x="146122" y="124474"/>
                </a:cubicBezTo>
                <a:lnTo>
                  <a:pt x="146122" y="128533"/>
                </a:lnTo>
                <a:cubicBezTo>
                  <a:pt x="146122" y="132254"/>
                  <a:pt x="149166" y="135298"/>
                  <a:pt x="152887" y="135298"/>
                </a:cubicBezTo>
                <a:cubicBezTo>
                  <a:pt x="156608" y="135298"/>
                  <a:pt x="159652" y="132254"/>
                  <a:pt x="159652" y="128533"/>
                </a:cubicBezTo>
                <a:lnTo>
                  <a:pt x="159652" y="85339"/>
                </a:lnTo>
                <a:cubicBezTo>
                  <a:pt x="148659" y="81889"/>
                  <a:pt x="140710" y="71640"/>
                  <a:pt x="140710" y="59531"/>
                </a:cubicBezTo>
                <a:lnTo>
                  <a:pt x="140710" y="48707"/>
                </a:lnTo>
                <a:cubicBezTo>
                  <a:pt x="140710" y="45731"/>
                  <a:pt x="143146" y="43295"/>
                  <a:pt x="146122" y="43295"/>
                </a:cubicBezTo>
                <a:lnTo>
                  <a:pt x="151534" y="43295"/>
                </a:lnTo>
                <a:lnTo>
                  <a:pt x="151534" y="27060"/>
                </a:lnTo>
                <a:cubicBezTo>
                  <a:pt x="151534" y="24083"/>
                  <a:pt x="153969" y="21648"/>
                  <a:pt x="156946" y="21648"/>
                </a:cubicBezTo>
                <a:cubicBezTo>
                  <a:pt x="159923" y="21648"/>
                  <a:pt x="162358" y="24083"/>
                  <a:pt x="162358" y="27060"/>
                </a:cubicBezTo>
                <a:lnTo>
                  <a:pt x="162358" y="43295"/>
                </a:lnTo>
                <a:lnTo>
                  <a:pt x="173182" y="43295"/>
                </a:lnTo>
                <a:lnTo>
                  <a:pt x="173182" y="27060"/>
                </a:lnTo>
                <a:cubicBezTo>
                  <a:pt x="173182" y="24083"/>
                  <a:pt x="175617" y="21648"/>
                  <a:pt x="178594" y="21648"/>
                </a:cubicBezTo>
                <a:cubicBezTo>
                  <a:pt x="181570" y="21648"/>
                  <a:pt x="184006" y="24083"/>
                  <a:pt x="184006" y="27060"/>
                </a:cubicBezTo>
                <a:lnTo>
                  <a:pt x="184006" y="43295"/>
                </a:lnTo>
                <a:lnTo>
                  <a:pt x="189418" y="43295"/>
                </a:lnTo>
                <a:cubicBezTo>
                  <a:pt x="192394" y="43295"/>
                  <a:pt x="194830" y="45731"/>
                  <a:pt x="194830" y="48707"/>
                </a:cubicBezTo>
                <a:lnTo>
                  <a:pt x="194830" y="59531"/>
                </a:lnTo>
                <a:cubicBezTo>
                  <a:pt x="194830" y="71640"/>
                  <a:pt x="186881" y="81889"/>
                  <a:pt x="175888" y="85339"/>
                </a:cubicBezTo>
                <a:lnTo>
                  <a:pt x="175888" y="128533"/>
                </a:lnTo>
                <a:cubicBezTo>
                  <a:pt x="175888" y="141251"/>
                  <a:pt x="165605" y="151534"/>
                  <a:pt x="152887" y="151534"/>
                </a:cubicBezTo>
                <a:cubicBezTo>
                  <a:pt x="140169" y="151534"/>
                  <a:pt x="129886" y="141251"/>
                  <a:pt x="129886" y="128533"/>
                </a:cubicBezTo>
                <a:lnTo>
                  <a:pt x="129886" y="124474"/>
                </a:lnTo>
                <a:cubicBezTo>
                  <a:pt x="129886" y="118487"/>
                  <a:pt x="125049" y="113651"/>
                  <a:pt x="119063" y="113651"/>
                </a:cubicBezTo>
                <a:lnTo>
                  <a:pt x="119063" y="157420"/>
                </a:lnTo>
                <a:cubicBezTo>
                  <a:pt x="122208" y="158536"/>
                  <a:pt x="124474" y="161546"/>
                  <a:pt x="124474" y="165064"/>
                </a:cubicBezTo>
                <a:cubicBezTo>
                  <a:pt x="124474" y="169563"/>
                  <a:pt x="120855" y="173182"/>
                  <a:pt x="116357" y="173182"/>
                </a:cubicBezTo>
                <a:lnTo>
                  <a:pt x="24354" y="173182"/>
                </a:lnTo>
                <a:cubicBezTo>
                  <a:pt x="19855" y="173182"/>
                  <a:pt x="16236" y="169563"/>
                  <a:pt x="16236" y="165064"/>
                </a:cubicBezTo>
                <a:cubicBezTo>
                  <a:pt x="16236" y="161512"/>
                  <a:pt x="18502" y="158536"/>
                  <a:pt x="21648" y="157420"/>
                </a:cubicBezTo>
                <a:lnTo>
                  <a:pt x="21648" y="21648"/>
                </a:lnTo>
                <a:close/>
                <a:moveTo>
                  <a:pt x="49621" y="64165"/>
                </a:moveTo>
                <a:lnTo>
                  <a:pt x="62812" y="64165"/>
                </a:lnTo>
                <a:lnTo>
                  <a:pt x="55743" y="86794"/>
                </a:lnTo>
                <a:cubicBezTo>
                  <a:pt x="54931" y="89365"/>
                  <a:pt x="56859" y="92003"/>
                  <a:pt x="59565" y="92003"/>
                </a:cubicBezTo>
                <a:cubicBezTo>
                  <a:pt x="60546" y="92003"/>
                  <a:pt x="61459" y="91665"/>
                  <a:pt x="62203" y="91022"/>
                </a:cubicBezTo>
                <a:lnTo>
                  <a:pt x="94201" y="63286"/>
                </a:lnTo>
                <a:cubicBezTo>
                  <a:pt x="95250" y="62373"/>
                  <a:pt x="95859" y="61053"/>
                  <a:pt x="95859" y="59667"/>
                </a:cubicBezTo>
                <a:cubicBezTo>
                  <a:pt x="95859" y="57028"/>
                  <a:pt x="93728" y="54897"/>
                  <a:pt x="91090" y="54897"/>
                </a:cubicBezTo>
                <a:lnTo>
                  <a:pt x="77898" y="54897"/>
                </a:lnTo>
                <a:lnTo>
                  <a:pt x="84967" y="32269"/>
                </a:lnTo>
                <a:cubicBezTo>
                  <a:pt x="85779" y="29698"/>
                  <a:pt x="83851" y="27060"/>
                  <a:pt x="81145" y="27060"/>
                </a:cubicBezTo>
                <a:cubicBezTo>
                  <a:pt x="80164" y="27060"/>
                  <a:pt x="79251" y="27398"/>
                  <a:pt x="78507" y="28041"/>
                </a:cubicBezTo>
                <a:lnTo>
                  <a:pt x="46509" y="55777"/>
                </a:lnTo>
                <a:cubicBezTo>
                  <a:pt x="45460" y="56690"/>
                  <a:pt x="44851" y="58009"/>
                  <a:pt x="44851" y="59396"/>
                </a:cubicBezTo>
                <a:cubicBezTo>
                  <a:pt x="44851" y="62034"/>
                  <a:pt x="46982" y="64165"/>
                  <a:pt x="49621" y="6416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827619" y="1943101"/>
            <a:ext cx="839932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 Mission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8073" y="2410692"/>
            <a:ext cx="3429000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Electric Mobility Mission</a:t>
            </a: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promotes transition to cleaner transportation.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1537" y="2968338"/>
            <a:ext cx="3349336" cy="630382"/>
          </a:xfrm>
          <a:custGeom>
            <a:avLst/>
            <a:gdLst/>
            <a:ahLst/>
            <a:cxnLst/>
            <a:rect l="l" t="t" r="r" b="b"/>
            <a:pathLst>
              <a:path w="3349336" h="630382">
                <a:moveTo>
                  <a:pt x="69273" y="0"/>
                </a:moveTo>
                <a:lnTo>
                  <a:pt x="3280064" y="0"/>
                </a:lnTo>
                <a:cubicBezTo>
                  <a:pt x="3318322" y="0"/>
                  <a:pt x="3349336" y="31014"/>
                  <a:pt x="3349336" y="69273"/>
                </a:cubicBezTo>
                <a:lnTo>
                  <a:pt x="3349336" y="561109"/>
                </a:lnTo>
                <a:cubicBezTo>
                  <a:pt x="3349336" y="599367"/>
                  <a:pt x="3318322" y="630382"/>
                  <a:pt x="3280064" y="630382"/>
                </a:cubicBezTo>
                <a:lnTo>
                  <a:pt x="69273" y="630382"/>
                </a:lnTo>
                <a:cubicBezTo>
                  <a:pt x="31040" y="630382"/>
                  <a:pt x="0" y="599342"/>
                  <a:pt x="0" y="5611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18909" y="3075709"/>
            <a:ext cx="319520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Evidence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8909" y="3283527"/>
            <a:ext cx="32038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 Pollution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9827" y="4184073"/>
            <a:ext cx="5652655" cy="2673927"/>
          </a:xfrm>
          <a:custGeom>
            <a:avLst/>
            <a:gdLst/>
            <a:ahLst/>
            <a:cxnLst/>
            <a:rect l="l" t="t" r="r" b="b"/>
            <a:pathLst>
              <a:path w="5652655" h="2673927">
                <a:moveTo>
                  <a:pt x="103909" y="0"/>
                </a:moveTo>
                <a:lnTo>
                  <a:pt x="5548746" y="0"/>
                </a:lnTo>
                <a:cubicBezTo>
                  <a:pt x="5606133" y="0"/>
                  <a:pt x="5652655" y="46522"/>
                  <a:pt x="5652655" y="103909"/>
                </a:cubicBezTo>
                <a:lnTo>
                  <a:pt x="5652655" y="2570018"/>
                </a:lnTo>
                <a:cubicBezTo>
                  <a:pt x="5652655" y="2627406"/>
                  <a:pt x="5606133" y="2673927"/>
                  <a:pt x="5548746" y="2673927"/>
                </a:cubicBezTo>
                <a:lnTo>
                  <a:pt x="103909" y="2673927"/>
                </a:lnTo>
                <a:cubicBezTo>
                  <a:pt x="46522" y="2673927"/>
                  <a:pt x="0" y="2627406"/>
                  <a:pt x="0" y="2570018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61109" y="4395355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103911" y="0"/>
                </a:moveTo>
                <a:lnTo>
                  <a:pt x="380998" y="0"/>
                </a:lnTo>
                <a:cubicBezTo>
                  <a:pt x="438348" y="0"/>
                  <a:pt x="484909" y="46561"/>
                  <a:pt x="484909" y="103911"/>
                </a:cubicBezTo>
                <a:lnTo>
                  <a:pt x="484909" y="380998"/>
                </a:lnTo>
                <a:cubicBezTo>
                  <a:pt x="484909" y="438348"/>
                  <a:pt x="438348" y="484909"/>
                  <a:pt x="380998" y="484909"/>
                </a:cubicBezTo>
                <a:lnTo>
                  <a:pt x="103911" y="484909"/>
                </a:lnTo>
                <a:cubicBezTo>
                  <a:pt x="46561" y="484909"/>
                  <a:pt x="0" y="438348"/>
                  <a:pt x="0" y="380998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99655" y="453390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03909" y="0"/>
                </a:moveTo>
                <a:cubicBezTo>
                  <a:pt x="109876" y="0"/>
                  <a:pt x="115355" y="3288"/>
                  <a:pt x="118197" y="8524"/>
                </a:cubicBezTo>
                <a:lnTo>
                  <a:pt x="205870" y="170882"/>
                </a:lnTo>
                <a:cubicBezTo>
                  <a:pt x="208589" y="175915"/>
                  <a:pt x="208468" y="182003"/>
                  <a:pt x="205545" y="186915"/>
                </a:cubicBezTo>
                <a:cubicBezTo>
                  <a:pt x="202623" y="191826"/>
                  <a:pt x="197306" y="194830"/>
                  <a:pt x="191582" y="194830"/>
                </a:cubicBezTo>
                <a:lnTo>
                  <a:pt x="16236" y="194830"/>
                </a:lnTo>
                <a:cubicBezTo>
                  <a:pt x="10513" y="194830"/>
                  <a:pt x="5236" y="191826"/>
                  <a:pt x="2273" y="186915"/>
                </a:cubicBezTo>
                <a:cubicBezTo>
                  <a:pt x="-690" y="182003"/>
                  <a:pt x="-771" y="175915"/>
                  <a:pt x="1948" y="170882"/>
                </a:cubicBezTo>
                <a:lnTo>
                  <a:pt x="89622" y="8524"/>
                </a:lnTo>
                <a:cubicBezTo>
                  <a:pt x="92463" y="3288"/>
                  <a:pt x="97942" y="0"/>
                  <a:pt x="103909" y="0"/>
                </a:cubicBezTo>
                <a:close/>
                <a:moveTo>
                  <a:pt x="103909" y="68190"/>
                </a:moveTo>
                <a:cubicBezTo>
                  <a:pt x="98511" y="68190"/>
                  <a:pt x="94168" y="72533"/>
                  <a:pt x="94168" y="77932"/>
                </a:cubicBezTo>
                <a:lnTo>
                  <a:pt x="94168" y="123392"/>
                </a:lnTo>
                <a:cubicBezTo>
                  <a:pt x="94168" y="128790"/>
                  <a:pt x="98511" y="133134"/>
                  <a:pt x="103909" y="133134"/>
                </a:cubicBezTo>
                <a:cubicBezTo>
                  <a:pt x="109307" y="133134"/>
                  <a:pt x="113651" y="128790"/>
                  <a:pt x="113651" y="123392"/>
                </a:cubicBezTo>
                <a:lnTo>
                  <a:pt x="113651" y="77932"/>
                </a:lnTo>
                <a:cubicBezTo>
                  <a:pt x="113651" y="72533"/>
                  <a:pt x="109307" y="68190"/>
                  <a:pt x="103909" y="68190"/>
                </a:cubicBezTo>
                <a:close/>
                <a:moveTo>
                  <a:pt x="114746" y="155864"/>
                </a:moveTo>
                <a:cubicBezTo>
                  <a:pt x="114993" y="151841"/>
                  <a:pt x="112987" y="148014"/>
                  <a:pt x="109538" y="145928"/>
                </a:cubicBezTo>
                <a:cubicBezTo>
                  <a:pt x="106090" y="143842"/>
                  <a:pt x="101769" y="143842"/>
                  <a:pt x="98320" y="145928"/>
                </a:cubicBezTo>
                <a:cubicBezTo>
                  <a:pt x="94872" y="148014"/>
                  <a:pt x="92866" y="151841"/>
                  <a:pt x="93112" y="155864"/>
                </a:cubicBezTo>
                <a:cubicBezTo>
                  <a:pt x="92866" y="159886"/>
                  <a:pt x="94872" y="163714"/>
                  <a:pt x="98320" y="165800"/>
                </a:cubicBezTo>
                <a:cubicBezTo>
                  <a:pt x="101769" y="167885"/>
                  <a:pt x="106090" y="167885"/>
                  <a:pt x="109538" y="165800"/>
                </a:cubicBezTo>
                <a:cubicBezTo>
                  <a:pt x="112987" y="163714"/>
                  <a:pt x="114993" y="159886"/>
                  <a:pt x="114746" y="15586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184564" y="4499264"/>
            <a:ext cx="3429000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GRAP: Graded Response Action Plan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1109" y="5053446"/>
            <a:ext cx="5299364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dashboard serves as a </a:t>
            </a:r>
            <a:r>
              <a:rPr lang="en-US" sz="109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evidence tool</a:t>
            </a: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implementing GRAP, enabling authorities to trigger appropriate response measures based on real-time AQI data.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4573" y="5645728"/>
            <a:ext cx="1253836" cy="457200"/>
          </a:xfrm>
          <a:custGeom>
            <a:avLst/>
            <a:gdLst/>
            <a:ahLst/>
            <a:cxnLst/>
            <a:rect l="l" t="t" r="r" b="b"/>
            <a:pathLst>
              <a:path w="1253836" h="457200">
                <a:moveTo>
                  <a:pt x="69275" y="0"/>
                </a:moveTo>
                <a:lnTo>
                  <a:pt x="1184561" y="0"/>
                </a:lnTo>
                <a:cubicBezTo>
                  <a:pt x="1222821" y="0"/>
                  <a:pt x="1253836" y="31015"/>
                  <a:pt x="1253836" y="69275"/>
                </a:cubicBezTo>
                <a:lnTo>
                  <a:pt x="1253836" y="387925"/>
                </a:lnTo>
                <a:cubicBezTo>
                  <a:pt x="1253836" y="426185"/>
                  <a:pt x="1222821" y="457200"/>
                  <a:pt x="1184561" y="457200"/>
                </a:cubicBezTo>
                <a:lnTo>
                  <a:pt x="69275" y="457200"/>
                </a:lnTo>
                <a:cubicBezTo>
                  <a:pt x="31015" y="457200"/>
                  <a:pt x="0" y="426185"/>
                  <a:pt x="0" y="387925"/>
                </a:cubicBezTo>
                <a:lnTo>
                  <a:pt x="0" y="69275"/>
                </a:lnTo>
                <a:cubicBezTo>
                  <a:pt x="0" y="31015"/>
                  <a:pt x="31015" y="0"/>
                  <a:pt x="69275" y="0"/>
                </a:cubicBezTo>
                <a:close/>
              </a:path>
            </a:pathLst>
          </a:custGeom>
          <a:solidFill>
            <a:srgbClr val="00E400">
              <a:alpha val="20000"/>
            </a:srgbClr>
          </a:solidFill>
          <a:ln w="10160">
            <a:solidFill>
              <a:srgbClr val="00E4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07002" y="5718465"/>
            <a:ext cx="1168977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00E4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1332" y="5891647"/>
            <a:ext cx="116031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890280" y="5645728"/>
            <a:ext cx="1253836" cy="457200"/>
          </a:xfrm>
          <a:custGeom>
            <a:avLst/>
            <a:gdLst/>
            <a:ahLst/>
            <a:cxnLst/>
            <a:rect l="l" t="t" r="r" b="b"/>
            <a:pathLst>
              <a:path w="1253836" h="457200">
                <a:moveTo>
                  <a:pt x="69275" y="0"/>
                </a:moveTo>
                <a:lnTo>
                  <a:pt x="1184561" y="0"/>
                </a:lnTo>
                <a:cubicBezTo>
                  <a:pt x="1222821" y="0"/>
                  <a:pt x="1253836" y="31015"/>
                  <a:pt x="1253836" y="69275"/>
                </a:cubicBezTo>
                <a:lnTo>
                  <a:pt x="1253836" y="387925"/>
                </a:lnTo>
                <a:cubicBezTo>
                  <a:pt x="1253836" y="426185"/>
                  <a:pt x="1222821" y="457200"/>
                  <a:pt x="1184561" y="457200"/>
                </a:cubicBezTo>
                <a:lnTo>
                  <a:pt x="69275" y="457200"/>
                </a:lnTo>
                <a:cubicBezTo>
                  <a:pt x="31015" y="457200"/>
                  <a:pt x="0" y="426185"/>
                  <a:pt x="0" y="387925"/>
                </a:cubicBezTo>
                <a:lnTo>
                  <a:pt x="0" y="69275"/>
                </a:lnTo>
                <a:cubicBezTo>
                  <a:pt x="0" y="31015"/>
                  <a:pt x="31015" y="0"/>
                  <a:pt x="69275" y="0"/>
                </a:cubicBezTo>
                <a:close/>
              </a:path>
            </a:pathLst>
          </a:custGeom>
          <a:solidFill>
            <a:srgbClr val="FFFF00">
              <a:alpha val="20000"/>
            </a:srgbClr>
          </a:solidFill>
          <a:ln w="10160">
            <a:solidFill>
              <a:srgbClr val="FFFF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932709" y="5718465"/>
            <a:ext cx="1168977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F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937039" y="5891647"/>
            <a:ext cx="116031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51-100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15986" y="5645728"/>
            <a:ext cx="1253836" cy="457200"/>
          </a:xfrm>
          <a:custGeom>
            <a:avLst/>
            <a:gdLst/>
            <a:ahLst/>
            <a:cxnLst/>
            <a:rect l="l" t="t" r="r" b="b"/>
            <a:pathLst>
              <a:path w="1253836" h="457200">
                <a:moveTo>
                  <a:pt x="69275" y="0"/>
                </a:moveTo>
                <a:lnTo>
                  <a:pt x="1184561" y="0"/>
                </a:lnTo>
                <a:cubicBezTo>
                  <a:pt x="1222821" y="0"/>
                  <a:pt x="1253836" y="31015"/>
                  <a:pt x="1253836" y="69275"/>
                </a:cubicBezTo>
                <a:lnTo>
                  <a:pt x="1253836" y="387925"/>
                </a:lnTo>
                <a:cubicBezTo>
                  <a:pt x="1253836" y="426185"/>
                  <a:pt x="1222821" y="457200"/>
                  <a:pt x="1184561" y="457200"/>
                </a:cubicBezTo>
                <a:lnTo>
                  <a:pt x="69275" y="457200"/>
                </a:lnTo>
                <a:cubicBezTo>
                  <a:pt x="31015" y="457200"/>
                  <a:pt x="0" y="426185"/>
                  <a:pt x="0" y="387925"/>
                </a:cubicBezTo>
                <a:lnTo>
                  <a:pt x="0" y="69275"/>
                </a:lnTo>
                <a:cubicBezTo>
                  <a:pt x="0" y="31015"/>
                  <a:pt x="31015" y="0"/>
                  <a:pt x="69275" y="0"/>
                </a:cubicBezTo>
                <a:close/>
              </a:path>
            </a:pathLst>
          </a:custGeom>
          <a:solidFill>
            <a:srgbClr val="FF7E00">
              <a:alpha val="20000"/>
            </a:srgbClr>
          </a:solidFill>
          <a:ln w="10160">
            <a:solidFill>
              <a:srgbClr val="FF7E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58416" y="5718465"/>
            <a:ext cx="1168977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FF7E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62746" y="5891647"/>
            <a:ext cx="116031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101-200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41693" y="5645728"/>
            <a:ext cx="1253836" cy="457200"/>
          </a:xfrm>
          <a:custGeom>
            <a:avLst/>
            <a:gdLst/>
            <a:ahLst/>
            <a:cxnLst/>
            <a:rect l="l" t="t" r="r" b="b"/>
            <a:pathLst>
              <a:path w="1253836" h="457200">
                <a:moveTo>
                  <a:pt x="69275" y="0"/>
                </a:moveTo>
                <a:lnTo>
                  <a:pt x="1184561" y="0"/>
                </a:lnTo>
                <a:cubicBezTo>
                  <a:pt x="1222821" y="0"/>
                  <a:pt x="1253836" y="31015"/>
                  <a:pt x="1253836" y="69275"/>
                </a:cubicBezTo>
                <a:lnTo>
                  <a:pt x="1253836" y="387925"/>
                </a:lnTo>
                <a:cubicBezTo>
                  <a:pt x="1253836" y="426185"/>
                  <a:pt x="1222821" y="457200"/>
                  <a:pt x="1184561" y="457200"/>
                </a:cubicBezTo>
                <a:lnTo>
                  <a:pt x="69275" y="457200"/>
                </a:lnTo>
                <a:cubicBezTo>
                  <a:pt x="31015" y="457200"/>
                  <a:pt x="0" y="426185"/>
                  <a:pt x="0" y="387925"/>
                </a:cubicBezTo>
                <a:lnTo>
                  <a:pt x="0" y="69275"/>
                </a:lnTo>
                <a:cubicBezTo>
                  <a:pt x="0" y="31015"/>
                  <a:pt x="31015" y="0"/>
                  <a:pt x="69275" y="0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10160">
            <a:solidFill>
              <a:srgbClr val="FF00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84123" y="5718465"/>
            <a:ext cx="1168977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FF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88452" y="5891647"/>
            <a:ext cx="116031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201+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6055" y="4184073"/>
            <a:ext cx="5652655" cy="2673927"/>
          </a:xfrm>
          <a:custGeom>
            <a:avLst/>
            <a:gdLst/>
            <a:ahLst/>
            <a:cxnLst/>
            <a:rect l="l" t="t" r="r" b="b"/>
            <a:pathLst>
              <a:path w="5652655" h="2673927">
                <a:moveTo>
                  <a:pt x="103909" y="0"/>
                </a:moveTo>
                <a:lnTo>
                  <a:pt x="5548746" y="0"/>
                </a:lnTo>
                <a:cubicBezTo>
                  <a:pt x="5606133" y="0"/>
                  <a:pt x="5652655" y="46522"/>
                  <a:pt x="5652655" y="103909"/>
                </a:cubicBezTo>
                <a:lnTo>
                  <a:pt x="5652655" y="2570018"/>
                </a:lnTo>
                <a:cubicBezTo>
                  <a:pt x="5652655" y="2627406"/>
                  <a:pt x="5606133" y="2673927"/>
                  <a:pt x="5548746" y="2673927"/>
                </a:cubicBezTo>
                <a:lnTo>
                  <a:pt x="103909" y="2673927"/>
                </a:lnTo>
                <a:cubicBezTo>
                  <a:pt x="46522" y="2673927"/>
                  <a:pt x="0" y="2627406"/>
                  <a:pt x="0" y="2570018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97336" y="4395355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103911" y="0"/>
                </a:moveTo>
                <a:lnTo>
                  <a:pt x="380998" y="0"/>
                </a:lnTo>
                <a:cubicBezTo>
                  <a:pt x="438348" y="0"/>
                  <a:pt x="484909" y="46561"/>
                  <a:pt x="484909" y="103911"/>
                </a:cubicBezTo>
                <a:lnTo>
                  <a:pt x="484909" y="380998"/>
                </a:lnTo>
                <a:cubicBezTo>
                  <a:pt x="484909" y="438348"/>
                  <a:pt x="438348" y="484909"/>
                  <a:pt x="380998" y="484909"/>
                </a:cubicBezTo>
                <a:lnTo>
                  <a:pt x="103911" y="484909"/>
                </a:lnTo>
                <a:cubicBezTo>
                  <a:pt x="46561" y="484909"/>
                  <a:pt x="0" y="438348"/>
                  <a:pt x="0" y="380998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522893" y="4533901"/>
            <a:ext cx="233795" cy="207818"/>
          </a:xfrm>
          <a:custGeom>
            <a:avLst/>
            <a:gdLst/>
            <a:ahLst/>
            <a:cxnLst/>
            <a:rect l="l" t="t" r="r" b="b"/>
            <a:pathLst>
              <a:path w="233795" h="207818">
                <a:moveTo>
                  <a:pt x="129886" y="0"/>
                </a:moveTo>
                <a:cubicBezTo>
                  <a:pt x="115558" y="0"/>
                  <a:pt x="103909" y="11649"/>
                  <a:pt x="103909" y="25977"/>
                </a:cubicBezTo>
                <a:lnTo>
                  <a:pt x="103909" y="38966"/>
                </a:lnTo>
                <a:lnTo>
                  <a:pt x="84426" y="38966"/>
                </a:lnTo>
                <a:lnTo>
                  <a:pt x="84426" y="9741"/>
                </a:lnTo>
                <a:cubicBezTo>
                  <a:pt x="84426" y="4343"/>
                  <a:pt x="80083" y="0"/>
                  <a:pt x="74685" y="0"/>
                </a:cubicBezTo>
                <a:cubicBezTo>
                  <a:pt x="69286" y="0"/>
                  <a:pt x="64943" y="4343"/>
                  <a:pt x="64943" y="9741"/>
                </a:cubicBezTo>
                <a:lnTo>
                  <a:pt x="64943" y="38966"/>
                </a:lnTo>
                <a:lnTo>
                  <a:pt x="38966" y="38966"/>
                </a:lnTo>
                <a:lnTo>
                  <a:pt x="38966" y="9741"/>
                </a:lnTo>
                <a:cubicBezTo>
                  <a:pt x="38966" y="4343"/>
                  <a:pt x="34623" y="0"/>
                  <a:pt x="29224" y="0"/>
                </a:cubicBezTo>
                <a:cubicBezTo>
                  <a:pt x="23826" y="0"/>
                  <a:pt x="19483" y="4343"/>
                  <a:pt x="19483" y="9741"/>
                </a:cubicBezTo>
                <a:lnTo>
                  <a:pt x="19483" y="39778"/>
                </a:lnTo>
                <a:cubicBezTo>
                  <a:pt x="8280" y="42660"/>
                  <a:pt x="0" y="52848"/>
                  <a:pt x="0" y="64943"/>
                </a:cubicBezTo>
                <a:lnTo>
                  <a:pt x="0" y="181841"/>
                </a:lnTo>
                <a:cubicBezTo>
                  <a:pt x="0" y="196169"/>
                  <a:pt x="11649" y="207818"/>
                  <a:pt x="25977" y="207818"/>
                </a:cubicBezTo>
                <a:lnTo>
                  <a:pt x="207818" y="207818"/>
                </a:lnTo>
                <a:cubicBezTo>
                  <a:pt x="222146" y="207818"/>
                  <a:pt x="233795" y="196169"/>
                  <a:pt x="233795" y="181841"/>
                </a:cubicBezTo>
                <a:lnTo>
                  <a:pt x="233795" y="103909"/>
                </a:lnTo>
                <a:cubicBezTo>
                  <a:pt x="233795" y="89581"/>
                  <a:pt x="222146" y="77932"/>
                  <a:pt x="207818" y="77932"/>
                </a:cubicBezTo>
                <a:lnTo>
                  <a:pt x="181841" y="77932"/>
                </a:lnTo>
                <a:lnTo>
                  <a:pt x="181841" y="25977"/>
                </a:lnTo>
                <a:cubicBezTo>
                  <a:pt x="181841" y="11649"/>
                  <a:pt x="170192" y="0"/>
                  <a:pt x="155864" y="0"/>
                </a:cubicBezTo>
                <a:lnTo>
                  <a:pt x="129886" y="0"/>
                </a:lnTo>
                <a:close/>
                <a:moveTo>
                  <a:pt x="155864" y="45460"/>
                </a:moveTo>
                <a:lnTo>
                  <a:pt x="155864" y="58449"/>
                </a:lnTo>
                <a:cubicBezTo>
                  <a:pt x="155864" y="62021"/>
                  <a:pt x="152941" y="64943"/>
                  <a:pt x="149369" y="64943"/>
                </a:cubicBezTo>
                <a:lnTo>
                  <a:pt x="136381" y="64943"/>
                </a:lnTo>
                <a:cubicBezTo>
                  <a:pt x="132809" y="64943"/>
                  <a:pt x="129886" y="62021"/>
                  <a:pt x="129886" y="58449"/>
                </a:cubicBezTo>
                <a:lnTo>
                  <a:pt x="129886" y="45460"/>
                </a:lnTo>
                <a:cubicBezTo>
                  <a:pt x="129886" y="41888"/>
                  <a:pt x="132809" y="38966"/>
                  <a:pt x="136381" y="38966"/>
                </a:cubicBezTo>
                <a:lnTo>
                  <a:pt x="149369" y="38966"/>
                </a:lnTo>
                <a:cubicBezTo>
                  <a:pt x="152941" y="38966"/>
                  <a:pt x="155864" y="41888"/>
                  <a:pt x="155864" y="45460"/>
                </a:cubicBezTo>
                <a:close/>
                <a:moveTo>
                  <a:pt x="149369" y="77932"/>
                </a:moveTo>
                <a:cubicBezTo>
                  <a:pt x="152941" y="77932"/>
                  <a:pt x="155864" y="80854"/>
                  <a:pt x="155864" y="84426"/>
                </a:cubicBezTo>
                <a:lnTo>
                  <a:pt x="155864" y="97415"/>
                </a:lnTo>
                <a:cubicBezTo>
                  <a:pt x="155864" y="100987"/>
                  <a:pt x="152941" y="103909"/>
                  <a:pt x="149369" y="103909"/>
                </a:cubicBezTo>
                <a:lnTo>
                  <a:pt x="136381" y="103909"/>
                </a:lnTo>
                <a:cubicBezTo>
                  <a:pt x="132809" y="103909"/>
                  <a:pt x="129886" y="100987"/>
                  <a:pt x="129886" y="97415"/>
                </a:cubicBezTo>
                <a:lnTo>
                  <a:pt x="129886" y="84426"/>
                </a:lnTo>
                <a:cubicBezTo>
                  <a:pt x="129886" y="80854"/>
                  <a:pt x="132809" y="77932"/>
                  <a:pt x="136381" y="77932"/>
                </a:cubicBezTo>
                <a:lnTo>
                  <a:pt x="149369" y="77932"/>
                </a:lnTo>
                <a:close/>
                <a:moveTo>
                  <a:pt x="155864" y="123392"/>
                </a:moveTo>
                <a:lnTo>
                  <a:pt x="155864" y="136381"/>
                </a:lnTo>
                <a:cubicBezTo>
                  <a:pt x="155864" y="139953"/>
                  <a:pt x="152941" y="142875"/>
                  <a:pt x="149369" y="142875"/>
                </a:cubicBezTo>
                <a:lnTo>
                  <a:pt x="136381" y="142875"/>
                </a:lnTo>
                <a:cubicBezTo>
                  <a:pt x="132809" y="142875"/>
                  <a:pt x="129886" y="139953"/>
                  <a:pt x="129886" y="136381"/>
                </a:cubicBezTo>
                <a:lnTo>
                  <a:pt x="129886" y="123392"/>
                </a:lnTo>
                <a:cubicBezTo>
                  <a:pt x="129886" y="119820"/>
                  <a:pt x="132809" y="116898"/>
                  <a:pt x="136381" y="116898"/>
                </a:cubicBezTo>
                <a:lnTo>
                  <a:pt x="149369" y="116898"/>
                </a:lnTo>
                <a:cubicBezTo>
                  <a:pt x="152941" y="116898"/>
                  <a:pt x="155864" y="119820"/>
                  <a:pt x="155864" y="123392"/>
                </a:cubicBezTo>
                <a:close/>
                <a:moveTo>
                  <a:pt x="201324" y="116898"/>
                </a:moveTo>
                <a:cubicBezTo>
                  <a:pt x="204896" y="116898"/>
                  <a:pt x="207818" y="119820"/>
                  <a:pt x="207818" y="123392"/>
                </a:cubicBezTo>
                <a:lnTo>
                  <a:pt x="207818" y="136381"/>
                </a:lnTo>
                <a:cubicBezTo>
                  <a:pt x="207818" y="139953"/>
                  <a:pt x="204896" y="142875"/>
                  <a:pt x="201324" y="142875"/>
                </a:cubicBezTo>
                <a:lnTo>
                  <a:pt x="188335" y="142875"/>
                </a:lnTo>
                <a:cubicBezTo>
                  <a:pt x="184763" y="142875"/>
                  <a:pt x="181841" y="139953"/>
                  <a:pt x="181841" y="136381"/>
                </a:cubicBezTo>
                <a:lnTo>
                  <a:pt x="181841" y="123392"/>
                </a:lnTo>
                <a:cubicBezTo>
                  <a:pt x="181841" y="119820"/>
                  <a:pt x="184763" y="116898"/>
                  <a:pt x="188335" y="116898"/>
                </a:cubicBezTo>
                <a:lnTo>
                  <a:pt x="201324" y="116898"/>
                </a:lnTo>
                <a:close/>
                <a:moveTo>
                  <a:pt x="103909" y="123392"/>
                </a:moveTo>
                <a:lnTo>
                  <a:pt x="103909" y="136381"/>
                </a:lnTo>
                <a:cubicBezTo>
                  <a:pt x="103909" y="139953"/>
                  <a:pt x="100987" y="142875"/>
                  <a:pt x="97415" y="142875"/>
                </a:cubicBezTo>
                <a:lnTo>
                  <a:pt x="84426" y="142875"/>
                </a:lnTo>
                <a:cubicBezTo>
                  <a:pt x="80854" y="142875"/>
                  <a:pt x="77932" y="139953"/>
                  <a:pt x="77932" y="136381"/>
                </a:cubicBezTo>
                <a:lnTo>
                  <a:pt x="77932" y="123392"/>
                </a:lnTo>
                <a:cubicBezTo>
                  <a:pt x="77932" y="119820"/>
                  <a:pt x="80854" y="116898"/>
                  <a:pt x="84426" y="116898"/>
                </a:cubicBezTo>
                <a:lnTo>
                  <a:pt x="97415" y="116898"/>
                </a:lnTo>
                <a:cubicBezTo>
                  <a:pt x="100987" y="116898"/>
                  <a:pt x="103909" y="119820"/>
                  <a:pt x="103909" y="123392"/>
                </a:cubicBezTo>
                <a:close/>
                <a:moveTo>
                  <a:pt x="97415" y="77932"/>
                </a:moveTo>
                <a:cubicBezTo>
                  <a:pt x="100987" y="77932"/>
                  <a:pt x="103909" y="80854"/>
                  <a:pt x="103909" y="84426"/>
                </a:cubicBezTo>
                <a:lnTo>
                  <a:pt x="103909" y="97415"/>
                </a:lnTo>
                <a:cubicBezTo>
                  <a:pt x="103909" y="100987"/>
                  <a:pt x="100987" y="103909"/>
                  <a:pt x="97415" y="103909"/>
                </a:cubicBezTo>
                <a:lnTo>
                  <a:pt x="84426" y="103909"/>
                </a:lnTo>
                <a:cubicBezTo>
                  <a:pt x="80854" y="103909"/>
                  <a:pt x="77932" y="100987"/>
                  <a:pt x="77932" y="97415"/>
                </a:cubicBezTo>
                <a:lnTo>
                  <a:pt x="77932" y="84426"/>
                </a:lnTo>
                <a:cubicBezTo>
                  <a:pt x="77932" y="80854"/>
                  <a:pt x="80854" y="77932"/>
                  <a:pt x="84426" y="77932"/>
                </a:cubicBezTo>
                <a:lnTo>
                  <a:pt x="97415" y="77932"/>
                </a:lnTo>
                <a:close/>
                <a:moveTo>
                  <a:pt x="51955" y="123392"/>
                </a:moveTo>
                <a:lnTo>
                  <a:pt x="51955" y="136381"/>
                </a:lnTo>
                <a:cubicBezTo>
                  <a:pt x="51955" y="139953"/>
                  <a:pt x="49032" y="142875"/>
                  <a:pt x="45460" y="142875"/>
                </a:cubicBezTo>
                <a:lnTo>
                  <a:pt x="32472" y="142875"/>
                </a:lnTo>
                <a:cubicBezTo>
                  <a:pt x="28900" y="142875"/>
                  <a:pt x="25977" y="139953"/>
                  <a:pt x="25977" y="136381"/>
                </a:cubicBezTo>
                <a:lnTo>
                  <a:pt x="25977" y="123392"/>
                </a:lnTo>
                <a:cubicBezTo>
                  <a:pt x="25977" y="119820"/>
                  <a:pt x="28900" y="116898"/>
                  <a:pt x="32472" y="116898"/>
                </a:cubicBezTo>
                <a:lnTo>
                  <a:pt x="45460" y="116898"/>
                </a:lnTo>
                <a:cubicBezTo>
                  <a:pt x="49032" y="116898"/>
                  <a:pt x="51955" y="119820"/>
                  <a:pt x="51955" y="123392"/>
                </a:cubicBezTo>
                <a:close/>
                <a:moveTo>
                  <a:pt x="45460" y="77932"/>
                </a:moveTo>
                <a:cubicBezTo>
                  <a:pt x="49032" y="77932"/>
                  <a:pt x="51955" y="80854"/>
                  <a:pt x="51955" y="84426"/>
                </a:cubicBezTo>
                <a:lnTo>
                  <a:pt x="51955" y="97415"/>
                </a:lnTo>
                <a:cubicBezTo>
                  <a:pt x="51955" y="100987"/>
                  <a:pt x="49032" y="103909"/>
                  <a:pt x="45460" y="103909"/>
                </a:cubicBezTo>
                <a:lnTo>
                  <a:pt x="32472" y="103909"/>
                </a:lnTo>
                <a:cubicBezTo>
                  <a:pt x="28900" y="103909"/>
                  <a:pt x="25977" y="100987"/>
                  <a:pt x="25977" y="97415"/>
                </a:cubicBezTo>
                <a:lnTo>
                  <a:pt x="25977" y="84426"/>
                </a:lnTo>
                <a:cubicBezTo>
                  <a:pt x="25977" y="80854"/>
                  <a:pt x="28900" y="77932"/>
                  <a:pt x="32472" y="77932"/>
                </a:cubicBezTo>
                <a:lnTo>
                  <a:pt x="45460" y="7793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020791" y="4499264"/>
            <a:ext cx="2156114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Non-Attainment Cities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97336" y="5053446"/>
            <a:ext cx="5299364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 where </a:t>
            </a:r>
            <a:r>
              <a:rPr lang="en-US" sz="109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consistently breaches the 100-mark</a:t>
            </a: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(Satisfactory limit) are classified as Non-Attainment Cities requiring prioritized intervention.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0800" y="5645728"/>
            <a:ext cx="5228359" cy="994064"/>
          </a:xfrm>
          <a:custGeom>
            <a:avLst/>
            <a:gdLst/>
            <a:ahLst/>
            <a:cxnLst/>
            <a:rect l="l" t="t" r="r" b="b"/>
            <a:pathLst>
              <a:path w="5228359" h="994064">
                <a:moveTo>
                  <a:pt x="69276" y="0"/>
                </a:moveTo>
                <a:lnTo>
                  <a:pt x="5159083" y="0"/>
                </a:lnTo>
                <a:cubicBezTo>
                  <a:pt x="5197343" y="0"/>
                  <a:pt x="5228359" y="31016"/>
                  <a:pt x="5228359" y="69276"/>
                </a:cubicBezTo>
                <a:lnTo>
                  <a:pt x="5228359" y="924787"/>
                </a:lnTo>
                <a:cubicBezTo>
                  <a:pt x="5228359" y="963048"/>
                  <a:pt x="5197343" y="994064"/>
                  <a:pt x="5159083" y="994064"/>
                </a:cubicBezTo>
                <a:lnTo>
                  <a:pt x="69276" y="994064"/>
                </a:lnTo>
                <a:cubicBezTo>
                  <a:pt x="31016" y="994064"/>
                  <a:pt x="0" y="963048"/>
                  <a:pt x="0" y="924787"/>
                </a:cubicBezTo>
                <a:lnTo>
                  <a:pt x="0" y="69276"/>
                </a:lnTo>
                <a:cubicBezTo>
                  <a:pt x="0" y="31042"/>
                  <a:pt x="31042" y="0"/>
                  <a:pt x="692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542809" y="5839692"/>
            <a:ext cx="142009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Threshold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72833" y="5787738"/>
            <a:ext cx="1238250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≤ 100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42809" y="6168738"/>
            <a:ext cx="4944341" cy="86591"/>
          </a:xfrm>
          <a:custGeom>
            <a:avLst/>
            <a:gdLst/>
            <a:ahLst/>
            <a:cxnLst/>
            <a:rect l="l" t="t" r="r" b="b"/>
            <a:pathLst>
              <a:path w="4944341" h="86591">
                <a:moveTo>
                  <a:pt x="43295" y="0"/>
                </a:moveTo>
                <a:lnTo>
                  <a:pt x="4901045" y="0"/>
                </a:lnTo>
                <a:cubicBezTo>
                  <a:pt x="4924957" y="0"/>
                  <a:pt x="4944341" y="19384"/>
                  <a:pt x="4944341" y="43295"/>
                </a:cubicBezTo>
                <a:lnTo>
                  <a:pt x="4944341" y="43295"/>
                </a:lnTo>
                <a:cubicBezTo>
                  <a:pt x="4944341" y="67207"/>
                  <a:pt x="4924957" y="86591"/>
                  <a:pt x="4901045" y="86591"/>
                </a:cubicBezTo>
                <a:lnTo>
                  <a:pt x="43295" y="86591"/>
                </a:lnTo>
                <a:cubicBezTo>
                  <a:pt x="19400" y="86591"/>
                  <a:pt x="0" y="67191"/>
                  <a:pt x="0" y="43295"/>
                </a:cubicBezTo>
                <a:lnTo>
                  <a:pt x="0" y="43295"/>
                </a:lnTo>
                <a:cubicBezTo>
                  <a:pt x="0" y="19400"/>
                  <a:pt x="19400" y="0"/>
                  <a:pt x="432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542809" y="6168738"/>
            <a:ext cx="4944341" cy="86591"/>
          </a:xfrm>
          <a:custGeom>
            <a:avLst/>
            <a:gdLst/>
            <a:ahLst/>
            <a:cxnLst/>
            <a:rect l="l" t="t" r="r" b="b"/>
            <a:pathLst>
              <a:path w="4944341" h="86591">
                <a:moveTo>
                  <a:pt x="43295" y="0"/>
                </a:moveTo>
                <a:lnTo>
                  <a:pt x="4901045" y="0"/>
                </a:lnTo>
                <a:cubicBezTo>
                  <a:pt x="4924957" y="0"/>
                  <a:pt x="4944341" y="19384"/>
                  <a:pt x="4944341" y="43295"/>
                </a:cubicBezTo>
                <a:lnTo>
                  <a:pt x="4944341" y="43295"/>
                </a:lnTo>
                <a:cubicBezTo>
                  <a:pt x="4944341" y="67207"/>
                  <a:pt x="4924957" y="86591"/>
                  <a:pt x="4901045" y="86591"/>
                </a:cubicBezTo>
                <a:lnTo>
                  <a:pt x="43295" y="86591"/>
                </a:lnTo>
                <a:cubicBezTo>
                  <a:pt x="19400" y="86591"/>
                  <a:pt x="0" y="67191"/>
                  <a:pt x="0" y="43295"/>
                </a:cubicBezTo>
                <a:lnTo>
                  <a:pt x="0" y="43295"/>
                </a:lnTo>
                <a:cubicBezTo>
                  <a:pt x="0" y="19400"/>
                  <a:pt x="19400" y="0"/>
                  <a:pt x="43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/>
              </a:gs>
              <a:gs pos="100000">
                <a:srgbClr val="FF0000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542809" y="6324601"/>
            <a:ext cx="50049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 exceeding this limit require action plans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460" y="339460"/>
            <a:ext cx="1804853" cy="309211"/>
          </a:xfrm>
          <a:custGeom>
            <a:avLst/>
            <a:gdLst/>
            <a:ahLst/>
            <a:cxnLst/>
            <a:rect l="l" t="t" r="r" b="b"/>
            <a:pathLst>
              <a:path w="1804853" h="309211">
                <a:moveTo>
                  <a:pt x="154606" y="0"/>
                </a:moveTo>
                <a:lnTo>
                  <a:pt x="1650247" y="0"/>
                </a:lnTo>
                <a:cubicBezTo>
                  <a:pt x="1735576" y="0"/>
                  <a:pt x="1804853" y="69276"/>
                  <a:pt x="1804853" y="154606"/>
                </a:cubicBezTo>
                <a:lnTo>
                  <a:pt x="1804853" y="154606"/>
                </a:lnTo>
                <a:cubicBezTo>
                  <a:pt x="1804853" y="239935"/>
                  <a:pt x="1735576" y="309211"/>
                  <a:pt x="1650247" y="309211"/>
                </a:cubicBezTo>
                <a:lnTo>
                  <a:pt x="154606" y="309211"/>
                </a:lnTo>
                <a:cubicBezTo>
                  <a:pt x="69276" y="309211"/>
                  <a:pt x="0" y="239935"/>
                  <a:pt x="0" y="154606"/>
                </a:cubicBezTo>
                <a:lnTo>
                  <a:pt x="0" y="154606"/>
                </a:lnTo>
                <a:cubicBezTo>
                  <a:pt x="0" y="69276"/>
                  <a:pt x="69276" y="0"/>
                  <a:pt x="154606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77261" y="433569"/>
            <a:ext cx="1585548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kern="0" spc="46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45983" y="489865"/>
            <a:ext cx="9604036" cy="8402"/>
          </a:xfrm>
          <a:custGeom>
            <a:avLst/>
            <a:gdLst/>
            <a:ahLst/>
            <a:cxnLst/>
            <a:rect l="l" t="t" r="r" b="b"/>
            <a:pathLst>
              <a:path w="9604036" h="8402">
                <a:moveTo>
                  <a:pt x="0" y="0"/>
                </a:moveTo>
                <a:lnTo>
                  <a:pt x="9604036" y="0"/>
                </a:lnTo>
                <a:lnTo>
                  <a:pt x="9604036" y="8402"/>
                </a:lnTo>
                <a:lnTo>
                  <a:pt x="0" y="840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6099" y="752863"/>
            <a:ext cx="11721461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Architecture &amp;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6099" y="1223402"/>
            <a:ext cx="1160382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Four-pillar analytical framework for comprehensive environmental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460" y="1630082"/>
            <a:ext cx="5669994" cy="1838463"/>
          </a:xfrm>
          <a:custGeom>
            <a:avLst/>
            <a:gdLst/>
            <a:ahLst/>
            <a:cxnLst/>
            <a:rect l="l" t="t" r="r" b="b"/>
            <a:pathLst>
              <a:path w="5669994" h="1838463">
                <a:moveTo>
                  <a:pt x="100821" y="0"/>
                </a:moveTo>
                <a:lnTo>
                  <a:pt x="5569173" y="0"/>
                </a:lnTo>
                <a:cubicBezTo>
                  <a:pt x="5624855" y="0"/>
                  <a:pt x="5669994" y="45139"/>
                  <a:pt x="5669994" y="100821"/>
                </a:cubicBezTo>
                <a:lnTo>
                  <a:pt x="5669994" y="1737642"/>
                </a:lnTo>
                <a:cubicBezTo>
                  <a:pt x="5669994" y="1793324"/>
                  <a:pt x="5624855" y="1838463"/>
                  <a:pt x="5569173" y="1838463"/>
                </a:cubicBezTo>
                <a:lnTo>
                  <a:pt x="100821" y="1838463"/>
                </a:lnTo>
                <a:cubicBezTo>
                  <a:pt x="45139" y="1838463"/>
                  <a:pt x="0" y="1793324"/>
                  <a:pt x="0" y="1737642"/>
                </a:cubicBezTo>
                <a:lnTo>
                  <a:pt x="0" y="100821"/>
                </a:lnTo>
                <a:cubicBezTo>
                  <a:pt x="0" y="45177"/>
                  <a:pt x="45177" y="0"/>
                  <a:pt x="1008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47842" y="1838462"/>
            <a:ext cx="460456" cy="460456"/>
          </a:xfrm>
          <a:custGeom>
            <a:avLst/>
            <a:gdLst/>
            <a:ahLst/>
            <a:cxnLst/>
            <a:rect l="l" t="t" r="r" b="b"/>
            <a:pathLst>
              <a:path w="460456" h="460456">
                <a:moveTo>
                  <a:pt x="100831" y="0"/>
                </a:moveTo>
                <a:lnTo>
                  <a:pt x="359625" y="0"/>
                </a:lnTo>
                <a:cubicBezTo>
                  <a:pt x="415275" y="0"/>
                  <a:pt x="460456" y="45181"/>
                  <a:pt x="460456" y="100831"/>
                </a:cubicBezTo>
                <a:lnTo>
                  <a:pt x="460456" y="359625"/>
                </a:lnTo>
                <a:cubicBezTo>
                  <a:pt x="460456" y="415275"/>
                  <a:pt x="415275" y="460456"/>
                  <a:pt x="359625" y="460456"/>
                </a:cubicBezTo>
                <a:lnTo>
                  <a:pt x="100831" y="460456"/>
                </a:lnTo>
                <a:cubicBezTo>
                  <a:pt x="45181" y="460456"/>
                  <a:pt x="0" y="415275"/>
                  <a:pt x="0" y="359625"/>
                </a:cubicBezTo>
                <a:lnTo>
                  <a:pt x="0" y="100831"/>
                </a:lnTo>
                <a:cubicBezTo>
                  <a:pt x="0" y="45181"/>
                  <a:pt x="45181" y="0"/>
                  <a:pt x="1008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8882" y="1919126"/>
            <a:ext cx="386514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9459" y="1835101"/>
            <a:ext cx="198298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Mapping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9459" y="2103878"/>
            <a:ext cx="194937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Distribution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481" y="2440080"/>
            <a:ext cx="5327173" cy="48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GIS-based Proportional Symbol Maps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visualize pollution concentration across urban geography. Circle size represents pollutant levels; color intensity indicates severity.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481" y="3076990"/>
            <a:ext cx="210062" cy="168050"/>
          </a:xfrm>
          <a:custGeom>
            <a:avLst/>
            <a:gdLst/>
            <a:ahLst/>
            <a:cxnLst/>
            <a:rect l="l" t="t" r="r" b="b"/>
            <a:pathLst>
              <a:path w="210062" h="168050">
                <a:moveTo>
                  <a:pt x="189056" y="15755"/>
                </a:moveTo>
                <a:cubicBezTo>
                  <a:pt x="189056" y="12111"/>
                  <a:pt x="187185" y="8731"/>
                  <a:pt x="184067" y="6827"/>
                </a:cubicBezTo>
                <a:cubicBezTo>
                  <a:pt x="180949" y="4923"/>
                  <a:pt x="177109" y="4726"/>
                  <a:pt x="173859" y="6368"/>
                </a:cubicBezTo>
                <a:lnTo>
                  <a:pt x="135720" y="25437"/>
                </a:lnTo>
                <a:lnTo>
                  <a:pt x="76837" y="5777"/>
                </a:lnTo>
                <a:cubicBezTo>
                  <a:pt x="74178" y="4891"/>
                  <a:pt x="71323" y="5087"/>
                  <a:pt x="68828" y="6335"/>
                </a:cubicBezTo>
                <a:lnTo>
                  <a:pt x="26816" y="27341"/>
                </a:lnTo>
                <a:cubicBezTo>
                  <a:pt x="23238" y="29146"/>
                  <a:pt x="21006" y="32789"/>
                  <a:pt x="21006" y="36761"/>
                </a:cubicBezTo>
                <a:lnTo>
                  <a:pt x="21006" y="152295"/>
                </a:lnTo>
                <a:cubicBezTo>
                  <a:pt x="21006" y="155938"/>
                  <a:pt x="22877" y="159319"/>
                  <a:pt x="25995" y="161223"/>
                </a:cubicBezTo>
                <a:cubicBezTo>
                  <a:pt x="29113" y="163126"/>
                  <a:pt x="32953" y="163323"/>
                  <a:pt x="36203" y="161682"/>
                </a:cubicBezTo>
                <a:lnTo>
                  <a:pt x="74309" y="142612"/>
                </a:lnTo>
                <a:lnTo>
                  <a:pt x="131190" y="161584"/>
                </a:lnTo>
                <a:cubicBezTo>
                  <a:pt x="129779" y="159483"/>
                  <a:pt x="128400" y="157284"/>
                  <a:pt x="127055" y="155052"/>
                </a:cubicBezTo>
                <a:cubicBezTo>
                  <a:pt x="123444" y="149046"/>
                  <a:pt x="119867" y="142153"/>
                  <a:pt x="117208" y="134768"/>
                </a:cubicBezTo>
                <a:lnTo>
                  <a:pt x="83992" y="123707"/>
                </a:lnTo>
                <a:lnTo>
                  <a:pt x="83992" y="30328"/>
                </a:lnTo>
                <a:lnTo>
                  <a:pt x="126004" y="44343"/>
                </a:lnTo>
                <a:lnTo>
                  <a:pt x="126004" y="76935"/>
                </a:lnTo>
                <a:cubicBezTo>
                  <a:pt x="136179" y="65185"/>
                  <a:pt x="151277" y="57767"/>
                  <a:pt x="168017" y="57767"/>
                </a:cubicBezTo>
                <a:cubicBezTo>
                  <a:pt x="175435" y="57767"/>
                  <a:pt x="182524" y="59211"/>
                  <a:pt x="189023" y="61870"/>
                </a:cubicBezTo>
                <a:lnTo>
                  <a:pt x="189056" y="15755"/>
                </a:lnTo>
                <a:close/>
                <a:moveTo>
                  <a:pt x="168050" y="73522"/>
                </a:moveTo>
                <a:cubicBezTo>
                  <a:pt x="146289" y="73522"/>
                  <a:pt x="128663" y="90852"/>
                  <a:pt x="128663" y="112219"/>
                </a:cubicBezTo>
                <a:cubicBezTo>
                  <a:pt x="128663" y="134834"/>
                  <a:pt x="149702" y="161584"/>
                  <a:pt x="161026" y="174351"/>
                </a:cubicBezTo>
                <a:cubicBezTo>
                  <a:pt x="164833" y="178618"/>
                  <a:pt x="171299" y="178618"/>
                  <a:pt x="175106" y="174351"/>
                </a:cubicBezTo>
                <a:cubicBezTo>
                  <a:pt x="186430" y="161584"/>
                  <a:pt x="207469" y="134834"/>
                  <a:pt x="207469" y="112219"/>
                </a:cubicBezTo>
                <a:cubicBezTo>
                  <a:pt x="207469" y="90852"/>
                  <a:pt x="189844" y="73522"/>
                  <a:pt x="168082" y="73522"/>
                </a:cubicBezTo>
                <a:close/>
                <a:moveTo>
                  <a:pt x="154921" y="112908"/>
                </a:moveTo>
                <a:cubicBezTo>
                  <a:pt x="154921" y="105662"/>
                  <a:pt x="160804" y="99779"/>
                  <a:pt x="168050" y="99779"/>
                </a:cubicBezTo>
                <a:cubicBezTo>
                  <a:pt x="175296" y="99779"/>
                  <a:pt x="181178" y="105662"/>
                  <a:pt x="181178" y="112908"/>
                </a:cubicBezTo>
                <a:cubicBezTo>
                  <a:pt x="181178" y="120154"/>
                  <a:pt x="175296" y="126037"/>
                  <a:pt x="168050" y="126037"/>
                </a:cubicBezTo>
                <a:cubicBezTo>
                  <a:pt x="160804" y="126037"/>
                  <a:pt x="154921" y="120154"/>
                  <a:pt x="154921" y="11290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5373" y="3060185"/>
            <a:ext cx="275601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Hotspot identification for targeted intervention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1915" y="1630082"/>
            <a:ext cx="5669994" cy="1838463"/>
          </a:xfrm>
          <a:custGeom>
            <a:avLst/>
            <a:gdLst/>
            <a:ahLst/>
            <a:cxnLst/>
            <a:rect l="l" t="t" r="r" b="b"/>
            <a:pathLst>
              <a:path w="5669994" h="1838463">
                <a:moveTo>
                  <a:pt x="100821" y="0"/>
                </a:moveTo>
                <a:lnTo>
                  <a:pt x="5569173" y="0"/>
                </a:lnTo>
                <a:cubicBezTo>
                  <a:pt x="5624855" y="0"/>
                  <a:pt x="5669994" y="45139"/>
                  <a:pt x="5669994" y="100821"/>
                </a:cubicBezTo>
                <a:lnTo>
                  <a:pt x="5669994" y="1737642"/>
                </a:lnTo>
                <a:cubicBezTo>
                  <a:pt x="5669994" y="1793324"/>
                  <a:pt x="5624855" y="1838463"/>
                  <a:pt x="5569173" y="1838463"/>
                </a:cubicBezTo>
                <a:lnTo>
                  <a:pt x="100821" y="1838463"/>
                </a:lnTo>
                <a:cubicBezTo>
                  <a:pt x="45139" y="1838463"/>
                  <a:pt x="0" y="1793324"/>
                  <a:pt x="0" y="1737642"/>
                </a:cubicBezTo>
                <a:lnTo>
                  <a:pt x="0" y="100821"/>
                </a:lnTo>
                <a:cubicBezTo>
                  <a:pt x="0" y="45177"/>
                  <a:pt x="45177" y="0"/>
                  <a:pt x="1008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90297" y="1838462"/>
            <a:ext cx="460456" cy="460456"/>
          </a:xfrm>
          <a:custGeom>
            <a:avLst/>
            <a:gdLst/>
            <a:ahLst/>
            <a:cxnLst/>
            <a:rect l="l" t="t" r="r" b="b"/>
            <a:pathLst>
              <a:path w="460456" h="460456">
                <a:moveTo>
                  <a:pt x="100831" y="0"/>
                </a:moveTo>
                <a:lnTo>
                  <a:pt x="359625" y="0"/>
                </a:lnTo>
                <a:cubicBezTo>
                  <a:pt x="415275" y="0"/>
                  <a:pt x="460456" y="45181"/>
                  <a:pt x="460456" y="100831"/>
                </a:cubicBezTo>
                <a:lnTo>
                  <a:pt x="460456" y="359625"/>
                </a:lnTo>
                <a:cubicBezTo>
                  <a:pt x="460456" y="415275"/>
                  <a:pt x="415275" y="460456"/>
                  <a:pt x="359625" y="460456"/>
                </a:cubicBezTo>
                <a:lnTo>
                  <a:pt x="100831" y="460456"/>
                </a:lnTo>
                <a:cubicBezTo>
                  <a:pt x="45181" y="460456"/>
                  <a:pt x="0" y="415275"/>
                  <a:pt x="0" y="359625"/>
                </a:cubicBezTo>
                <a:lnTo>
                  <a:pt x="0" y="100831"/>
                </a:lnTo>
                <a:cubicBezTo>
                  <a:pt x="0" y="45181"/>
                  <a:pt x="45181" y="0"/>
                  <a:pt x="1008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68545" y="1919126"/>
            <a:ext cx="43692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1915" y="1835101"/>
            <a:ext cx="163008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Causal Linkage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1915" y="2103878"/>
            <a:ext cx="159647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Impact Assessment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6936" y="2440080"/>
            <a:ext cx="5327173" cy="48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Bar Charts</a:t>
            </a: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directly contrast pollutant levels during Peak vs. Non-Peak traffic scenarios, quantifying congestion's environmental cost.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7942" y="3076990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0503" y="10503"/>
                </a:moveTo>
                <a:cubicBezTo>
                  <a:pt x="16313" y="10503"/>
                  <a:pt x="21006" y="15197"/>
                  <a:pt x="21006" y="21006"/>
                </a:cubicBezTo>
                <a:lnTo>
                  <a:pt x="21006" y="131289"/>
                </a:lnTo>
                <a:cubicBezTo>
                  <a:pt x="21006" y="134177"/>
                  <a:pt x="23369" y="136540"/>
                  <a:pt x="26258" y="136540"/>
                </a:cubicBezTo>
                <a:lnTo>
                  <a:pt x="157547" y="136540"/>
                </a:lnTo>
                <a:cubicBezTo>
                  <a:pt x="163356" y="136540"/>
                  <a:pt x="168050" y="141234"/>
                  <a:pt x="168050" y="147043"/>
                </a:cubicBezTo>
                <a:cubicBezTo>
                  <a:pt x="168050" y="152853"/>
                  <a:pt x="163356" y="157547"/>
                  <a:pt x="157547" y="157547"/>
                </a:cubicBezTo>
                <a:lnTo>
                  <a:pt x="26258" y="157547"/>
                </a:lnTo>
                <a:cubicBezTo>
                  <a:pt x="11750" y="157547"/>
                  <a:pt x="0" y="145796"/>
                  <a:pt x="0" y="131289"/>
                </a:cubicBezTo>
                <a:lnTo>
                  <a:pt x="0" y="21006"/>
                </a:lnTo>
                <a:cubicBezTo>
                  <a:pt x="0" y="15197"/>
                  <a:pt x="4694" y="10503"/>
                  <a:pt x="10503" y="10503"/>
                </a:cubicBezTo>
                <a:close/>
                <a:moveTo>
                  <a:pt x="42012" y="31509"/>
                </a:moveTo>
                <a:cubicBezTo>
                  <a:pt x="42012" y="25700"/>
                  <a:pt x="46706" y="21006"/>
                  <a:pt x="52516" y="21006"/>
                </a:cubicBezTo>
                <a:lnTo>
                  <a:pt x="115534" y="21006"/>
                </a:lnTo>
                <a:cubicBezTo>
                  <a:pt x="121344" y="21006"/>
                  <a:pt x="126037" y="25700"/>
                  <a:pt x="126037" y="31509"/>
                </a:cubicBezTo>
                <a:cubicBezTo>
                  <a:pt x="126037" y="37319"/>
                  <a:pt x="121344" y="42012"/>
                  <a:pt x="115534" y="42012"/>
                </a:cubicBezTo>
                <a:lnTo>
                  <a:pt x="52516" y="42012"/>
                </a:lnTo>
                <a:cubicBezTo>
                  <a:pt x="46706" y="42012"/>
                  <a:pt x="42012" y="37319"/>
                  <a:pt x="42012" y="31509"/>
                </a:cubicBezTo>
                <a:close/>
                <a:moveTo>
                  <a:pt x="52516" y="57767"/>
                </a:moveTo>
                <a:lnTo>
                  <a:pt x="94528" y="57767"/>
                </a:lnTo>
                <a:cubicBezTo>
                  <a:pt x="100337" y="57767"/>
                  <a:pt x="105031" y="62461"/>
                  <a:pt x="105031" y="68270"/>
                </a:cubicBezTo>
                <a:cubicBezTo>
                  <a:pt x="105031" y="74080"/>
                  <a:pt x="100337" y="78773"/>
                  <a:pt x="94528" y="78773"/>
                </a:cubicBezTo>
                <a:lnTo>
                  <a:pt x="52516" y="78773"/>
                </a:lnTo>
                <a:cubicBezTo>
                  <a:pt x="46706" y="78773"/>
                  <a:pt x="42012" y="74080"/>
                  <a:pt x="42012" y="68270"/>
                </a:cubicBezTo>
                <a:cubicBezTo>
                  <a:pt x="42012" y="62461"/>
                  <a:pt x="46706" y="57767"/>
                  <a:pt x="52516" y="57767"/>
                </a:cubicBezTo>
                <a:close/>
                <a:moveTo>
                  <a:pt x="52516" y="94528"/>
                </a:moveTo>
                <a:lnTo>
                  <a:pt x="136540" y="94528"/>
                </a:lnTo>
                <a:cubicBezTo>
                  <a:pt x="142350" y="94528"/>
                  <a:pt x="147043" y="99221"/>
                  <a:pt x="147043" y="105031"/>
                </a:cubicBezTo>
                <a:cubicBezTo>
                  <a:pt x="147043" y="110841"/>
                  <a:pt x="142350" y="115534"/>
                  <a:pt x="136540" y="115534"/>
                </a:cubicBezTo>
                <a:lnTo>
                  <a:pt x="52516" y="115534"/>
                </a:lnTo>
                <a:cubicBezTo>
                  <a:pt x="46706" y="115534"/>
                  <a:pt x="42012" y="110841"/>
                  <a:pt x="42012" y="105031"/>
                </a:cubicBezTo>
                <a:cubicBezTo>
                  <a:pt x="42012" y="99221"/>
                  <a:pt x="46706" y="94528"/>
                  <a:pt x="52516" y="9452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97828" y="3060185"/>
            <a:ext cx="245352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 traffic's contribution to pollution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9460" y="3641635"/>
            <a:ext cx="5669994" cy="1838463"/>
          </a:xfrm>
          <a:custGeom>
            <a:avLst/>
            <a:gdLst/>
            <a:ahLst/>
            <a:cxnLst/>
            <a:rect l="l" t="t" r="r" b="b"/>
            <a:pathLst>
              <a:path w="5669994" h="1838463">
                <a:moveTo>
                  <a:pt x="100821" y="0"/>
                </a:moveTo>
                <a:lnTo>
                  <a:pt x="5569173" y="0"/>
                </a:lnTo>
                <a:cubicBezTo>
                  <a:pt x="5624855" y="0"/>
                  <a:pt x="5669994" y="45139"/>
                  <a:pt x="5669994" y="100821"/>
                </a:cubicBezTo>
                <a:lnTo>
                  <a:pt x="5669994" y="1737642"/>
                </a:lnTo>
                <a:cubicBezTo>
                  <a:pt x="5669994" y="1793324"/>
                  <a:pt x="5624855" y="1838463"/>
                  <a:pt x="5569173" y="1838463"/>
                </a:cubicBezTo>
                <a:lnTo>
                  <a:pt x="100821" y="1838463"/>
                </a:lnTo>
                <a:cubicBezTo>
                  <a:pt x="45139" y="1838463"/>
                  <a:pt x="0" y="1793324"/>
                  <a:pt x="0" y="1737642"/>
                </a:cubicBezTo>
                <a:lnTo>
                  <a:pt x="0" y="100821"/>
                </a:lnTo>
                <a:cubicBezTo>
                  <a:pt x="0" y="45177"/>
                  <a:pt x="45177" y="0"/>
                  <a:pt x="1008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7842" y="3850019"/>
            <a:ext cx="460456" cy="460456"/>
          </a:xfrm>
          <a:custGeom>
            <a:avLst/>
            <a:gdLst/>
            <a:ahLst/>
            <a:cxnLst/>
            <a:rect l="l" t="t" r="r" b="b"/>
            <a:pathLst>
              <a:path w="460456" h="460456">
                <a:moveTo>
                  <a:pt x="100831" y="0"/>
                </a:moveTo>
                <a:lnTo>
                  <a:pt x="359625" y="0"/>
                </a:lnTo>
                <a:cubicBezTo>
                  <a:pt x="415275" y="0"/>
                  <a:pt x="460456" y="45181"/>
                  <a:pt x="460456" y="100831"/>
                </a:cubicBezTo>
                <a:lnTo>
                  <a:pt x="460456" y="359625"/>
                </a:lnTo>
                <a:cubicBezTo>
                  <a:pt x="460456" y="415275"/>
                  <a:pt x="415275" y="460456"/>
                  <a:pt x="359625" y="460456"/>
                </a:cubicBezTo>
                <a:lnTo>
                  <a:pt x="100831" y="460456"/>
                </a:lnTo>
                <a:cubicBezTo>
                  <a:pt x="45181" y="460456"/>
                  <a:pt x="0" y="415275"/>
                  <a:pt x="0" y="359625"/>
                </a:cubicBezTo>
                <a:lnTo>
                  <a:pt x="0" y="100831"/>
                </a:lnTo>
                <a:cubicBezTo>
                  <a:pt x="0" y="45181"/>
                  <a:pt x="45181" y="0"/>
                  <a:pt x="1008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4935" y="3930683"/>
            <a:ext cx="43692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9459" y="3846658"/>
            <a:ext cx="211742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Chemical Composition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9459" y="4115431"/>
            <a:ext cx="208381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Pollutant Source Identification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481" y="4451637"/>
            <a:ext cx="5327173" cy="48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Multi-pollutant breakdown</a:t>
            </a: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reveals specific industrial vs. vehicular markers. NO₂/CO patterns indicate traffic; SO₂ suggests industrial sources.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5990" y="5088543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94528" y="0"/>
                </a:moveTo>
                <a:lnTo>
                  <a:pt x="42012" y="0"/>
                </a:lnTo>
                <a:cubicBezTo>
                  <a:pt x="36203" y="0"/>
                  <a:pt x="31509" y="4694"/>
                  <a:pt x="31509" y="10503"/>
                </a:cubicBezTo>
                <a:cubicBezTo>
                  <a:pt x="31509" y="16313"/>
                  <a:pt x="36203" y="21006"/>
                  <a:pt x="42012" y="21006"/>
                </a:cubicBezTo>
                <a:lnTo>
                  <a:pt x="42012" y="70732"/>
                </a:lnTo>
                <a:lnTo>
                  <a:pt x="2462" y="139921"/>
                </a:lnTo>
                <a:cubicBezTo>
                  <a:pt x="853" y="142777"/>
                  <a:pt x="0" y="145960"/>
                  <a:pt x="0" y="149243"/>
                </a:cubicBezTo>
                <a:cubicBezTo>
                  <a:pt x="0" y="159647"/>
                  <a:pt x="8402" y="168050"/>
                  <a:pt x="18807" y="168050"/>
                </a:cubicBezTo>
                <a:lnTo>
                  <a:pt x="128236" y="168050"/>
                </a:lnTo>
                <a:cubicBezTo>
                  <a:pt x="138608" y="168050"/>
                  <a:pt x="147043" y="159647"/>
                  <a:pt x="147043" y="149243"/>
                </a:cubicBezTo>
                <a:cubicBezTo>
                  <a:pt x="147043" y="145960"/>
                  <a:pt x="146190" y="142744"/>
                  <a:pt x="144582" y="139921"/>
                </a:cubicBezTo>
                <a:lnTo>
                  <a:pt x="105031" y="70732"/>
                </a:lnTo>
                <a:lnTo>
                  <a:pt x="105031" y="21006"/>
                </a:lnTo>
                <a:cubicBezTo>
                  <a:pt x="110841" y="21006"/>
                  <a:pt x="115534" y="16313"/>
                  <a:pt x="115534" y="10503"/>
                </a:cubicBezTo>
                <a:cubicBezTo>
                  <a:pt x="115534" y="4694"/>
                  <a:pt x="110841" y="0"/>
                  <a:pt x="105031" y="0"/>
                </a:cubicBezTo>
                <a:lnTo>
                  <a:pt x="94528" y="0"/>
                </a:lnTo>
                <a:close/>
                <a:moveTo>
                  <a:pt x="63019" y="70732"/>
                </a:moveTo>
                <a:lnTo>
                  <a:pt x="63019" y="21006"/>
                </a:lnTo>
                <a:lnTo>
                  <a:pt x="84025" y="21006"/>
                </a:lnTo>
                <a:lnTo>
                  <a:pt x="84025" y="70732"/>
                </a:lnTo>
                <a:cubicBezTo>
                  <a:pt x="84025" y="74375"/>
                  <a:pt x="84977" y="77986"/>
                  <a:pt x="86782" y="81169"/>
                </a:cubicBezTo>
                <a:lnTo>
                  <a:pt x="100436" y="105031"/>
                </a:lnTo>
                <a:lnTo>
                  <a:pt x="46608" y="105031"/>
                </a:lnTo>
                <a:lnTo>
                  <a:pt x="60262" y="81169"/>
                </a:lnTo>
                <a:cubicBezTo>
                  <a:pt x="62067" y="77986"/>
                  <a:pt x="63019" y="74408"/>
                  <a:pt x="63019" y="7073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55373" y="5071738"/>
            <a:ext cx="303329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Distinguish emission sources by chemical signature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1915" y="3641635"/>
            <a:ext cx="5669994" cy="1838463"/>
          </a:xfrm>
          <a:custGeom>
            <a:avLst/>
            <a:gdLst/>
            <a:ahLst/>
            <a:cxnLst/>
            <a:rect l="l" t="t" r="r" b="b"/>
            <a:pathLst>
              <a:path w="5669994" h="1838463">
                <a:moveTo>
                  <a:pt x="100821" y="0"/>
                </a:moveTo>
                <a:lnTo>
                  <a:pt x="5569173" y="0"/>
                </a:lnTo>
                <a:cubicBezTo>
                  <a:pt x="5624855" y="0"/>
                  <a:pt x="5669994" y="45139"/>
                  <a:pt x="5669994" y="100821"/>
                </a:cubicBezTo>
                <a:lnTo>
                  <a:pt x="5669994" y="1737642"/>
                </a:lnTo>
                <a:cubicBezTo>
                  <a:pt x="5669994" y="1793324"/>
                  <a:pt x="5624855" y="1838463"/>
                  <a:pt x="5569173" y="1838463"/>
                </a:cubicBezTo>
                <a:lnTo>
                  <a:pt x="100821" y="1838463"/>
                </a:lnTo>
                <a:cubicBezTo>
                  <a:pt x="45139" y="1838463"/>
                  <a:pt x="0" y="1793324"/>
                  <a:pt x="0" y="1737642"/>
                </a:cubicBezTo>
                <a:lnTo>
                  <a:pt x="0" y="100821"/>
                </a:lnTo>
                <a:cubicBezTo>
                  <a:pt x="0" y="45177"/>
                  <a:pt x="45177" y="0"/>
                  <a:pt x="1008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390297" y="3850019"/>
            <a:ext cx="460456" cy="460456"/>
          </a:xfrm>
          <a:custGeom>
            <a:avLst/>
            <a:gdLst/>
            <a:ahLst/>
            <a:cxnLst/>
            <a:rect l="l" t="t" r="r" b="b"/>
            <a:pathLst>
              <a:path w="460456" h="460456">
                <a:moveTo>
                  <a:pt x="100831" y="0"/>
                </a:moveTo>
                <a:lnTo>
                  <a:pt x="359625" y="0"/>
                </a:lnTo>
                <a:cubicBezTo>
                  <a:pt x="415275" y="0"/>
                  <a:pt x="460456" y="45181"/>
                  <a:pt x="460456" y="100831"/>
                </a:cubicBezTo>
                <a:lnTo>
                  <a:pt x="460456" y="359625"/>
                </a:lnTo>
                <a:cubicBezTo>
                  <a:pt x="460456" y="415275"/>
                  <a:pt x="415275" y="460456"/>
                  <a:pt x="359625" y="460456"/>
                </a:cubicBezTo>
                <a:lnTo>
                  <a:pt x="100831" y="460456"/>
                </a:lnTo>
                <a:cubicBezTo>
                  <a:pt x="45181" y="460456"/>
                  <a:pt x="0" y="415275"/>
                  <a:pt x="0" y="359625"/>
                </a:cubicBezTo>
                <a:lnTo>
                  <a:pt x="0" y="100831"/>
                </a:lnTo>
                <a:cubicBezTo>
                  <a:pt x="0" y="45181"/>
                  <a:pt x="45181" y="0"/>
                  <a:pt x="1008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67495" y="3930683"/>
            <a:ext cx="43692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1915" y="3846658"/>
            <a:ext cx="1756119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Trends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1915" y="4115431"/>
            <a:ext cx="172250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Pattern Analysis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6936" y="4451637"/>
            <a:ext cx="5327173" cy="48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analysis</a:t>
            </a: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seasonal/monthly breach patterns. Winter months typically show PM spikes; diurnal patterns reveal rush-hour peaks.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7942" y="5088543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0"/>
                </a:moveTo>
                <a:cubicBezTo>
                  <a:pt x="130399" y="0"/>
                  <a:pt x="168050" y="37650"/>
                  <a:pt x="168050" y="84025"/>
                </a:cubicBezTo>
                <a:cubicBezTo>
                  <a:pt x="168050" y="130399"/>
                  <a:pt x="130399" y="168050"/>
                  <a:pt x="84025" y="168050"/>
                </a:cubicBezTo>
                <a:cubicBezTo>
                  <a:pt x="37650" y="168050"/>
                  <a:pt x="0" y="130399"/>
                  <a:pt x="0" y="84025"/>
                </a:cubicBezTo>
                <a:cubicBezTo>
                  <a:pt x="0" y="37650"/>
                  <a:pt x="37650" y="0"/>
                  <a:pt x="84025" y="0"/>
                </a:cubicBezTo>
                <a:close/>
                <a:moveTo>
                  <a:pt x="76147" y="39387"/>
                </a:moveTo>
                <a:lnTo>
                  <a:pt x="76147" y="84025"/>
                </a:lnTo>
                <a:cubicBezTo>
                  <a:pt x="76147" y="86651"/>
                  <a:pt x="77460" y="89112"/>
                  <a:pt x="79659" y="90589"/>
                </a:cubicBezTo>
                <a:lnTo>
                  <a:pt x="111169" y="111595"/>
                </a:lnTo>
                <a:cubicBezTo>
                  <a:pt x="114779" y="114024"/>
                  <a:pt x="119670" y="113040"/>
                  <a:pt x="122099" y="109396"/>
                </a:cubicBezTo>
                <a:cubicBezTo>
                  <a:pt x="124527" y="105753"/>
                  <a:pt x="123543" y="100895"/>
                  <a:pt x="119899" y="98467"/>
                </a:cubicBezTo>
                <a:lnTo>
                  <a:pt x="91902" y="79824"/>
                </a:lnTo>
                <a:lnTo>
                  <a:pt x="91902" y="39387"/>
                </a:lnTo>
                <a:cubicBezTo>
                  <a:pt x="91902" y="35021"/>
                  <a:pt x="88390" y="31509"/>
                  <a:pt x="84025" y="31509"/>
                </a:cubicBezTo>
                <a:cubicBezTo>
                  <a:pt x="79659" y="31509"/>
                  <a:pt x="76147" y="35021"/>
                  <a:pt x="76147" y="393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97828" y="5071738"/>
            <a:ext cx="250393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high-risk periods for early warning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9460" y="5653188"/>
            <a:ext cx="11509719" cy="863775"/>
          </a:xfrm>
          <a:custGeom>
            <a:avLst/>
            <a:gdLst/>
            <a:ahLst/>
            <a:cxnLst/>
            <a:rect l="l" t="t" r="r" b="b"/>
            <a:pathLst>
              <a:path w="11509719" h="863775">
                <a:moveTo>
                  <a:pt x="100828" y="0"/>
                </a:moveTo>
                <a:lnTo>
                  <a:pt x="11408890" y="0"/>
                </a:lnTo>
                <a:cubicBezTo>
                  <a:pt x="11464576" y="0"/>
                  <a:pt x="11509719" y="45142"/>
                  <a:pt x="11509719" y="100828"/>
                </a:cubicBezTo>
                <a:lnTo>
                  <a:pt x="11509719" y="762947"/>
                </a:lnTo>
                <a:cubicBezTo>
                  <a:pt x="11509719" y="818633"/>
                  <a:pt x="11464576" y="863775"/>
                  <a:pt x="11408890" y="863775"/>
                </a:cubicBezTo>
                <a:lnTo>
                  <a:pt x="100828" y="863775"/>
                </a:lnTo>
                <a:cubicBezTo>
                  <a:pt x="45142" y="863775"/>
                  <a:pt x="0" y="818633"/>
                  <a:pt x="0" y="762947"/>
                </a:cubicBezTo>
                <a:lnTo>
                  <a:pt x="0" y="100828"/>
                </a:lnTo>
                <a:cubicBezTo>
                  <a:pt x="0" y="45180"/>
                  <a:pt x="45180" y="0"/>
                  <a:pt x="10082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10871" y="5849809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45311" y="5984249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176452" y="100830"/>
                </a:moveTo>
                <a:cubicBezTo>
                  <a:pt x="176452" y="59093"/>
                  <a:pt x="142567" y="25207"/>
                  <a:pt x="100830" y="25207"/>
                </a:cubicBezTo>
                <a:cubicBezTo>
                  <a:pt x="59093" y="25207"/>
                  <a:pt x="25207" y="59093"/>
                  <a:pt x="25207" y="100830"/>
                </a:cubicBezTo>
                <a:cubicBezTo>
                  <a:pt x="25207" y="142567"/>
                  <a:pt x="59093" y="176452"/>
                  <a:pt x="100830" y="176452"/>
                </a:cubicBezTo>
                <a:cubicBezTo>
                  <a:pt x="142567" y="176452"/>
                  <a:pt x="176452" y="142567"/>
                  <a:pt x="176452" y="100830"/>
                </a:cubicBezTo>
                <a:close/>
                <a:moveTo>
                  <a:pt x="0" y="100830"/>
                </a:moveTo>
                <a:cubicBezTo>
                  <a:pt x="0" y="45180"/>
                  <a:pt x="45180" y="0"/>
                  <a:pt x="100830" y="0"/>
                </a:cubicBezTo>
                <a:cubicBezTo>
                  <a:pt x="156479" y="0"/>
                  <a:pt x="201660" y="45180"/>
                  <a:pt x="201660" y="100830"/>
                </a:cubicBezTo>
                <a:cubicBezTo>
                  <a:pt x="201660" y="156479"/>
                  <a:pt x="156479" y="201660"/>
                  <a:pt x="100830" y="201660"/>
                </a:cubicBezTo>
                <a:cubicBezTo>
                  <a:pt x="45180" y="201660"/>
                  <a:pt x="0" y="156479"/>
                  <a:pt x="0" y="100830"/>
                </a:cubicBezTo>
                <a:close/>
                <a:moveTo>
                  <a:pt x="100830" y="132339"/>
                </a:moveTo>
                <a:cubicBezTo>
                  <a:pt x="118220" y="132339"/>
                  <a:pt x="132339" y="118220"/>
                  <a:pt x="132339" y="100830"/>
                </a:cubicBezTo>
                <a:cubicBezTo>
                  <a:pt x="132339" y="83439"/>
                  <a:pt x="118220" y="69320"/>
                  <a:pt x="100830" y="69320"/>
                </a:cubicBezTo>
                <a:cubicBezTo>
                  <a:pt x="83439" y="69320"/>
                  <a:pt x="69320" y="83439"/>
                  <a:pt x="69320" y="100830"/>
                </a:cubicBezTo>
                <a:cubicBezTo>
                  <a:pt x="69320" y="118220"/>
                  <a:pt x="83439" y="132339"/>
                  <a:pt x="100830" y="132339"/>
                </a:cubicBezTo>
                <a:close/>
                <a:moveTo>
                  <a:pt x="100830" y="44113"/>
                </a:moveTo>
                <a:cubicBezTo>
                  <a:pt x="132133" y="44113"/>
                  <a:pt x="157547" y="69527"/>
                  <a:pt x="157547" y="100830"/>
                </a:cubicBezTo>
                <a:cubicBezTo>
                  <a:pt x="157547" y="132133"/>
                  <a:pt x="132133" y="157547"/>
                  <a:pt x="100830" y="157547"/>
                </a:cubicBezTo>
                <a:cubicBezTo>
                  <a:pt x="69527" y="157547"/>
                  <a:pt x="44113" y="132133"/>
                  <a:pt x="44113" y="100830"/>
                </a:cubicBezTo>
                <a:cubicBezTo>
                  <a:pt x="44113" y="69527"/>
                  <a:pt x="69527" y="44113"/>
                  <a:pt x="100830" y="44113"/>
                </a:cubicBezTo>
                <a:close/>
                <a:moveTo>
                  <a:pt x="88226" y="100830"/>
                </a:moveTo>
                <a:cubicBezTo>
                  <a:pt x="88226" y="93874"/>
                  <a:pt x="93874" y="88226"/>
                  <a:pt x="100830" y="88226"/>
                </a:cubicBezTo>
                <a:cubicBezTo>
                  <a:pt x="107786" y="88226"/>
                  <a:pt x="113433" y="93874"/>
                  <a:pt x="113433" y="100830"/>
                </a:cubicBezTo>
                <a:cubicBezTo>
                  <a:pt x="113433" y="107786"/>
                  <a:pt x="107786" y="113433"/>
                  <a:pt x="100830" y="113433"/>
                </a:cubicBezTo>
                <a:cubicBezTo>
                  <a:pt x="93874" y="113433"/>
                  <a:pt x="88226" y="107786"/>
                  <a:pt x="88226" y="10083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115850" y="5824602"/>
            <a:ext cx="1030984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Goal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5850" y="6127091"/>
            <a:ext cx="10293039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sensor data into </a:t>
            </a:r>
            <a:r>
              <a:rPr lang="en-US" sz="105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Insights</a:t>
            </a: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urban planning and public health warnings. Bridge the gap between environmental monitoring and policy implementation.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94F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EC17737-DB77-A6C6-7A66-27BFDB3E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5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999" y="373999"/>
            <a:ext cx="1470076" cy="340672"/>
          </a:xfrm>
          <a:custGeom>
            <a:avLst/>
            <a:gdLst/>
            <a:ahLst/>
            <a:cxnLst/>
            <a:rect l="l" t="t" r="r" b="b"/>
            <a:pathLst>
              <a:path w="1470076" h="340672">
                <a:moveTo>
                  <a:pt x="170336" y="0"/>
                </a:moveTo>
                <a:lnTo>
                  <a:pt x="1299739" y="0"/>
                </a:lnTo>
                <a:cubicBezTo>
                  <a:pt x="1393751" y="0"/>
                  <a:pt x="1470076" y="76325"/>
                  <a:pt x="1470076" y="170336"/>
                </a:cubicBezTo>
                <a:lnTo>
                  <a:pt x="1470076" y="170336"/>
                </a:lnTo>
                <a:cubicBezTo>
                  <a:pt x="1470076" y="264347"/>
                  <a:pt x="1393751" y="340672"/>
                  <a:pt x="1299739" y="340672"/>
                </a:cubicBezTo>
                <a:lnTo>
                  <a:pt x="170336" y="340672"/>
                </a:lnTo>
                <a:cubicBezTo>
                  <a:pt x="76325" y="340672"/>
                  <a:pt x="0" y="264347"/>
                  <a:pt x="0" y="170336"/>
                </a:cubicBezTo>
                <a:lnTo>
                  <a:pt x="0" y="170336"/>
                </a:lnTo>
                <a:cubicBezTo>
                  <a:pt x="0" y="76325"/>
                  <a:pt x="76325" y="0"/>
                  <a:pt x="170336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25820" y="477683"/>
            <a:ext cx="1235169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5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962801" y="539709"/>
            <a:ext cx="9859134" cy="9257"/>
          </a:xfrm>
          <a:custGeom>
            <a:avLst/>
            <a:gdLst/>
            <a:ahLst/>
            <a:cxnLst/>
            <a:rect l="l" t="t" r="r" b="b"/>
            <a:pathLst>
              <a:path w="9859134" h="9257">
                <a:moveTo>
                  <a:pt x="0" y="0"/>
                </a:moveTo>
                <a:lnTo>
                  <a:pt x="9859134" y="0"/>
                </a:lnTo>
                <a:lnTo>
                  <a:pt x="9859134" y="9257"/>
                </a:lnTo>
                <a:lnTo>
                  <a:pt x="0" y="925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70296" y="829464"/>
            <a:ext cx="1167358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Analysis: Pollution Hotspot Mapping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296" y="1347879"/>
            <a:ext cx="1154398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GIS-based Proportional Symbol Map for geographic distribution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8058" y="4493543"/>
            <a:ext cx="4823107" cy="54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14924" y="1795937"/>
            <a:ext cx="3710367" cy="3053092"/>
          </a:xfrm>
          <a:custGeom>
            <a:avLst/>
            <a:gdLst/>
            <a:ahLst/>
            <a:cxnLst/>
            <a:rect l="l" t="t" r="r" b="b"/>
            <a:pathLst>
              <a:path w="3710367" h="3053092">
                <a:moveTo>
                  <a:pt x="111102" y="0"/>
                </a:moveTo>
                <a:lnTo>
                  <a:pt x="3599265" y="0"/>
                </a:lnTo>
                <a:cubicBezTo>
                  <a:pt x="3660625" y="0"/>
                  <a:pt x="3710367" y="49742"/>
                  <a:pt x="3710367" y="111102"/>
                </a:cubicBezTo>
                <a:lnTo>
                  <a:pt x="3710367" y="2941990"/>
                </a:lnTo>
                <a:cubicBezTo>
                  <a:pt x="3710367" y="3003350"/>
                  <a:pt x="3660625" y="3053092"/>
                  <a:pt x="3599265" y="3053092"/>
                </a:cubicBezTo>
                <a:lnTo>
                  <a:pt x="111102" y="3053092"/>
                </a:lnTo>
                <a:cubicBezTo>
                  <a:pt x="49742" y="3053092"/>
                  <a:pt x="0" y="3003350"/>
                  <a:pt x="0" y="2941990"/>
                </a:cubicBezTo>
                <a:lnTo>
                  <a:pt x="0" y="111102"/>
                </a:lnTo>
                <a:cubicBezTo>
                  <a:pt x="0" y="49742"/>
                  <a:pt x="49742" y="0"/>
                  <a:pt x="111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6918" y="2021816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92574" y="185148"/>
                </a:moveTo>
                <a:cubicBezTo>
                  <a:pt x="143667" y="185148"/>
                  <a:pt x="185148" y="143667"/>
                  <a:pt x="185148" y="92574"/>
                </a:cubicBezTo>
                <a:cubicBezTo>
                  <a:pt x="185148" y="41481"/>
                  <a:pt x="143667" y="0"/>
                  <a:pt x="92574" y="0"/>
                </a:cubicBezTo>
                <a:cubicBezTo>
                  <a:pt x="41481" y="0"/>
                  <a:pt x="0" y="41481"/>
                  <a:pt x="0" y="92574"/>
                </a:cubicBezTo>
                <a:cubicBezTo>
                  <a:pt x="0" y="143667"/>
                  <a:pt x="41481" y="185148"/>
                  <a:pt x="92574" y="185148"/>
                </a:cubicBezTo>
                <a:close/>
                <a:moveTo>
                  <a:pt x="81002" y="57859"/>
                </a:moveTo>
                <a:cubicBezTo>
                  <a:pt x="81002" y="51472"/>
                  <a:pt x="86187" y="46287"/>
                  <a:pt x="92574" y="46287"/>
                </a:cubicBezTo>
                <a:cubicBezTo>
                  <a:pt x="98961" y="46287"/>
                  <a:pt x="104146" y="51472"/>
                  <a:pt x="104146" y="57859"/>
                </a:cubicBezTo>
                <a:cubicBezTo>
                  <a:pt x="104146" y="64245"/>
                  <a:pt x="98961" y="69431"/>
                  <a:pt x="92574" y="69431"/>
                </a:cubicBezTo>
                <a:cubicBezTo>
                  <a:pt x="86187" y="69431"/>
                  <a:pt x="81002" y="64245"/>
                  <a:pt x="81002" y="57859"/>
                </a:cubicBezTo>
                <a:close/>
                <a:moveTo>
                  <a:pt x="78109" y="81002"/>
                </a:moveTo>
                <a:lnTo>
                  <a:pt x="95467" y="81002"/>
                </a:lnTo>
                <a:cubicBezTo>
                  <a:pt x="100276" y="81002"/>
                  <a:pt x="104146" y="84872"/>
                  <a:pt x="104146" y="89681"/>
                </a:cubicBezTo>
                <a:lnTo>
                  <a:pt x="104146" y="121503"/>
                </a:lnTo>
                <a:lnTo>
                  <a:pt x="107039" y="121503"/>
                </a:lnTo>
                <a:cubicBezTo>
                  <a:pt x="111848" y="121503"/>
                  <a:pt x="115718" y="125373"/>
                  <a:pt x="115718" y="130182"/>
                </a:cubicBezTo>
                <a:cubicBezTo>
                  <a:pt x="115718" y="134992"/>
                  <a:pt x="111848" y="138861"/>
                  <a:pt x="107039" y="138861"/>
                </a:cubicBezTo>
                <a:lnTo>
                  <a:pt x="78109" y="138861"/>
                </a:lnTo>
                <a:cubicBezTo>
                  <a:pt x="73300" y="138861"/>
                  <a:pt x="69431" y="134992"/>
                  <a:pt x="69431" y="130182"/>
                </a:cubicBezTo>
                <a:cubicBezTo>
                  <a:pt x="69431" y="125373"/>
                  <a:pt x="73300" y="121503"/>
                  <a:pt x="78109" y="121503"/>
                </a:cubicBezTo>
                <a:lnTo>
                  <a:pt x="86788" y="121503"/>
                </a:lnTo>
                <a:lnTo>
                  <a:pt x="86788" y="98360"/>
                </a:lnTo>
                <a:lnTo>
                  <a:pt x="78109" y="98360"/>
                </a:lnTo>
                <a:cubicBezTo>
                  <a:pt x="73300" y="98360"/>
                  <a:pt x="69431" y="94491"/>
                  <a:pt x="69431" y="89681"/>
                </a:cubicBezTo>
                <a:cubicBezTo>
                  <a:pt x="69431" y="84872"/>
                  <a:pt x="73300" y="81002"/>
                  <a:pt x="78109" y="8100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35210" y="1984786"/>
            <a:ext cx="319380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 Interpretation Guide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3775" y="2429142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74059" y="0"/>
                </a:moveTo>
                <a:lnTo>
                  <a:pt x="296237" y="0"/>
                </a:lnTo>
                <a:cubicBezTo>
                  <a:pt x="337139" y="0"/>
                  <a:pt x="370296" y="33157"/>
                  <a:pt x="370296" y="74059"/>
                </a:cubicBezTo>
                <a:lnTo>
                  <a:pt x="370296" y="296237"/>
                </a:lnTo>
                <a:cubicBezTo>
                  <a:pt x="370296" y="337139"/>
                  <a:pt x="337139" y="370296"/>
                  <a:pt x="296237" y="370296"/>
                </a:cubicBezTo>
                <a:lnTo>
                  <a:pt x="74059" y="370296"/>
                </a:lnTo>
                <a:cubicBezTo>
                  <a:pt x="33157" y="370296"/>
                  <a:pt x="0" y="337139"/>
                  <a:pt x="0" y="296237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407921" y="2530973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0" y="83317"/>
                </a:moveTo>
                <a:cubicBezTo>
                  <a:pt x="0" y="37333"/>
                  <a:pt x="37333" y="0"/>
                  <a:pt x="83317" y="0"/>
                </a:cubicBezTo>
                <a:cubicBezTo>
                  <a:pt x="129300" y="0"/>
                  <a:pt x="166633" y="37333"/>
                  <a:pt x="166633" y="83317"/>
                </a:cubicBezTo>
                <a:cubicBezTo>
                  <a:pt x="166633" y="129300"/>
                  <a:pt x="129300" y="166633"/>
                  <a:pt x="83317" y="166633"/>
                </a:cubicBezTo>
                <a:cubicBezTo>
                  <a:pt x="37333" y="166633"/>
                  <a:pt x="0" y="129300"/>
                  <a:pt x="0" y="8331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85160" y="2392112"/>
            <a:ext cx="292533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 Size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85160" y="2651319"/>
            <a:ext cx="2916082" cy="42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circles indicate higher pollutant concentration at that location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3775" y="3220650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74059" y="0"/>
                </a:moveTo>
                <a:lnTo>
                  <a:pt x="296237" y="0"/>
                </a:lnTo>
                <a:cubicBezTo>
                  <a:pt x="337139" y="0"/>
                  <a:pt x="370296" y="33157"/>
                  <a:pt x="370296" y="74059"/>
                </a:cubicBezTo>
                <a:lnTo>
                  <a:pt x="370296" y="296237"/>
                </a:lnTo>
                <a:cubicBezTo>
                  <a:pt x="370296" y="337139"/>
                  <a:pt x="337139" y="370296"/>
                  <a:pt x="296237" y="370296"/>
                </a:cubicBezTo>
                <a:lnTo>
                  <a:pt x="74059" y="370296"/>
                </a:lnTo>
                <a:cubicBezTo>
                  <a:pt x="33157" y="370296"/>
                  <a:pt x="0" y="337139"/>
                  <a:pt x="0" y="296237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07921" y="3322481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166633" y="83317"/>
                </a:moveTo>
                <a:cubicBezTo>
                  <a:pt x="166633" y="83610"/>
                  <a:pt x="166633" y="83902"/>
                  <a:pt x="166633" y="84195"/>
                </a:cubicBezTo>
                <a:cubicBezTo>
                  <a:pt x="166503" y="96074"/>
                  <a:pt x="155698" y="104146"/>
                  <a:pt x="143819" y="104146"/>
                </a:cubicBezTo>
                <a:lnTo>
                  <a:pt x="111957" y="104146"/>
                </a:lnTo>
                <a:cubicBezTo>
                  <a:pt x="103332" y="104146"/>
                  <a:pt x="96335" y="111143"/>
                  <a:pt x="96335" y="119768"/>
                </a:cubicBezTo>
                <a:cubicBezTo>
                  <a:pt x="96335" y="120874"/>
                  <a:pt x="96465" y="121948"/>
                  <a:pt x="96660" y="122990"/>
                </a:cubicBezTo>
                <a:cubicBezTo>
                  <a:pt x="97344" y="126309"/>
                  <a:pt x="98776" y="129499"/>
                  <a:pt x="100175" y="132721"/>
                </a:cubicBezTo>
                <a:cubicBezTo>
                  <a:pt x="102161" y="137212"/>
                  <a:pt x="104113" y="141671"/>
                  <a:pt x="104113" y="146390"/>
                </a:cubicBezTo>
                <a:cubicBezTo>
                  <a:pt x="104113" y="156739"/>
                  <a:pt x="97083" y="166145"/>
                  <a:pt x="86734" y="166568"/>
                </a:cubicBezTo>
                <a:cubicBezTo>
                  <a:pt x="85595" y="166601"/>
                  <a:pt x="84456" y="166633"/>
                  <a:pt x="83284" y="166633"/>
                </a:cubicBezTo>
                <a:cubicBezTo>
                  <a:pt x="37265" y="166633"/>
                  <a:pt x="-33" y="129336"/>
                  <a:pt x="-33" y="83317"/>
                </a:cubicBezTo>
                <a:cubicBezTo>
                  <a:pt x="-33" y="37297"/>
                  <a:pt x="37297" y="0"/>
                  <a:pt x="83317" y="0"/>
                </a:cubicBezTo>
                <a:cubicBezTo>
                  <a:pt x="129336" y="0"/>
                  <a:pt x="166633" y="37297"/>
                  <a:pt x="166633" y="83317"/>
                </a:cubicBezTo>
                <a:close/>
                <a:moveTo>
                  <a:pt x="41658" y="93731"/>
                </a:moveTo>
                <a:cubicBezTo>
                  <a:pt x="41658" y="87983"/>
                  <a:pt x="36992" y="83317"/>
                  <a:pt x="31244" y="83317"/>
                </a:cubicBezTo>
                <a:cubicBezTo>
                  <a:pt x="25496" y="83317"/>
                  <a:pt x="20829" y="87983"/>
                  <a:pt x="20829" y="93731"/>
                </a:cubicBezTo>
                <a:cubicBezTo>
                  <a:pt x="20829" y="99479"/>
                  <a:pt x="25496" y="104146"/>
                  <a:pt x="31244" y="104146"/>
                </a:cubicBezTo>
                <a:cubicBezTo>
                  <a:pt x="36992" y="104146"/>
                  <a:pt x="41658" y="99479"/>
                  <a:pt x="41658" y="93731"/>
                </a:cubicBezTo>
                <a:close/>
                <a:moveTo>
                  <a:pt x="41658" y="62487"/>
                </a:moveTo>
                <a:cubicBezTo>
                  <a:pt x="47406" y="62487"/>
                  <a:pt x="52073" y="57821"/>
                  <a:pt x="52073" y="52073"/>
                </a:cubicBezTo>
                <a:cubicBezTo>
                  <a:pt x="52073" y="46325"/>
                  <a:pt x="47406" y="41658"/>
                  <a:pt x="41658" y="41658"/>
                </a:cubicBezTo>
                <a:cubicBezTo>
                  <a:pt x="35910" y="41658"/>
                  <a:pt x="31244" y="46325"/>
                  <a:pt x="31244" y="52073"/>
                </a:cubicBezTo>
                <a:cubicBezTo>
                  <a:pt x="31244" y="57821"/>
                  <a:pt x="35910" y="62487"/>
                  <a:pt x="41658" y="62487"/>
                </a:cubicBezTo>
                <a:close/>
                <a:moveTo>
                  <a:pt x="93731" y="31244"/>
                </a:moveTo>
                <a:cubicBezTo>
                  <a:pt x="93731" y="25496"/>
                  <a:pt x="89065" y="20829"/>
                  <a:pt x="83317" y="20829"/>
                </a:cubicBezTo>
                <a:cubicBezTo>
                  <a:pt x="77569" y="20829"/>
                  <a:pt x="72902" y="25496"/>
                  <a:pt x="72902" y="31244"/>
                </a:cubicBezTo>
                <a:cubicBezTo>
                  <a:pt x="72902" y="36992"/>
                  <a:pt x="77569" y="41658"/>
                  <a:pt x="83317" y="41658"/>
                </a:cubicBezTo>
                <a:cubicBezTo>
                  <a:pt x="89065" y="41658"/>
                  <a:pt x="93731" y="36992"/>
                  <a:pt x="93731" y="31244"/>
                </a:cubicBezTo>
                <a:close/>
                <a:moveTo>
                  <a:pt x="124975" y="62487"/>
                </a:moveTo>
                <a:cubicBezTo>
                  <a:pt x="130723" y="62487"/>
                  <a:pt x="135390" y="57821"/>
                  <a:pt x="135390" y="52073"/>
                </a:cubicBezTo>
                <a:cubicBezTo>
                  <a:pt x="135390" y="46325"/>
                  <a:pt x="130723" y="41658"/>
                  <a:pt x="124975" y="41658"/>
                </a:cubicBezTo>
                <a:cubicBezTo>
                  <a:pt x="119227" y="41658"/>
                  <a:pt x="114560" y="46325"/>
                  <a:pt x="114560" y="52073"/>
                </a:cubicBezTo>
                <a:cubicBezTo>
                  <a:pt x="114560" y="57821"/>
                  <a:pt x="119227" y="62487"/>
                  <a:pt x="124975" y="624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785160" y="3183620"/>
            <a:ext cx="292533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Intensity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85160" y="3442827"/>
            <a:ext cx="2916082" cy="42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Darker/warmer colors represent more severe AQI categories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03775" y="4012158"/>
            <a:ext cx="370296" cy="370296"/>
          </a:xfrm>
          <a:custGeom>
            <a:avLst/>
            <a:gdLst/>
            <a:ahLst/>
            <a:cxnLst/>
            <a:rect l="l" t="t" r="r" b="b"/>
            <a:pathLst>
              <a:path w="370296" h="370296">
                <a:moveTo>
                  <a:pt x="74059" y="0"/>
                </a:moveTo>
                <a:lnTo>
                  <a:pt x="296237" y="0"/>
                </a:lnTo>
                <a:cubicBezTo>
                  <a:pt x="337139" y="0"/>
                  <a:pt x="370296" y="33157"/>
                  <a:pt x="370296" y="74059"/>
                </a:cubicBezTo>
                <a:lnTo>
                  <a:pt x="370296" y="296237"/>
                </a:lnTo>
                <a:cubicBezTo>
                  <a:pt x="370296" y="337139"/>
                  <a:pt x="337139" y="370296"/>
                  <a:pt x="296237" y="370296"/>
                </a:cubicBezTo>
                <a:lnTo>
                  <a:pt x="74059" y="370296"/>
                </a:lnTo>
                <a:cubicBezTo>
                  <a:pt x="33157" y="370296"/>
                  <a:pt x="0" y="337139"/>
                  <a:pt x="0" y="296237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397506" y="4113989"/>
            <a:ext cx="187462" cy="166633"/>
          </a:xfrm>
          <a:custGeom>
            <a:avLst/>
            <a:gdLst/>
            <a:ahLst/>
            <a:cxnLst/>
            <a:rect l="l" t="t" r="r" b="b"/>
            <a:pathLst>
              <a:path w="187462" h="166633">
                <a:moveTo>
                  <a:pt x="93731" y="-5207"/>
                </a:moveTo>
                <a:cubicBezTo>
                  <a:pt x="99492" y="-5207"/>
                  <a:pt x="104146" y="-553"/>
                  <a:pt x="104146" y="5207"/>
                </a:cubicBezTo>
                <a:lnTo>
                  <a:pt x="104146" y="11163"/>
                </a:lnTo>
                <a:cubicBezTo>
                  <a:pt x="136073" y="15720"/>
                  <a:pt x="161328" y="40975"/>
                  <a:pt x="165885" y="72902"/>
                </a:cubicBezTo>
                <a:lnTo>
                  <a:pt x="171841" y="72902"/>
                </a:lnTo>
                <a:cubicBezTo>
                  <a:pt x="177601" y="72902"/>
                  <a:pt x="182255" y="77556"/>
                  <a:pt x="182255" y="83317"/>
                </a:cubicBezTo>
                <a:cubicBezTo>
                  <a:pt x="182255" y="89077"/>
                  <a:pt x="177601" y="93731"/>
                  <a:pt x="171841" y="93731"/>
                </a:cubicBezTo>
                <a:lnTo>
                  <a:pt x="165885" y="93731"/>
                </a:lnTo>
                <a:cubicBezTo>
                  <a:pt x="161328" y="125658"/>
                  <a:pt x="136073" y="150914"/>
                  <a:pt x="104146" y="155470"/>
                </a:cubicBezTo>
                <a:lnTo>
                  <a:pt x="104146" y="161426"/>
                </a:lnTo>
                <a:cubicBezTo>
                  <a:pt x="104146" y="167187"/>
                  <a:pt x="99492" y="171841"/>
                  <a:pt x="93731" y="171841"/>
                </a:cubicBezTo>
                <a:cubicBezTo>
                  <a:pt x="87971" y="171841"/>
                  <a:pt x="83317" y="167187"/>
                  <a:pt x="83317" y="161426"/>
                </a:cubicBezTo>
                <a:lnTo>
                  <a:pt x="83317" y="155470"/>
                </a:lnTo>
                <a:cubicBezTo>
                  <a:pt x="51389" y="150914"/>
                  <a:pt x="26134" y="125658"/>
                  <a:pt x="21578" y="93731"/>
                </a:cubicBezTo>
                <a:lnTo>
                  <a:pt x="15622" y="93731"/>
                </a:lnTo>
                <a:cubicBezTo>
                  <a:pt x="9861" y="93731"/>
                  <a:pt x="5207" y="89077"/>
                  <a:pt x="5207" y="83317"/>
                </a:cubicBezTo>
                <a:cubicBezTo>
                  <a:pt x="5207" y="77556"/>
                  <a:pt x="9861" y="72902"/>
                  <a:pt x="15622" y="72902"/>
                </a:cubicBezTo>
                <a:lnTo>
                  <a:pt x="21578" y="72902"/>
                </a:lnTo>
                <a:cubicBezTo>
                  <a:pt x="26134" y="40975"/>
                  <a:pt x="51389" y="15720"/>
                  <a:pt x="83317" y="11163"/>
                </a:cubicBezTo>
                <a:lnTo>
                  <a:pt x="83317" y="5207"/>
                </a:lnTo>
                <a:cubicBezTo>
                  <a:pt x="83317" y="-553"/>
                  <a:pt x="87971" y="-5207"/>
                  <a:pt x="93731" y="-5207"/>
                </a:cubicBezTo>
                <a:close/>
                <a:moveTo>
                  <a:pt x="42700" y="93731"/>
                </a:moveTo>
                <a:cubicBezTo>
                  <a:pt x="46833" y="114137"/>
                  <a:pt x="62911" y="130215"/>
                  <a:pt x="83317" y="134348"/>
                </a:cubicBezTo>
                <a:lnTo>
                  <a:pt x="83317" y="130182"/>
                </a:lnTo>
                <a:cubicBezTo>
                  <a:pt x="83317" y="124422"/>
                  <a:pt x="87971" y="119768"/>
                  <a:pt x="93731" y="119768"/>
                </a:cubicBezTo>
                <a:cubicBezTo>
                  <a:pt x="99492" y="119768"/>
                  <a:pt x="104146" y="124422"/>
                  <a:pt x="104146" y="130182"/>
                </a:cubicBezTo>
                <a:lnTo>
                  <a:pt x="104146" y="134348"/>
                </a:lnTo>
                <a:cubicBezTo>
                  <a:pt x="124552" y="130215"/>
                  <a:pt x="140629" y="114137"/>
                  <a:pt x="144763" y="93731"/>
                </a:cubicBezTo>
                <a:lnTo>
                  <a:pt x="140597" y="93731"/>
                </a:lnTo>
                <a:cubicBezTo>
                  <a:pt x="134836" y="93731"/>
                  <a:pt x="130182" y="89077"/>
                  <a:pt x="130182" y="83317"/>
                </a:cubicBezTo>
                <a:cubicBezTo>
                  <a:pt x="130182" y="77556"/>
                  <a:pt x="134836" y="72902"/>
                  <a:pt x="140597" y="72902"/>
                </a:cubicBezTo>
                <a:lnTo>
                  <a:pt x="144763" y="72902"/>
                </a:lnTo>
                <a:cubicBezTo>
                  <a:pt x="140629" y="52496"/>
                  <a:pt x="124552" y="36418"/>
                  <a:pt x="104146" y="32285"/>
                </a:cubicBezTo>
                <a:lnTo>
                  <a:pt x="104146" y="36451"/>
                </a:lnTo>
                <a:cubicBezTo>
                  <a:pt x="104146" y="42212"/>
                  <a:pt x="99492" y="46866"/>
                  <a:pt x="93731" y="46866"/>
                </a:cubicBezTo>
                <a:cubicBezTo>
                  <a:pt x="87971" y="46866"/>
                  <a:pt x="83317" y="42212"/>
                  <a:pt x="83317" y="36451"/>
                </a:cubicBezTo>
                <a:lnTo>
                  <a:pt x="83317" y="32285"/>
                </a:lnTo>
                <a:cubicBezTo>
                  <a:pt x="62911" y="36418"/>
                  <a:pt x="46833" y="52496"/>
                  <a:pt x="42700" y="72902"/>
                </a:cubicBezTo>
                <a:lnTo>
                  <a:pt x="46866" y="72902"/>
                </a:lnTo>
                <a:cubicBezTo>
                  <a:pt x="52626" y="72902"/>
                  <a:pt x="57280" y="77556"/>
                  <a:pt x="57280" y="83317"/>
                </a:cubicBezTo>
                <a:cubicBezTo>
                  <a:pt x="57280" y="89077"/>
                  <a:pt x="52626" y="93731"/>
                  <a:pt x="46866" y="93731"/>
                </a:cubicBezTo>
                <a:lnTo>
                  <a:pt x="42700" y="93731"/>
                </a:lnTo>
                <a:close/>
                <a:moveTo>
                  <a:pt x="93731" y="67695"/>
                </a:moveTo>
                <a:cubicBezTo>
                  <a:pt x="102353" y="67695"/>
                  <a:pt x="109353" y="74695"/>
                  <a:pt x="109353" y="83317"/>
                </a:cubicBezTo>
                <a:cubicBezTo>
                  <a:pt x="109353" y="91939"/>
                  <a:pt x="102353" y="98938"/>
                  <a:pt x="93731" y="98938"/>
                </a:cubicBezTo>
                <a:cubicBezTo>
                  <a:pt x="85109" y="98938"/>
                  <a:pt x="78109" y="91939"/>
                  <a:pt x="78109" y="83317"/>
                </a:cubicBezTo>
                <a:cubicBezTo>
                  <a:pt x="78109" y="74695"/>
                  <a:pt x="85109" y="67695"/>
                  <a:pt x="93731" y="6769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85160" y="3975128"/>
            <a:ext cx="292533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Hotspot Identification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85160" y="4234335"/>
            <a:ext cx="2916082" cy="42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Clusters of large symbols indicate pollution hotspots requiring intervention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4924" y="4999925"/>
            <a:ext cx="3710367" cy="1858887"/>
          </a:xfrm>
          <a:custGeom>
            <a:avLst/>
            <a:gdLst/>
            <a:ahLst/>
            <a:cxnLst/>
            <a:rect l="l" t="t" r="r" b="b"/>
            <a:pathLst>
              <a:path w="3710367" h="1858887">
                <a:moveTo>
                  <a:pt x="111087" y="0"/>
                </a:moveTo>
                <a:lnTo>
                  <a:pt x="3599280" y="0"/>
                </a:lnTo>
                <a:cubicBezTo>
                  <a:pt x="3660632" y="0"/>
                  <a:pt x="3710367" y="49735"/>
                  <a:pt x="3710367" y="111087"/>
                </a:cubicBezTo>
                <a:lnTo>
                  <a:pt x="3710367" y="1747799"/>
                </a:lnTo>
                <a:cubicBezTo>
                  <a:pt x="3710367" y="1809151"/>
                  <a:pt x="3660632" y="1858887"/>
                  <a:pt x="3599280" y="1858887"/>
                </a:cubicBezTo>
                <a:lnTo>
                  <a:pt x="111087" y="1858887"/>
                </a:lnTo>
                <a:cubicBezTo>
                  <a:pt x="49735" y="1858887"/>
                  <a:pt x="0" y="1809151"/>
                  <a:pt x="0" y="1747799"/>
                </a:cubicBezTo>
                <a:lnTo>
                  <a:pt x="0" y="111087"/>
                </a:lnTo>
                <a:cubicBezTo>
                  <a:pt x="0" y="49776"/>
                  <a:pt x="49776" y="0"/>
                  <a:pt x="111087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347747" y="5235062"/>
            <a:ext cx="124975" cy="166633"/>
          </a:xfrm>
          <a:custGeom>
            <a:avLst/>
            <a:gdLst/>
            <a:ahLst/>
            <a:cxnLst/>
            <a:rect l="l" t="t" r="r" b="b"/>
            <a:pathLst>
              <a:path w="124975" h="166633">
                <a:moveTo>
                  <a:pt x="95326" y="124975"/>
                </a:moveTo>
                <a:cubicBezTo>
                  <a:pt x="97702" y="117717"/>
                  <a:pt x="102453" y="111143"/>
                  <a:pt x="107823" y="105480"/>
                </a:cubicBezTo>
                <a:cubicBezTo>
                  <a:pt x="118466" y="94284"/>
                  <a:pt x="124975" y="79151"/>
                  <a:pt x="124975" y="62487"/>
                </a:cubicBezTo>
                <a:cubicBezTo>
                  <a:pt x="124975" y="27989"/>
                  <a:pt x="96986" y="0"/>
                  <a:pt x="62487" y="0"/>
                </a:cubicBezTo>
                <a:cubicBezTo>
                  <a:pt x="27989" y="0"/>
                  <a:pt x="0" y="27989"/>
                  <a:pt x="0" y="62487"/>
                </a:cubicBezTo>
                <a:cubicBezTo>
                  <a:pt x="0" y="79151"/>
                  <a:pt x="6509" y="94284"/>
                  <a:pt x="17152" y="105480"/>
                </a:cubicBezTo>
                <a:cubicBezTo>
                  <a:pt x="22522" y="111143"/>
                  <a:pt x="27306" y="117717"/>
                  <a:pt x="29649" y="124975"/>
                </a:cubicBezTo>
                <a:lnTo>
                  <a:pt x="95293" y="124975"/>
                </a:lnTo>
                <a:close/>
                <a:moveTo>
                  <a:pt x="93731" y="140597"/>
                </a:moveTo>
                <a:lnTo>
                  <a:pt x="31244" y="140597"/>
                </a:lnTo>
                <a:lnTo>
                  <a:pt x="31244" y="145804"/>
                </a:lnTo>
                <a:cubicBezTo>
                  <a:pt x="31244" y="160189"/>
                  <a:pt x="42895" y="171841"/>
                  <a:pt x="57280" y="171841"/>
                </a:cubicBezTo>
                <a:lnTo>
                  <a:pt x="67695" y="171841"/>
                </a:lnTo>
                <a:cubicBezTo>
                  <a:pt x="82080" y="171841"/>
                  <a:pt x="93731" y="160189"/>
                  <a:pt x="93731" y="145804"/>
                </a:cubicBezTo>
                <a:lnTo>
                  <a:pt x="93731" y="140597"/>
                </a:lnTo>
                <a:close/>
                <a:moveTo>
                  <a:pt x="59884" y="36451"/>
                </a:moveTo>
                <a:cubicBezTo>
                  <a:pt x="46931" y="36451"/>
                  <a:pt x="36451" y="46931"/>
                  <a:pt x="36451" y="59884"/>
                </a:cubicBezTo>
                <a:cubicBezTo>
                  <a:pt x="36451" y="64212"/>
                  <a:pt x="32969" y="67695"/>
                  <a:pt x="28640" y="67695"/>
                </a:cubicBezTo>
                <a:cubicBezTo>
                  <a:pt x="24312" y="67695"/>
                  <a:pt x="20829" y="64212"/>
                  <a:pt x="20829" y="59884"/>
                </a:cubicBezTo>
                <a:cubicBezTo>
                  <a:pt x="20829" y="38306"/>
                  <a:pt x="38306" y="20829"/>
                  <a:pt x="59884" y="20829"/>
                </a:cubicBezTo>
                <a:cubicBezTo>
                  <a:pt x="64212" y="20829"/>
                  <a:pt x="67695" y="24312"/>
                  <a:pt x="67695" y="28640"/>
                </a:cubicBezTo>
                <a:cubicBezTo>
                  <a:pt x="67695" y="32969"/>
                  <a:pt x="64212" y="36451"/>
                  <a:pt x="59884" y="3645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16695" y="5188774"/>
            <a:ext cx="320306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to Highlight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03775" y="5633130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451893" y="5559071"/>
            <a:ext cx="146267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traffic corridors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03775" y="5929367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451893" y="5855308"/>
            <a:ext cx="211994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 zone proximity effects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03775" y="6225604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451893" y="6151544"/>
            <a:ext cx="211994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Residential area exposure levels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03775" y="6521841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451893" y="6447781"/>
            <a:ext cx="220326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center vs. periphery patterns</a:t>
            </a:r>
            <a:endParaRPr lang="en-US" sz="1600" dirty="0"/>
          </a:p>
        </p:txBody>
      </p:sp>
      <p:pic>
        <p:nvPicPr>
          <p:cNvPr id="45" name="Picture 44" descr="A map of the world&#10;&#10;AI-generated content may be incorrect.">
            <a:extLst>
              <a:ext uri="{FF2B5EF4-FFF2-40B4-BE49-F238E27FC236}">
                <a16:creationId xmlns:a16="http://schemas.microsoft.com/office/drawing/2014/main" id="{73DC4A60-682C-A2CA-161F-F9419427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09" y="2206964"/>
            <a:ext cx="7370772" cy="3987395"/>
          </a:xfrm>
          <a:prstGeom prst="rect">
            <a:avLst/>
          </a:prstGeom>
        </p:spPr>
      </p:pic>
      <p:sp>
        <p:nvSpPr>
          <p:cNvPr id="46" name="Shape 6">
            <a:extLst>
              <a:ext uri="{FF2B5EF4-FFF2-40B4-BE49-F238E27FC236}">
                <a16:creationId xmlns:a16="http://schemas.microsoft.com/office/drawing/2014/main" id="{646E1E7F-5133-0F06-BC6A-F108FA6581A3}"/>
              </a:ext>
            </a:extLst>
          </p:cNvPr>
          <p:cNvSpPr/>
          <p:nvPr/>
        </p:nvSpPr>
        <p:spPr>
          <a:xfrm>
            <a:off x="330200" y="1549402"/>
            <a:ext cx="7548563" cy="5016500"/>
          </a:xfrm>
          <a:custGeom>
            <a:avLst/>
            <a:gdLst/>
            <a:ahLst/>
            <a:cxnLst/>
            <a:rect l="l" t="t" r="r" b="b"/>
            <a:pathLst>
              <a:path w="7548563" h="5016500">
                <a:moveTo>
                  <a:pt x="0" y="0"/>
                </a:moveTo>
                <a:lnTo>
                  <a:pt x="7548563" y="0"/>
                </a:lnTo>
                <a:lnTo>
                  <a:pt x="7548563" y="5016500"/>
                </a:lnTo>
                <a:lnTo>
                  <a:pt x="0" y="5016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5000"/>
                </a:srgbClr>
              </a:gs>
              <a:gs pos="100000">
                <a:srgbClr val="D4A26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DAE63A91-DB98-0641-30A9-01AF6D311DE3}"/>
              </a:ext>
            </a:extLst>
          </p:cNvPr>
          <p:cNvSpPr/>
          <p:nvPr/>
        </p:nvSpPr>
        <p:spPr>
          <a:xfrm>
            <a:off x="323850" y="1882668"/>
            <a:ext cx="7561262" cy="4639173"/>
          </a:xfrm>
          <a:custGeom>
            <a:avLst/>
            <a:gdLst/>
            <a:ahLst/>
            <a:cxnLst/>
            <a:rect l="l" t="t" r="r" b="b"/>
            <a:pathLst>
              <a:path w="7561262" h="5029200">
                <a:moveTo>
                  <a:pt x="95253" y="0"/>
                </a:moveTo>
                <a:lnTo>
                  <a:pt x="7466009" y="0"/>
                </a:lnTo>
                <a:cubicBezTo>
                  <a:pt x="7518616" y="0"/>
                  <a:pt x="7561262" y="42646"/>
                  <a:pt x="7561262" y="95253"/>
                </a:cubicBezTo>
                <a:lnTo>
                  <a:pt x="7561262" y="4933947"/>
                </a:lnTo>
                <a:cubicBezTo>
                  <a:pt x="7561263" y="4986554"/>
                  <a:pt x="7518616" y="5029200"/>
                  <a:pt x="7466009" y="5029200"/>
                </a:cubicBezTo>
                <a:lnTo>
                  <a:pt x="95253" y="5029200"/>
                </a:lnTo>
                <a:cubicBezTo>
                  <a:pt x="42646" y="5029200"/>
                  <a:pt x="0" y="4986554"/>
                  <a:pt x="0" y="49339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20320">
            <a:solidFill>
              <a:srgbClr val="4A6C8C">
                <a:alpha val="5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675" y="320675"/>
            <a:ext cx="1284288" cy="292100"/>
          </a:xfrm>
          <a:custGeom>
            <a:avLst/>
            <a:gdLst/>
            <a:ahLst/>
            <a:cxnLst/>
            <a:rect l="l" t="t" r="r" b="b"/>
            <a:pathLst>
              <a:path w="1284288" h="292100">
                <a:moveTo>
                  <a:pt x="146050" y="0"/>
                </a:moveTo>
                <a:lnTo>
                  <a:pt x="1138238" y="0"/>
                </a:lnTo>
                <a:cubicBezTo>
                  <a:pt x="1218845" y="0"/>
                  <a:pt x="1284288" y="65443"/>
                  <a:pt x="1284288" y="146050"/>
                </a:cubicBezTo>
                <a:lnTo>
                  <a:pt x="1284288" y="146050"/>
                </a:lnTo>
                <a:cubicBezTo>
                  <a:pt x="1284288" y="226657"/>
                  <a:pt x="1218845" y="292100"/>
                  <a:pt x="1138238" y="292100"/>
                </a:cubicBezTo>
                <a:lnTo>
                  <a:pt x="146050" y="292100"/>
                </a:lnTo>
                <a:cubicBezTo>
                  <a:pt x="65443" y="292100"/>
                  <a:pt x="0" y="226657"/>
                  <a:pt x="0" y="146050"/>
                </a:cubicBezTo>
                <a:lnTo>
                  <a:pt x="0" y="146050"/>
                </a:lnTo>
                <a:cubicBezTo>
                  <a:pt x="0" y="65443"/>
                  <a:pt x="65443" y="0"/>
                  <a:pt x="1460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0850" y="409576"/>
            <a:ext cx="1080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04281" y="462759"/>
            <a:ext cx="10167938" cy="7938"/>
          </a:xfrm>
          <a:custGeom>
            <a:avLst/>
            <a:gdLst/>
            <a:ahLst/>
            <a:cxnLst/>
            <a:rect l="l" t="t" r="r" b="b"/>
            <a:pathLst>
              <a:path w="10167938" h="7938">
                <a:moveTo>
                  <a:pt x="0" y="0"/>
                </a:moveTo>
                <a:lnTo>
                  <a:pt x="10167938" y="0"/>
                </a:lnTo>
                <a:lnTo>
                  <a:pt x="101679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17500" y="711201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Impact Analysis: Peak vs Non-Peak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200" y="1115232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 showing congestion's effect on pollutant levels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3850" y="1543051"/>
            <a:ext cx="7561262" cy="5029200"/>
          </a:xfrm>
          <a:custGeom>
            <a:avLst/>
            <a:gdLst/>
            <a:ahLst/>
            <a:cxnLst/>
            <a:rect l="l" t="t" r="r" b="b"/>
            <a:pathLst>
              <a:path w="7561262" h="5029200">
                <a:moveTo>
                  <a:pt x="95253" y="0"/>
                </a:moveTo>
                <a:lnTo>
                  <a:pt x="7466009" y="0"/>
                </a:lnTo>
                <a:cubicBezTo>
                  <a:pt x="7518616" y="0"/>
                  <a:pt x="7561262" y="42646"/>
                  <a:pt x="7561262" y="95253"/>
                </a:cubicBezTo>
                <a:lnTo>
                  <a:pt x="7561262" y="4933947"/>
                </a:lnTo>
                <a:cubicBezTo>
                  <a:pt x="7561263" y="4986554"/>
                  <a:pt x="7518616" y="5029200"/>
                  <a:pt x="7466009" y="5029200"/>
                </a:cubicBezTo>
                <a:lnTo>
                  <a:pt x="95253" y="5029200"/>
                </a:lnTo>
                <a:cubicBezTo>
                  <a:pt x="42646" y="5029200"/>
                  <a:pt x="0" y="4986554"/>
                  <a:pt x="0" y="493394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20320">
            <a:solidFill>
              <a:srgbClr val="4A6C8C">
                <a:alpha val="5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1793" y="1520825"/>
            <a:ext cx="7548563" cy="5016500"/>
          </a:xfrm>
          <a:custGeom>
            <a:avLst/>
            <a:gdLst/>
            <a:ahLst/>
            <a:cxnLst/>
            <a:rect l="l" t="t" r="r" b="b"/>
            <a:pathLst>
              <a:path w="7548563" h="5016500">
                <a:moveTo>
                  <a:pt x="0" y="0"/>
                </a:moveTo>
                <a:lnTo>
                  <a:pt x="7548563" y="0"/>
                </a:lnTo>
                <a:lnTo>
                  <a:pt x="7548563" y="5016500"/>
                </a:lnTo>
                <a:lnTo>
                  <a:pt x="0" y="5016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5000"/>
                </a:srgbClr>
              </a:gs>
              <a:gs pos="100000">
                <a:srgbClr val="D4A26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3446" y="3786982"/>
            <a:ext cx="4183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7259" y="4199732"/>
            <a:ext cx="413543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8934" y="4956174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6130" y="1539876"/>
            <a:ext cx="3784600" cy="1577975"/>
          </a:xfrm>
          <a:custGeom>
            <a:avLst/>
            <a:gdLst/>
            <a:ahLst/>
            <a:cxnLst/>
            <a:rect l="l" t="t" r="r" b="b"/>
            <a:pathLst>
              <a:path w="3784600" h="1577975">
                <a:moveTo>
                  <a:pt x="95247" y="0"/>
                </a:moveTo>
                <a:lnTo>
                  <a:pt x="3689353" y="0"/>
                </a:lnTo>
                <a:cubicBezTo>
                  <a:pt x="3741921" y="0"/>
                  <a:pt x="3784600" y="42679"/>
                  <a:pt x="3784600" y="95247"/>
                </a:cubicBezTo>
                <a:lnTo>
                  <a:pt x="3784600" y="1482728"/>
                </a:lnTo>
                <a:cubicBezTo>
                  <a:pt x="3784600" y="1535296"/>
                  <a:pt x="3741921" y="1577975"/>
                  <a:pt x="3689353" y="1577975"/>
                </a:cubicBezTo>
                <a:lnTo>
                  <a:pt x="95247" y="1577975"/>
                </a:lnTo>
                <a:cubicBezTo>
                  <a:pt x="42679" y="1577975"/>
                  <a:pt x="0" y="1535296"/>
                  <a:pt x="0" y="1482728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67898" y="17335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46492" y="1701799"/>
            <a:ext cx="334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 Interpretation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48055" y="208279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37352" y="217011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728" y="32761"/>
                </a:moveTo>
                <a:lnTo>
                  <a:pt x="30445" y="53578"/>
                </a:lnTo>
                <a:lnTo>
                  <a:pt x="112430" y="53578"/>
                </a:lnTo>
                <a:lnTo>
                  <a:pt x="105147" y="32761"/>
                </a:lnTo>
                <a:cubicBezTo>
                  <a:pt x="103891" y="29189"/>
                  <a:pt x="100515" y="26789"/>
                  <a:pt x="96720" y="26789"/>
                </a:cubicBezTo>
                <a:lnTo>
                  <a:pt x="46155" y="26789"/>
                </a:lnTo>
                <a:cubicBezTo>
                  <a:pt x="42360" y="26789"/>
                  <a:pt x="38984" y="29189"/>
                  <a:pt x="37728" y="32761"/>
                </a:cubicBezTo>
                <a:close/>
                <a:moveTo>
                  <a:pt x="11050" y="54918"/>
                </a:moveTo>
                <a:lnTo>
                  <a:pt x="20873" y="26873"/>
                </a:lnTo>
                <a:cubicBezTo>
                  <a:pt x="24640" y="16129"/>
                  <a:pt x="34770" y="8930"/>
                  <a:pt x="46155" y="8930"/>
                </a:cubicBezTo>
                <a:lnTo>
                  <a:pt x="96720" y="8930"/>
                </a:lnTo>
                <a:cubicBezTo>
                  <a:pt x="108105" y="8930"/>
                  <a:pt x="118235" y="16129"/>
                  <a:pt x="122002" y="26873"/>
                </a:cubicBezTo>
                <a:lnTo>
                  <a:pt x="131825" y="54918"/>
                </a:lnTo>
                <a:cubicBezTo>
                  <a:pt x="138299" y="57596"/>
                  <a:pt x="142875" y="63987"/>
                  <a:pt x="142875" y="71438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25016" y="133945"/>
                </a:lnTo>
                <a:cubicBezTo>
                  <a:pt x="120076" y="133945"/>
                  <a:pt x="116086" y="129955"/>
                  <a:pt x="116086" y="125016"/>
                </a:cubicBezTo>
                <a:lnTo>
                  <a:pt x="116086" y="116086"/>
                </a:lnTo>
                <a:lnTo>
                  <a:pt x="26789" y="116086"/>
                </a:lnTo>
                <a:lnTo>
                  <a:pt x="26789" y="125016"/>
                </a:lnTo>
                <a:cubicBezTo>
                  <a:pt x="26789" y="129955"/>
                  <a:pt x="22799" y="133945"/>
                  <a:pt x="1785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71438"/>
                </a:lnTo>
                <a:cubicBezTo>
                  <a:pt x="0" y="63987"/>
                  <a:pt x="4576" y="57596"/>
                  <a:pt x="11050" y="54918"/>
                </a:cubicBezTo>
                <a:close/>
                <a:moveTo>
                  <a:pt x="35719" y="84832"/>
                </a:moveTo>
                <a:cubicBezTo>
                  <a:pt x="35719" y="79904"/>
                  <a:pt x="31717" y="75902"/>
                  <a:pt x="26789" y="75902"/>
                </a:cubicBezTo>
                <a:cubicBezTo>
                  <a:pt x="21861" y="75902"/>
                  <a:pt x="17859" y="79904"/>
                  <a:pt x="17859" y="84832"/>
                </a:cubicBezTo>
                <a:cubicBezTo>
                  <a:pt x="17859" y="89760"/>
                  <a:pt x="21861" y="93762"/>
                  <a:pt x="26789" y="93762"/>
                </a:cubicBezTo>
                <a:cubicBezTo>
                  <a:pt x="31717" y="93762"/>
                  <a:pt x="35719" y="89760"/>
                  <a:pt x="35719" y="84832"/>
                </a:cubicBezTo>
                <a:close/>
                <a:moveTo>
                  <a:pt x="116086" y="93762"/>
                </a:moveTo>
                <a:cubicBezTo>
                  <a:pt x="121014" y="93762"/>
                  <a:pt x="125016" y="89760"/>
                  <a:pt x="125016" y="84832"/>
                </a:cubicBezTo>
                <a:cubicBezTo>
                  <a:pt x="125016" y="79904"/>
                  <a:pt x="121014" y="75902"/>
                  <a:pt x="116086" y="75902"/>
                </a:cubicBezTo>
                <a:cubicBezTo>
                  <a:pt x="111158" y="75902"/>
                  <a:pt x="107156" y="79904"/>
                  <a:pt x="107156" y="84832"/>
                </a:cubicBezTo>
                <a:cubicBezTo>
                  <a:pt x="107156" y="89760"/>
                  <a:pt x="111158" y="93762"/>
                  <a:pt x="116086" y="93762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60805" y="2051049"/>
            <a:ext cx="255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60805" y="2273299"/>
            <a:ext cx="25479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 (8-10 AM) &amp; Evening (5-8 PM) rush periods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48055" y="25808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7352" y="26681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2480" y="8930"/>
                </a:moveTo>
                <a:lnTo>
                  <a:pt x="41216" y="8930"/>
                </a:lnTo>
                <a:cubicBezTo>
                  <a:pt x="33012" y="8930"/>
                  <a:pt x="25840" y="14539"/>
                  <a:pt x="23887" y="22492"/>
                </a:cubicBezTo>
                <a:lnTo>
                  <a:pt x="391" y="117342"/>
                </a:lnTo>
                <a:cubicBezTo>
                  <a:pt x="-1702" y="125769"/>
                  <a:pt x="4688" y="133945"/>
                  <a:pt x="13395" y="133945"/>
                </a:cubicBezTo>
                <a:lnTo>
                  <a:pt x="62480" y="133945"/>
                </a:lnTo>
                <a:lnTo>
                  <a:pt x="62480" y="116086"/>
                </a:lnTo>
                <a:cubicBezTo>
                  <a:pt x="62480" y="111147"/>
                  <a:pt x="66470" y="107156"/>
                  <a:pt x="71410" y="107156"/>
                </a:cubicBezTo>
                <a:cubicBezTo>
                  <a:pt x="76349" y="107156"/>
                  <a:pt x="80339" y="111147"/>
                  <a:pt x="80339" y="116086"/>
                </a:cubicBezTo>
                <a:lnTo>
                  <a:pt x="80339" y="133945"/>
                </a:lnTo>
                <a:lnTo>
                  <a:pt x="129480" y="133945"/>
                </a:lnTo>
                <a:cubicBezTo>
                  <a:pt x="138187" y="133945"/>
                  <a:pt x="144577" y="125769"/>
                  <a:pt x="142484" y="117342"/>
                </a:cubicBezTo>
                <a:lnTo>
                  <a:pt x="119016" y="22492"/>
                </a:lnTo>
                <a:cubicBezTo>
                  <a:pt x="117035" y="14539"/>
                  <a:pt x="109891" y="8930"/>
                  <a:pt x="101659" y="8930"/>
                </a:cubicBezTo>
                <a:lnTo>
                  <a:pt x="80339" y="8930"/>
                </a:lnTo>
                <a:lnTo>
                  <a:pt x="80339" y="26789"/>
                </a:lnTo>
                <a:cubicBezTo>
                  <a:pt x="80339" y="31728"/>
                  <a:pt x="76349" y="35719"/>
                  <a:pt x="71410" y="35719"/>
                </a:cubicBezTo>
                <a:cubicBezTo>
                  <a:pt x="66470" y="35719"/>
                  <a:pt x="62480" y="31728"/>
                  <a:pt x="62480" y="26789"/>
                </a:cubicBezTo>
                <a:lnTo>
                  <a:pt x="62480" y="8930"/>
                </a:lnTo>
                <a:close/>
                <a:moveTo>
                  <a:pt x="80339" y="62508"/>
                </a:moveTo>
                <a:lnTo>
                  <a:pt x="80339" y="80367"/>
                </a:lnTo>
                <a:cubicBezTo>
                  <a:pt x="80339" y="85306"/>
                  <a:pt x="76349" y="89297"/>
                  <a:pt x="71410" y="89297"/>
                </a:cubicBezTo>
                <a:cubicBezTo>
                  <a:pt x="66470" y="89297"/>
                  <a:pt x="62480" y="85306"/>
                  <a:pt x="62480" y="80367"/>
                </a:cubicBezTo>
                <a:lnTo>
                  <a:pt x="62480" y="62508"/>
                </a:lnTo>
                <a:cubicBezTo>
                  <a:pt x="62480" y="57569"/>
                  <a:pt x="66470" y="53578"/>
                  <a:pt x="71410" y="53578"/>
                </a:cubicBezTo>
                <a:cubicBezTo>
                  <a:pt x="76349" y="53578"/>
                  <a:pt x="80339" y="57569"/>
                  <a:pt x="80339" y="62508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60805" y="2549127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Non-Peak Hours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60805" y="2771377"/>
            <a:ext cx="24209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Mid-day &amp; late-night periods with reduced traffic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86130" y="3247233"/>
            <a:ext cx="3784600" cy="2522538"/>
          </a:xfrm>
          <a:custGeom>
            <a:avLst/>
            <a:gdLst/>
            <a:ahLst/>
            <a:cxnLst/>
            <a:rect l="l" t="t" r="r" b="b"/>
            <a:pathLst>
              <a:path w="3784600" h="2522538">
                <a:moveTo>
                  <a:pt x="95251" y="0"/>
                </a:moveTo>
                <a:lnTo>
                  <a:pt x="3689349" y="0"/>
                </a:lnTo>
                <a:cubicBezTo>
                  <a:pt x="3741955" y="0"/>
                  <a:pt x="3784600" y="42645"/>
                  <a:pt x="3784600" y="95251"/>
                </a:cubicBezTo>
                <a:lnTo>
                  <a:pt x="3784600" y="2427286"/>
                </a:lnTo>
                <a:cubicBezTo>
                  <a:pt x="3784600" y="2479892"/>
                  <a:pt x="3741955" y="2522538"/>
                  <a:pt x="3689349" y="2522538"/>
                </a:cubicBezTo>
                <a:lnTo>
                  <a:pt x="95251" y="2522538"/>
                </a:lnTo>
                <a:cubicBezTo>
                  <a:pt x="42681" y="2522538"/>
                  <a:pt x="0" y="2479857"/>
                  <a:pt x="0" y="2427286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76828" y="344884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0367" y="0"/>
                </a:moveTo>
                <a:lnTo>
                  <a:pt x="35719" y="0"/>
                </a:lnTo>
                <a:cubicBezTo>
                  <a:pt x="30780" y="0"/>
                  <a:pt x="26789" y="3990"/>
                  <a:pt x="26789" y="8930"/>
                </a:cubicBezTo>
                <a:cubicBezTo>
                  <a:pt x="26789" y="13869"/>
                  <a:pt x="30780" y="17859"/>
                  <a:pt x="35719" y="17859"/>
                </a:cubicBezTo>
                <a:lnTo>
                  <a:pt x="35719" y="60136"/>
                </a:lnTo>
                <a:lnTo>
                  <a:pt x="2093" y="118960"/>
                </a:lnTo>
                <a:cubicBezTo>
                  <a:pt x="726" y="121388"/>
                  <a:pt x="0" y="124095"/>
                  <a:pt x="0" y="126885"/>
                </a:cubicBezTo>
                <a:cubicBezTo>
                  <a:pt x="0" y="135731"/>
                  <a:pt x="7144" y="142875"/>
                  <a:pt x="15990" y="142875"/>
                </a:cubicBezTo>
                <a:lnTo>
                  <a:pt x="109026" y="142875"/>
                </a:lnTo>
                <a:cubicBezTo>
                  <a:pt x="117844" y="142875"/>
                  <a:pt x="125016" y="135731"/>
                  <a:pt x="125016" y="126885"/>
                </a:cubicBezTo>
                <a:cubicBezTo>
                  <a:pt x="125016" y="124095"/>
                  <a:pt x="124290" y="121360"/>
                  <a:pt x="122923" y="118960"/>
                </a:cubicBezTo>
                <a:lnTo>
                  <a:pt x="89297" y="60136"/>
                </a:lnTo>
                <a:lnTo>
                  <a:pt x="89297" y="17859"/>
                </a:lnTo>
                <a:cubicBezTo>
                  <a:pt x="94236" y="17859"/>
                  <a:pt x="98227" y="13869"/>
                  <a:pt x="98227" y="8930"/>
                </a:cubicBezTo>
                <a:cubicBezTo>
                  <a:pt x="98227" y="3990"/>
                  <a:pt x="94236" y="0"/>
                  <a:pt x="89297" y="0"/>
                </a:cubicBezTo>
                <a:lnTo>
                  <a:pt x="80367" y="0"/>
                </a:lnTo>
                <a:close/>
                <a:moveTo>
                  <a:pt x="53578" y="60136"/>
                </a:moveTo>
                <a:lnTo>
                  <a:pt x="53578" y="17859"/>
                </a:lnTo>
                <a:lnTo>
                  <a:pt x="71438" y="17859"/>
                </a:lnTo>
                <a:lnTo>
                  <a:pt x="71438" y="60136"/>
                </a:lnTo>
                <a:cubicBezTo>
                  <a:pt x="71438" y="63233"/>
                  <a:pt x="72247" y="66303"/>
                  <a:pt x="73782" y="69010"/>
                </a:cubicBezTo>
                <a:lnTo>
                  <a:pt x="85390" y="89297"/>
                </a:lnTo>
                <a:lnTo>
                  <a:pt x="39625" y="89297"/>
                </a:lnTo>
                <a:lnTo>
                  <a:pt x="51234" y="69010"/>
                </a:lnTo>
                <a:cubicBezTo>
                  <a:pt x="52769" y="66303"/>
                  <a:pt x="53578" y="63261"/>
                  <a:pt x="53578" y="6013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30617" y="3409156"/>
            <a:ext cx="334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Pollutant Patterns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1230" y="3729831"/>
            <a:ext cx="3451225" cy="577850"/>
          </a:xfrm>
          <a:custGeom>
            <a:avLst/>
            <a:gdLst/>
            <a:ahLst/>
            <a:cxnLst/>
            <a:rect l="l" t="t" r="r" b="b"/>
            <a:pathLst>
              <a:path w="3451225" h="577850">
                <a:moveTo>
                  <a:pt x="63500" y="0"/>
                </a:moveTo>
                <a:lnTo>
                  <a:pt x="3387725" y="0"/>
                </a:lnTo>
                <a:cubicBezTo>
                  <a:pt x="3422795" y="0"/>
                  <a:pt x="3451225" y="28430"/>
                  <a:pt x="3451225" y="63500"/>
                </a:cubicBezTo>
                <a:lnTo>
                  <a:pt x="3451225" y="514350"/>
                </a:lnTo>
                <a:cubicBezTo>
                  <a:pt x="3451225" y="549420"/>
                  <a:pt x="3422795" y="577850"/>
                  <a:pt x="3387725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49655" y="3828259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PM₂.₅ &amp; PM₁₀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18156" y="3844134"/>
            <a:ext cx="54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40-60%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49655" y="4050509"/>
            <a:ext cx="3309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increase during congestion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1230" y="4377532"/>
            <a:ext cx="3451225" cy="577850"/>
          </a:xfrm>
          <a:custGeom>
            <a:avLst/>
            <a:gdLst/>
            <a:ahLst/>
            <a:cxnLst/>
            <a:rect l="l" t="t" r="r" b="b"/>
            <a:pathLst>
              <a:path w="3451225" h="577850">
                <a:moveTo>
                  <a:pt x="63500" y="0"/>
                </a:moveTo>
                <a:lnTo>
                  <a:pt x="3387725" y="0"/>
                </a:lnTo>
                <a:cubicBezTo>
                  <a:pt x="3422795" y="0"/>
                  <a:pt x="3451225" y="28430"/>
                  <a:pt x="3451225" y="63500"/>
                </a:cubicBezTo>
                <a:lnTo>
                  <a:pt x="3451225" y="514350"/>
                </a:lnTo>
                <a:cubicBezTo>
                  <a:pt x="3451225" y="549420"/>
                  <a:pt x="3422795" y="577850"/>
                  <a:pt x="3387725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349655" y="4475955"/>
            <a:ext cx="29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25200" y="4491830"/>
            <a:ext cx="53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50-70%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9655" y="4698205"/>
            <a:ext cx="3309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traffic emission marker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1230" y="5025233"/>
            <a:ext cx="3451225" cy="577850"/>
          </a:xfrm>
          <a:custGeom>
            <a:avLst/>
            <a:gdLst/>
            <a:ahLst/>
            <a:cxnLst/>
            <a:rect l="l" t="t" r="r" b="b"/>
            <a:pathLst>
              <a:path w="3451225" h="577850">
                <a:moveTo>
                  <a:pt x="63500" y="0"/>
                </a:moveTo>
                <a:lnTo>
                  <a:pt x="3387725" y="0"/>
                </a:lnTo>
                <a:cubicBezTo>
                  <a:pt x="3422795" y="0"/>
                  <a:pt x="3451225" y="28430"/>
                  <a:pt x="3451225" y="63500"/>
                </a:cubicBezTo>
                <a:lnTo>
                  <a:pt x="3451225" y="514350"/>
                </a:lnTo>
                <a:cubicBezTo>
                  <a:pt x="3451225" y="549420"/>
                  <a:pt x="3422795" y="577850"/>
                  <a:pt x="3387725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349655" y="5123656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32245" y="5139531"/>
            <a:ext cx="531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30-45%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49655" y="5345906"/>
            <a:ext cx="3309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 combustion during idling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86130" y="5901532"/>
            <a:ext cx="3784600" cy="673100"/>
          </a:xfrm>
          <a:custGeom>
            <a:avLst/>
            <a:gdLst/>
            <a:ahLst/>
            <a:cxnLst/>
            <a:rect l="l" t="t" r="r" b="b"/>
            <a:pathLst>
              <a:path w="3784600" h="673100">
                <a:moveTo>
                  <a:pt x="95250" y="0"/>
                </a:moveTo>
                <a:lnTo>
                  <a:pt x="3689350" y="0"/>
                </a:lnTo>
                <a:cubicBezTo>
                  <a:pt x="3741955" y="0"/>
                  <a:pt x="3784600" y="42645"/>
                  <a:pt x="3784600" y="95250"/>
                </a:cubicBezTo>
                <a:lnTo>
                  <a:pt x="3784600" y="577850"/>
                </a:lnTo>
                <a:cubicBezTo>
                  <a:pt x="3784600" y="630455"/>
                  <a:pt x="3741955" y="673100"/>
                  <a:pt x="3689350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32180" y="606345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14742" y="6031705"/>
            <a:ext cx="3389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Traffic congestion is a primary driver for pollutant spikes</a:t>
            </a:r>
            <a:endParaRPr lang="en-US" sz="1600" dirty="0"/>
          </a:p>
        </p:txBody>
      </p:sp>
      <p:pic>
        <p:nvPicPr>
          <p:cNvPr id="46" name="Picture 45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A7066D3D-7CCC-402C-953D-D9936B093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14" y="1611723"/>
            <a:ext cx="5444819" cy="4891855"/>
          </a:xfrm>
          <a:prstGeom prst="rect">
            <a:avLst/>
          </a:prstGeom>
        </p:spPr>
      </p:pic>
      <p:sp>
        <p:nvSpPr>
          <p:cNvPr id="47" name="Shape 40">
            <a:extLst>
              <a:ext uri="{FF2B5EF4-FFF2-40B4-BE49-F238E27FC236}">
                <a16:creationId xmlns:a16="http://schemas.microsoft.com/office/drawing/2014/main" id="{DECEF26C-3500-B9AD-B20F-FA4C28E6913E}"/>
              </a:ext>
            </a:extLst>
          </p:cNvPr>
          <p:cNvSpPr/>
          <p:nvPr/>
        </p:nvSpPr>
        <p:spPr>
          <a:xfrm>
            <a:off x="7978974" y="723897"/>
            <a:ext cx="3784600" cy="673100"/>
          </a:xfrm>
          <a:custGeom>
            <a:avLst/>
            <a:gdLst/>
            <a:ahLst/>
            <a:cxnLst/>
            <a:rect l="l" t="t" r="r" b="b"/>
            <a:pathLst>
              <a:path w="3784600" h="673100">
                <a:moveTo>
                  <a:pt x="95250" y="0"/>
                </a:moveTo>
                <a:lnTo>
                  <a:pt x="3689350" y="0"/>
                </a:lnTo>
                <a:cubicBezTo>
                  <a:pt x="3741955" y="0"/>
                  <a:pt x="3784600" y="42645"/>
                  <a:pt x="3784600" y="95250"/>
                </a:cubicBezTo>
                <a:lnTo>
                  <a:pt x="3784600" y="577850"/>
                </a:lnTo>
                <a:cubicBezTo>
                  <a:pt x="3784600" y="630455"/>
                  <a:pt x="3741955" y="673100"/>
                  <a:pt x="3689350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6756C3-A58C-1003-8F17-2059FD5997E7}"/>
              </a:ext>
            </a:extLst>
          </p:cNvPr>
          <p:cNvSpPr txBox="1"/>
          <p:nvPr/>
        </p:nvSpPr>
        <p:spPr>
          <a:xfrm>
            <a:off x="8086130" y="791370"/>
            <a:ext cx="367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2"/>
                </a:solidFill>
              </a:rPr>
              <a:t>Observation:</a:t>
            </a:r>
            <a:r>
              <a:rPr lang="en-US" sz="1000" dirty="0">
                <a:solidFill>
                  <a:schemeClr val="bg2"/>
                </a:solidFill>
              </a:rPr>
              <a:t> Transitions from "Moderate" to "Poor" categories are frequent during winter months.</a:t>
            </a:r>
            <a:endParaRPr lang="en-IN" sz="1000" dirty="0">
              <a:solidFill>
                <a:schemeClr val="bg2"/>
              </a:solidFill>
            </a:endParaRPr>
          </a:p>
        </p:txBody>
      </p:sp>
      <p:pic>
        <p:nvPicPr>
          <p:cNvPr id="50" name="Picture 49" descr="A screenshot of a phone&#10;&#10;AI-generated content may be incorrect.">
            <a:extLst>
              <a:ext uri="{FF2B5EF4-FFF2-40B4-BE49-F238E27FC236}">
                <a16:creationId xmlns:a16="http://schemas.microsoft.com/office/drawing/2014/main" id="{E668ACC7-C4D9-1A34-28CA-E27E1061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7" y="1669539"/>
            <a:ext cx="1800476" cy="9145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605" y="347605"/>
            <a:ext cx="1392142" cy="316631"/>
          </a:xfrm>
          <a:custGeom>
            <a:avLst/>
            <a:gdLst/>
            <a:ahLst/>
            <a:cxnLst/>
            <a:rect l="l" t="t" r="r" b="b"/>
            <a:pathLst>
              <a:path w="1392142" h="316631">
                <a:moveTo>
                  <a:pt x="158315" y="0"/>
                </a:moveTo>
                <a:lnTo>
                  <a:pt x="1233827" y="0"/>
                </a:lnTo>
                <a:cubicBezTo>
                  <a:pt x="1321262" y="0"/>
                  <a:pt x="1392142" y="70880"/>
                  <a:pt x="1392142" y="158315"/>
                </a:cubicBezTo>
                <a:lnTo>
                  <a:pt x="1392142" y="158315"/>
                </a:lnTo>
                <a:cubicBezTo>
                  <a:pt x="1392142" y="245750"/>
                  <a:pt x="1321262" y="316631"/>
                  <a:pt x="1233827" y="316631"/>
                </a:cubicBezTo>
                <a:lnTo>
                  <a:pt x="158315" y="316631"/>
                </a:lnTo>
                <a:cubicBezTo>
                  <a:pt x="70880" y="316631"/>
                  <a:pt x="0" y="245750"/>
                  <a:pt x="0" y="158315"/>
                </a:cubicBezTo>
                <a:lnTo>
                  <a:pt x="0" y="158315"/>
                </a:lnTo>
                <a:cubicBezTo>
                  <a:pt x="0" y="70880"/>
                  <a:pt x="70880" y="0"/>
                  <a:pt x="15831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8712" y="443972"/>
            <a:ext cx="1174244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kern="0" spc="47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50525" y="501621"/>
            <a:ext cx="9997956" cy="8604"/>
          </a:xfrm>
          <a:custGeom>
            <a:avLst/>
            <a:gdLst/>
            <a:ahLst/>
            <a:cxnLst/>
            <a:rect l="l" t="t" r="r" b="b"/>
            <a:pathLst>
              <a:path w="9997956" h="8604">
                <a:moveTo>
                  <a:pt x="0" y="0"/>
                </a:moveTo>
                <a:lnTo>
                  <a:pt x="9997956" y="0"/>
                </a:lnTo>
                <a:lnTo>
                  <a:pt x="9997956" y="8604"/>
                </a:lnTo>
                <a:lnTo>
                  <a:pt x="0" y="8604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4164" y="770928"/>
            <a:ext cx="11710171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Multi-Pollutant Chemical Composition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4164" y="1252757"/>
            <a:ext cx="11589713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emission sources through chemical signature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690" y="1631336"/>
            <a:ext cx="7682540" cy="4632444"/>
          </a:xfrm>
          <a:custGeom>
            <a:avLst/>
            <a:gdLst/>
            <a:ahLst/>
            <a:cxnLst/>
            <a:rect l="l" t="t" r="r" b="b"/>
            <a:pathLst>
              <a:path w="7533744" h="5176222">
                <a:moveTo>
                  <a:pt x="103266" y="0"/>
                </a:moveTo>
                <a:lnTo>
                  <a:pt x="7430478" y="0"/>
                </a:lnTo>
                <a:cubicBezTo>
                  <a:pt x="7487510" y="0"/>
                  <a:pt x="7533744" y="46234"/>
                  <a:pt x="7533744" y="103266"/>
                </a:cubicBezTo>
                <a:lnTo>
                  <a:pt x="7533744" y="5072957"/>
                </a:lnTo>
                <a:cubicBezTo>
                  <a:pt x="7533744" y="5129989"/>
                  <a:pt x="7487510" y="5176222"/>
                  <a:pt x="7430478" y="5176222"/>
                </a:cubicBezTo>
                <a:lnTo>
                  <a:pt x="103266" y="5176222"/>
                </a:lnTo>
                <a:cubicBezTo>
                  <a:pt x="46234" y="5176222"/>
                  <a:pt x="0" y="5129989"/>
                  <a:pt x="0" y="5072957"/>
                </a:cubicBezTo>
                <a:lnTo>
                  <a:pt x="0" y="103266"/>
                </a:lnTo>
                <a:cubicBezTo>
                  <a:pt x="0" y="46272"/>
                  <a:pt x="46272" y="0"/>
                  <a:pt x="10326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20320">
            <a:solidFill>
              <a:srgbClr val="4A6C8C">
                <a:alpha val="5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49450" y="3967777"/>
            <a:ext cx="4534357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5262" y="4415190"/>
            <a:ext cx="4482733" cy="50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3049" y="5235162"/>
            <a:ext cx="154873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9033" y="1669195"/>
            <a:ext cx="3741060" cy="2837630"/>
          </a:xfrm>
          <a:custGeom>
            <a:avLst/>
            <a:gdLst/>
            <a:ahLst/>
            <a:cxnLst/>
            <a:rect l="l" t="t" r="r" b="b"/>
            <a:pathLst>
              <a:path w="3741060" h="2837630">
                <a:moveTo>
                  <a:pt x="103261" y="0"/>
                </a:moveTo>
                <a:lnTo>
                  <a:pt x="3637798" y="0"/>
                </a:lnTo>
                <a:cubicBezTo>
                  <a:pt x="3694828" y="0"/>
                  <a:pt x="3741060" y="46232"/>
                  <a:pt x="3741060" y="103261"/>
                </a:cubicBezTo>
                <a:lnTo>
                  <a:pt x="3741060" y="2734369"/>
                </a:lnTo>
                <a:cubicBezTo>
                  <a:pt x="3741060" y="2791360"/>
                  <a:pt x="3694790" y="2837630"/>
                  <a:pt x="3637798" y="2837630"/>
                </a:cubicBezTo>
                <a:lnTo>
                  <a:pt x="103261" y="2837630"/>
                </a:lnTo>
                <a:cubicBezTo>
                  <a:pt x="46232" y="2837630"/>
                  <a:pt x="0" y="2791398"/>
                  <a:pt x="0" y="2734369"/>
                </a:cubicBezTo>
                <a:lnTo>
                  <a:pt x="0" y="103261"/>
                </a:lnTo>
                <a:cubicBezTo>
                  <a:pt x="0" y="46270"/>
                  <a:pt x="46270" y="0"/>
                  <a:pt x="10326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96067" y="1879133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45440" y="39458"/>
                </a:moveTo>
                <a:lnTo>
                  <a:pt x="36668" y="64531"/>
                </a:lnTo>
                <a:lnTo>
                  <a:pt x="135414" y="64531"/>
                </a:lnTo>
                <a:lnTo>
                  <a:pt x="126641" y="39458"/>
                </a:lnTo>
                <a:cubicBezTo>
                  <a:pt x="125129" y="35156"/>
                  <a:pt x="121062" y="32265"/>
                  <a:pt x="116491" y="32265"/>
                </a:cubicBezTo>
                <a:lnTo>
                  <a:pt x="55591" y="32265"/>
                </a:lnTo>
                <a:cubicBezTo>
                  <a:pt x="51020" y="32265"/>
                  <a:pt x="46953" y="35156"/>
                  <a:pt x="45440" y="39458"/>
                </a:cubicBezTo>
                <a:close/>
                <a:moveTo>
                  <a:pt x="13309" y="66144"/>
                </a:moveTo>
                <a:lnTo>
                  <a:pt x="25140" y="32366"/>
                </a:lnTo>
                <a:cubicBezTo>
                  <a:pt x="29677" y="19426"/>
                  <a:pt x="41878" y="10755"/>
                  <a:pt x="55591" y="10755"/>
                </a:cubicBezTo>
                <a:lnTo>
                  <a:pt x="116491" y="10755"/>
                </a:lnTo>
                <a:cubicBezTo>
                  <a:pt x="130204" y="10755"/>
                  <a:pt x="142404" y="19426"/>
                  <a:pt x="146942" y="32366"/>
                </a:cubicBezTo>
                <a:lnTo>
                  <a:pt x="158772" y="66144"/>
                </a:lnTo>
                <a:cubicBezTo>
                  <a:pt x="166570" y="69371"/>
                  <a:pt x="172082" y="77067"/>
                  <a:pt x="172082" y="86041"/>
                </a:cubicBezTo>
                <a:lnTo>
                  <a:pt x="172082" y="150572"/>
                </a:lnTo>
                <a:cubicBezTo>
                  <a:pt x="172082" y="156521"/>
                  <a:pt x="167276" y="161327"/>
                  <a:pt x="161327" y="161327"/>
                </a:cubicBezTo>
                <a:lnTo>
                  <a:pt x="150572" y="161327"/>
                </a:lnTo>
                <a:cubicBezTo>
                  <a:pt x="144623" y="161327"/>
                  <a:pt x="139817" y="156521"/>
                  <a:pt x="139817" y="150572"/>
                </a:cubicBezTo>
                <a:lnTo>
                  <a:pt x="139817" y="139817"/>
                </a:lnTo>
                <a:lnTo>
                  <a:pt x="32265" y="139817"/>
                </a:lnTo>
                <a:lnTo>
                  <a:pt x="32265" y="150572"/>
                </a:lnTo>
                <a:cubicBezTo>
                  <a:pt x="32265" y="156521"/>
                  <a:pt x="27459" y="161327"/>
                  <a:pt x="21510" y="161327"/>
                </a:cubicBezTo>
                <a:lnTo>
                  <a:pt x="10755" y="161327"/>
                </a:lnTo>
                <a:cubicBezTo>
                  <a:pt x="4806" y="161327"/>
                  <a:pt x="0" y="156521"/>
                  <a:pt x="0" y="150572"/>
                </a:cubicBezTo>
                <a:lnTo>
                  <a:pt x="0" y="86041"/>
                </a:lnTo>
                <a:cubicBezTo>
                  <a:pt x="0" y="77067"/>
                  <a:pt x="5512" y="69371"/>
                  <a:pt x="13309" y="66144"/>
                </a:cubicBezTo>
                <a:close/>
                <a:moveTo>
                  <a:pt x="43020" y="102174"/>
                </a:moveTo>
                <a:cubicBezTo>
                  <a:pt x="43020" y="96238"/>
                  <a:pt x="38201" y="91418"/>
                  <a:pt x="32265" y="91418"/>
                </a:cubicBezTo>
                <a:cubicBezTo>
                  <a:pt x="26329" y="91418"/>
                  <a:pt x="21510" y="96238"/>
                  <a:pt x="21510" y="102174"/>
                </a:cubicBezTo>
                <a:cubicBezTo>
                  <a:pt x="21510" y="108110"/>
                  <a:pt x="26329" y="112929"/>
                  <a:pt x="32265" y="112929"/>
                </a:cubicBezTo>
                <a:cubicBezTo>
                  <a:pt x="38201" y="112929"/>
                  <a:pt x="43020" y="108110"/>
                  <a:pt x="43020" y="102174"/>
                </a:cubicBezTo>
                <a:close/>
                <a:moveTo>
                  <a:pt x="139817" y="112929"/>
                </a:moveTo>
                <a:cubicBezTo>
                  <a:pt x="145752" y="112929"/>
                  <a:pt x="150572" y="108110"/>
                  <a:pt x="150572" y="102174"/>
                </a:cubicBezTo>
                <a:cubicBezTo>
                  <a:pt x="150572" y="96238"/>
                  <a:pt x="145752" y="91418"/>
                  <a:pt x="139817" y="91418"/>
                </a:cubicBezTo>
                <a:cubicBezTo>
                  <a:pt x="133881" y="91418"/>
                  <a:pt x="129061" y="96238"/>
                  <a:pt x="129061" y="102174"/>
                </a:cubicBezTo>
                <a:cubicBezTo>
                  <a:pt x="129061" y="108110"/>
                  <a:pt x="133881" y="112929"/>
                  <a:pt x="139817" y="11292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89659" y="1844717"/>
            <a:ext cx="3260951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Traffic-Related Markers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7998" y="2226738"/>
            <a:ext cx="3388292" cy="626378"/>
          </a:xfrm>
          <a:custGeom>
            <a:avLst/>
            <a:gdLst/>
            <a:ahLst/>
            <a:cxnLst/>
            <a:rect l="l" t="t" r="r" b="b"/>
            <a:pathLst>
              <a:path w="3388292" h="626378">
                <a:moveTo>
                  <a:pt x="68833" y="0"/>
                </a:moveTo>
                <a:lnTo>
                  <a:pt x="3319459" y="0"/>
                </a:lnTo>
                <a:cubicBezTo>
                  <a:pt x="3357474" y="0"/>
                  <a:pt x="3388292" y="30817"/>
                  <a:pt x="3388292" y="68833"/>
                </a:cubicBezTo>
                <a:lnTo>
                  <a:pt x="3388292" y="557545"/>
                </a:lnTo>
                <a:cubicBezTo>
                  <a:pt x="3388292" y="595561"/>
                  <a:pt x="3357474" y="626378"/>
                  <a:pt x="3319459" y="626378"/>
                </a:cubicBezTo>
                <a:lnTo>
                  <a:pt x="68833" y="626378"/>
                </a:lnTo>
                <a:cubicBezTo>
                  <a:pt x="30817" y="626378"/>
                  <a:pt x="0" y="595561"/>
                  <a:pt x="0" y="55754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84689" y="2333432"/>
            <a:ext cx="144548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NO₂ (Nitrogen Dioxide)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02592" y="2333432"/>
            <a:ext cx="559266" cy="206498"/>
          </a:xfrm>
          <a:custGeom>
            <a:avLst/>
            <a:gdLst/>
            <a:ahLst/>
            <a:cxnLst/>
            <a:rect l="l" t="t" r="r" b="b"/>
            <a:pathLst>
              <a:path w="559266" h="206498">
                <a:moveTo>
                  <a:pt x="34417" y="0"/>
                </a:moveTo>
                <a:lnTo>
                  <a:pt x="524849" y="0"/>
                </a:lnTo>
                <a:cubicBezTo>
                  <a:pt x="543857" y="0"/>
                  <a:pt x="559266" y="15409"/>
                  <a:pt x="559266" y="34417"/>
                </a:cubicBezTo>
                <a:lnTo>
                  <a:pt x="559266" y="172081"/>
                </a:lnTo>
                <a:cubicBezTo>
                  <a:pt x="559266" y="191089"/>
                  <a:pt x="543857" y="206498"/>
                  <a:pt x="524849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002592" y="2333432"/>
            <a:ext cx="610891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4689" y="2574346"/>
            <a:ext cx="323513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indicator of vehicular emissions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77998" y="2963250"/>
            <a:ext cx="3388292" cy="626378"/>
          </a:xfrm>
          <a:custGeom>
            <a:avLst/>
            <a:gdLst/>
            <a:ahLst/>
            <a:cxnLst/>
            <a:rect l="l" t="t" r="r" b="b"/>
            <a:pathLst>
              <a:path w="3388292" h="626378">
                <a:moveTo>
                  <a:pt x="68833" y="0"/>
                </a:moveTo>
                <a:lnTo>
                  <a:pt x="3319459" y="0"/>
                </a:lnTo>
                <a:cubicBezTo>
                  <a:pt x="3357474" y="0"/>
                  <a:pt x="3388292" y="30817"/>
                  <a:pt x="3388292" y="68833"/>
                </a:cubicBezTo>
                <a:lnTo>
                  <a:pt x="3388292" y="557545"/>
                </a:lnTo>
                <a:cubicBezTo>
                  <a:pt x="3388292" y="595561"/>
                  <a:pt x="3357474" y="626378"/>
                  <a:pt x="3319459" y="626378"/>
                </a:cubicBezTo>
                <a:lnTo>
                  <a:pt x="68833" y="626378"/>
                </a:lnTo>
                <a:cubicBezTo>
                  <a:pt x="30817" y="626378"/>
                  <a:pt x="0" y="595561"/>
                  <a:pt x="0" y="55754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384689" y="3069943"/>
            <a:ext cx="1454092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 (Carbon Monoxide)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33413" y="3069943"/>
            <a:ext cx="722744" cy="206498"/>
          </a:xfrm>
          <a:custGeom>
            <a:avLst/>
            <a:gdLst/>
            <a:ahLst/>
            <a:cxnLst/>
            <a:rect l="l" t="t" r="r" b="b"/>
            <a:pathLst>
              <a:path w="722744" h="206498">
                <a:moveTo>
                  <a:pt x="34417" y="0"/>
                </a:moveTo>
                <a:lnTo>
                  <a:pt x="688327" y="0"/>
                </a:lnTo>
                <a:cubicBezTo>
                  <a:pt x="707335" y="0"/>
                  <a:pt x="722744" y="15409"/>
                  <a:pt x="722744" y="34417"/>
                </a:cubicBezTo>
                <a:lnTo>
                  <a:pt x="722744" y="172081"/>
                </a:lnTo>
                <a:cubicBezTo>
                  <a:pt x="722744" y="191089"/>
                  <a:pt x="707335" y="206498"/>
                  <a:pt x="688327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833413" y="3069943"/>
            <a:ext cx="774368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4689" y="3310858"/>
            <a:ext cx="323513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 fuel combustion marker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77998" y="3699761"/>
            <a:ext cx="3388292" cy="626378"/>
          </a:xfrm>
          <a:custGeom>
            <a:avLst/>
            <a:gdLst/>
            <a:ahLst/>
            <a:cxnLst/>
            <a:rect l="l" t="t" r="r" b="b"/>
            <a:pathLst>
              <a:path w="3388292" h="626378">
                <a:moveTo>
                  <a:pt x="68833" y="0"/>
                </a:moveTo>
                <a:lnTo>
                  <a:pt x="3319459" y="0"/>
                </a:lnTo>
                <a:cubicBezTo>
                  <a:pt x="3357474" y="0"/>
                  <a:pt x="3388292" y="30817"/>
                  <a:pt x="3388292" y="68833"/>
                </a:cubicBezTo>
                <a:lnTo>
                  <a:pt x="3388292" y="557545"/>
                </a:lnTo>
                <a:cubicBezTo>
                  <a:pt x="3388292" y="595561"/>
                  <a:pt x="3357474" y="626378"/>
                  <a:pt x="3319459" y="626378"/>
                </a:cubicBezTo>
                <a:lnTo>
                  <a:pt x="68833" y="626378"/>
                </a:lnTo>
                <a:cubicBezTo>
                  <a:pt x="30817" y="626378"/>
                  <a:pt x="0" y="595561"/>
                  <a:pt x="0" y="55754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84689" y="3806450"/>
            <a:ext cx="825993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PM₂.₅ &amp; PM₁₀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111541" y="3806450"/>
            <a:ext cx="447413" cy="206498"/>
          </a:xfrm>
          <a:custGeom>
            <a:avLst/>
            <a:gdLst/>
            <a:ahLst/>
            <a:cxnLst/>
            <a:rect l="l" t="t" r="r" b="b"/>
            <a:pathLst>
              <a:path w="447413" h="206498">
                <a:moveTo>
                  <a:pt x="34417" y="0"/>
                </a:moveTo>
                <a:lnTo>
                  <a:pt x="412996" y="0"/>
                </a:lnTo>
                <a:cubicBezTo>
                  <a:pt x="432004" y="0"/>
                  <a:pt x="447413" y="15409"/>
                  <a:pt x="447413" y="34417"/>
                </a:cubicBezTo>
                <a:lnTo>
                  <a:pt x="447413" y="172081"/>
                </a:lnTo>
                <a:cubicBezTo>
                  <a:pt x="447413" y="191089"/>
                  <a:pt x="432004" y="206498"/>
                  <a:pt x="412996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1111541" y="3806450"/>
            <a:ext cx="499037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4689" y="4047365"/>
            <a:ext cx="323513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traffic &amp; industrial sources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99033" y="4649652"/>
            <a:ext cx="3741060" cy="1331914"/>
          </a:xfrm>
          <a:custGeom>
            <a:avLst/>
            <a:gdLst/>
            <a:ahLst/>
            <a:cxnLst/>
            <a:rect l="l" t="t" r="r" b="b"/>
            <a:pathLst>
              <a:path w="3741060" h="1331914">
                <a:moveTo>
                  <a:pt x="103250" y="0"/>
                </a:moveTo>
                <a:lnTo>
                  <a:pt x="3637810" y="0"/>
                </a:lnTo>
                <a:cubicBezTo>
                  <a:pt x="3694833" y="0"/>
                  <a:pt x="3741060" y="46227"/>
                  <a:pt x="3741060" y="103250"/>
                </a:cubicBezTo>
                <a:lnTo>
                  <a:pt x="3741060" y="1228664"/>
                </a:lnTo>
                <a:cubicBezTo>
                  <a:pt x="3741060" y="1285687"/>
                  <a:pt x="3694833" y="1331914"/>
                  <a:pt x="3637810" y="1331914"/>
                </a:cubicBezTo>
                <a:lnTo>
                  <a:pt x="103250" y="1331914"/>
                </a:lnTo>
                <a:cubicBezTo>
                  <a:pt x="46227" y="1331914"/>
                  <a:pt x="0" y="1285687"/>
                  <a:pt x="0" y="1228664"/>
                </a:cubicBezTo>
                <a:lnTo>
                  <a:pt x="0" y="103250"/>
                </a:lnTo>
                <a:cubicBezTo>
                  <a:pt x="0" y="46265"/>
                  <a:pt x="46265" y="0"/>
                  <a:pt x="10325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296067" y="4868198"/>
            <a:ext cx="154874" cy="154874"/>
          </a:xfrm>
          <a:custGeom>
            <a:avLst/>
            <a:gdLst/>
            <a:ahLst/>
            <a:cxnLst/>
            <a:rect l="l" t="t" r="r" b="b"/>
            <a:pathLst>
              <a:path w="154874" h="154874">
                <a:moveTo>
                  <a:pt x="9680" y="9680"/>
                </a:moveTo>
                <a:cubicBezTo>
                  <a:pt x="4326" y="9680"/>
                  <a:pt x="0" y="14005"/>
                  <a:pt x="0" y="19359"/>
                </a:cubicBezTo>
                <a:lnTo>
                  <a:pt x="0" y="130675"/>
                </a:lnTo>
                <a:cubicBezTo>
                  <a:pt x="0" y="138691"/>
                  <a:pt x="6503" y="145194"/>
                  <a:pt x="14519" y="145194"/>
                </a:cubicBezTo>
                <a:lnTo>
                  <a:pt x="140354" y="145194"/>
                </a:lnTo>
                <a:cubicBezTo>
                  <a:pt x="148370" y="145194"/>
                  <a:pt x="154874" y="138691"/>
                  <a:pt x="154874" y="130675"/>
                </a:cubicBezTo>
                <a:lnTo>
                  <a:pt x="154874" y="46039"/>
                </a:lnTo>
                <a:cubicBezTo>
                  <a:pt x="154874" y="40533"/>
                  <a:pt x="149005" y="37055"/>
                  <a:pt x="144166" y="39656"/>
                </a:cubicBezTo>
                <a:lnTo>
                  <a:pt x="96796" y="65156"/>
                </a:lnTo>
                <a:lnTo>
                  <a:pt x="96796" y="46039"/>
                </a:lnTo>
                <a:cubicBezTo>
                  <a:pt x="96796" y="40533"/>
                  <a:pt x="90928" y="37055"/>
                  <a:pt x="86088" y="39656"/>
                </a:cubicBezTo>
                <a:lnTo>
                  <a:pt x="38718" y="65156"/>
                </a:lnTo>
                <a:lnTo>
                  <a:pt x="38718" y="19359"/>
                </a:lnTo>
                <a:cubicBezTo>
                  <a:pt x="38718" y="14005"/>
                  <a:pt x="34393" y="9680"/>
                  <a:pt x="29039" y="9680"/>
                </a:cubicBezTo>
                <a:lnTo>
                  <a:pt x="9680" y="968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72451" y="4825178"/>
            <a:ext cx="3269555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Markers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7998" y="5172783"/>
            <a:ext cx="3388292" cy="626378"/>
          </a:xfrm>
          <a:custGeom>
            <a:avLst/>
            <a:gdLst/>
            <a:ahLst/>
            <a:cxnLst/>
            <a:rect l="l" t="t" r="r" b="b"/>
            <a:pathLst>
              <a:path w="3388292" h="626378">
                <a:moveTo>
                  <a:pt x="68833" y="0"/>
                </a:moveTo>
                <a:lnTo>
                  <a:pt x="3319459" y="0"/>
                </a:lnTo>
                <a:cubicBezTo>
                  <a:pt x="3357474" y="0"/>
                  <a:pt x="3388292" y="30817"/>
                  <a:pt x="3388292" y="68833"/>
                </a:cubicBezTo>
                <a:lnTo>
                  <a:pt x="3388292" y="557545"/>
                </a:lnTo>
                <a:cubicBezTo>
                  <a:pt x="3388292" y="595561"/>
                  <a:pt x="3357474" y="626378"/>
                  <a:pt x="3319459" y="626378"/>
                </a:cubicBezTo>
                <a:lnTo>
                  <a:pt x="68833" y="626378"/>
                </a:lnTo>
                <a:cubicBezTo>
                  <a:pt x="30817" y="626378"/>
                  <a:pt x="0" y="595561"/>
                  <a:pt x="0" y="55754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384689" y="5279472"/>
            <a:ext cx="125619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SO₂ (Sulfur Dioxide)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57398" y="5279472"/>
            <a:ext cx="696932" cy="206498"/>
          </a:xfrm>
          <a:custGeom>
            <a:avLst/>
            <a:gdLst/>
            <a:ahLst/>
            <a:cxnLst/>
            <a:rect l="l" t="t" r="r" b="b"/>
            <a:pathLst>
              <a:path w="696932" h="206498">
                <a:moveTo>
                  <a:pt x="34417" y="0"/>
                </a:moveTo>
                <a:lnTo>
                  <a:pt x="662514" y="0"/>
                </a:lnTo>
                <a:cubicBezTo>
                  <a:pt x="681523" y="0"/>
                  <a:pt x="696932" y="15409"/>
                  <a:pt x="696932" y="34417"/>
                </a:cubicBezTo>
                <a:lnTo>
                  <a:pt x="696932" y="172081"/>
                </a:lnTo>
                <a:cubicBezTo>
                  <a:pt x="696932" y="191089"/>
                  <a:pt x="681523" y="206498"/>
                  <a:pt x="662514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857398" y="5279472"/>
            <a:ext cx="748556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4689" y="5520387"/>
            <a:ext cx="323513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Coal combustion &amp; industrial processes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99033" y="6122674"/>
            <a:ext cx="3741060" cy="729627"/>
          </a:xfrm>
          <a:custGeom>
            <a:avLst/>
            <a:gdLst/>
            <a:ahLst/>
            <a:cxnLst/>
            <a:rect l="l" t="t" r="r" b="b"/>
            <a:pathLst>
              <a:path w="3741060" h="729627">
                <a:moveTo>
                  <a:pt x="103250" y="0"/>
                </a:moveTo>
                <a:lnTo>
                  <a:pt x="3637810" y="0"/>
                </a:lnTo>
                <a:cubicBezTo>
                  <a:pt x="3694833" y="0"/>
                  <a:pt x="3741060" y="46226"/>
                  <a:pt x="3741060" y="103250"/>
                </a:cubicBezTo>
                <a:lnTo>
                  <a:pt x="3741060" y="626378"/>
                </a:lnTo>
                <a:cubicBezTo>
                  <a:pt x="3741060" y="683401"/>
                  <a:pt x="3694833" y="729627"/>
                  <a:pt x="3637810" y="729627"/>
                </a:cubicBezTo>
                <a:lnTo>
                  <a:pt x="103250" y="729627"/>
                </a:lnTo>
                <a:cubicBezTo>
                  <a:pt x="46265" y="729627"/>
                  <a:pt x="0" y="683363"/>
                  <a:pt x="0" y="626378"/>
                </a:cubicBezTo>
                <a:lnTo>
                  <a:pt x="0" y="103250"/>
                </a:lnTo>
                <a:cubicBezTo>
                  <a:pt x="0" y="46265"/>
                  <a:pt x="46265" y="0"/>
                  <a:pt x="103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57348" y="6298196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47323" y="0"/>
                </a:moveTo>
                <a:cubicBezTo>
                  <a:pt x="40197" y="0"/>
                  <a:pt x="34416" y="5781"/>
                  <a:pt x="34416" y="12906"/>
                </a:cubicBezTo>
                <a:lnTo>
                  <a:pt x="34416" y="68833"/>
                </a:lnTo>
                <a:cubicBezTo>
                  <a:pt x="34416" y="75958"/>
                  <a:pt x="40197" y="81739"/>
                  <a:pt x="47323" y="81739"/>
                </a:cubicBezTo>
                <a:lnTo>
                  <a:pt x="64531" y="81739"/>
                </a:lnTo>
                <a:cubicBezTo>
                  <a:pt x="71656" y="81739"/>
                  <a:pt x="77437" y="75958"/>
                  <a:pt x="77437" y="68833"/>
                </a:cubicBezTo>
                <a:lnTo>
                  <a:pt x="77437" y="51625"/>
                </a:lnTo>
                <a:lnTo>
                  <a:pt x="86041" y="51625"/>
                </a:lnTo>
                <a:cubicBezTo>
                  <a:pt x="105051" y="51625"/>
                  <a:pt x="120457" y="67031"/>
                  <a:pt x="120457" y="86041"/>
                </a:cubicBezTo>
                <a:cubicBezTo>
                  <a:pt x="120457" y="105051"/>
                  <a:pt x="105051" y="120457"/>
                  <a:pt x="86041" y="120457"/>
                </a:cubicBezTo>
                <a:lnTo>
                  <a:pt x="8604" y="120457"/>
                </a:lnTo>
                <a:cubicBezTo>
                  <a:pt x="3845" y="120457"/>
                  <a:pt x="0" y="124302"/>
                  <a:pt x="0" y="129061"/>
                </a:cubicBezTo>
                <a:cubicBezTo>
                  <a:pt x="0" y="133821"/>
                  <a:pt x="3845" y="137665"/>
                  <a:pt x="8604" y="137665"/>
                </a:cubicBezTo>
                <a:lnTo>
                  <a:pt x="129061" y="137665"/>
                </a:lnTo>
                <a:cubicBezTo>
                  <a:pt x="133821" y="137665"/>
                  <a:pt x="137665" y="133821"/>
                  <a:pt x="137665" y="129061"/>
                </a:cubicBezTo>
                <a:cubicBezTo>
                  <a:pt x="137665" y="124302"/>
                  <a:pt x="133821" y="120457"/>
                  <a:pt x="129061" y="120457"/>
                </a:cubicBezTo>
                <a:lnTo>
                  <a:pt x="124517" y="120457"/>
                </a:lnTo>
                <a:cubicBezTo>
                  <a:pt x="132691" y="111315"/>
                  <a:pt x="137665" y="99270"/>
                  <a:pt x="137665" y="86041"/>
                </a:cubicBezTo>
                <a:cubicBezTo>
                  <a:pt x="137665" y="57540"/>
                  <a:pt x="114542" y="34416"/>
                  <a:pt x="86041" y="34416"/>
                </a:cubicBezTo>
                <a:lnTo>
                  <a:pt x="77437" y="34416"/>
                </a:lnTo>
                <a:lnTo>
                  <a:pt x="77437" y="12906"/>
                </a:lnTo>
                <a:cubicBezTo>
                  <a:pt x="77437" y="5781"/>
                  <a:pt x="71656" y="0"/>
                  <a:pt x="64531" y="0"/>
                </a:cubicBezTo>
                <a:lnTo>
                  <a:pt x="47323" y="0"/>
                </a:lnTo>
                <a:close/>
                <a:moveTo>
                  <a:pt x="32265" y="94645"/>
                </a:moveTo>
                <a:cubicBezTo>
                  <a:pt x="28689" y="94645"/>
                  <a:pt x="25812" y="97522"/>
                  <a:pt x="25812" y="101098"/>
                </a:cubicBezTo>
                <a:cubicBezTo>
                  <a:pt x="25812" y="104674"/>
                  <a:pt x="28689" y="107551"/>
                  <a:pt x="32265" y="107551"/>
                </a:cubicBezTo>
                <a:lnTo>
                  <a:pt x="79588" y="107551"/>
                </a:lnTo>
                <a:cubicBezTo>
                  <a:pt x="83164" y="107551"/>
                  <a:pt x="86041" y="104674"/>
                  <a:pt x="86041" y="101098"/>
                </a:cubicBezTo>
                <a:cubicBezTo>
                  <a:pt x="86041" y="97522"/>
                  <a:pt x="83164" y="94645"/>
                  <a:pt x="79588" y="94645"/>
                </a:cubicBezTo>
                <a:lnTo>
                  <a:pt x="32265" y="9464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58855" y="6263780"/>
            <a:ext cx="330896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Chemical fingerprinting</a:t>
            </a:r>
            <a:r>
              <a:rPr lang="en-US" sz="108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source apportionment for targeted mitigation strategies</a:t>
            </a:r>
            <a:endParaRPr lang="en-US" sz="1600" dirty="0"/>
          </a:p>
        </p:txBody>
      </p:sp>
      <p:pic>
        <p:nvPicPr>
          <p:cNvPr id="46" name="Picture 45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F25D8F4E-203F-8527-CFEF-5276FBD3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07" y="2333432"/>
            <a:ext cx="7346956" cy="320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579" y="341579"/>
            <a:ext cx="1368007" cy="311141"/>
          </a:xfrm>
          <a:custGeom>
            <a:avLst/>
            <a:gdLst/>
            <a:ahLst/>
            <a:cxnLst/>
            <a:rect l="l" t="t" r="r" b="b"/>
            <a:pathLst>
              <a:path w="1368007" h="311141">
                <a:moveTo>
                  <a:pt x="155571" y="0"/>
                </a:moveTo>
                <a:lnTo>
                  <a:pt x="1212436" y="0"/>
                </a:lnTo>
                <a:cubicBezTo>
                  <a:pt x="1298355" y="0"/>
                  <a:pt x="1368007" y="69651"/>
                  <a:pt x="1368007" y="155571"/>
                </a:cubicBezTo>
                <a:lnTo>
                  <a:pt x="1368007" y="155571"/>
                </a:lnTo>
                <a:cubicBezTo>
                  <a:pt x="1368007" y="241490"/>
                  <a:pt x="1298355" y="311141"/>
                  <a:pt x="1212436" y="311141"/>
                </a:cubicBezTo>
                <a:lnTo>
                  <a:pt x="155571" y="311141"/>
                </a:lnTo>
                <a:cubicBezTo>
                  <a:pt x="69709" y="311141"/>
                  <a:pt x="0" y="241432"/>
                  <a:pt x="0" y="155571"/>
                </a:cubicBezTo>
                <a:lnTo>
                  <a:pt x="0" y="155571"/>
                </a:lnTo>
                <a:cubicBezTo>
                  <a:pt x="0" y="69709"/>
                  <a:pt x="69709" y="0"/>
                  <a:pt x="15557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0240" y="436275"/>
            <a:ext cx="1150715" cy="135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kern="0" spc="47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15272" y="492925"/>
            <a:ext cx="10035994" cy="8455"/>
          </a:xfrm>
          <a:custGeom>
            <a:avLst/>
            <a:gdLst/>
            <a:ahLst/>
            <a:cxnLst/>
            <a:rect l="l" t="t" r="r" b="b"/>
            <a:pathLst>
              <a:path w="10035994" h="8455">
                <a:moveTo>
                  <a:pt x="0" y="0"/>
                </a:moveTo>
                <a:lnTo>
                  <a:pt x="10035994" y="0"/>
                </a:lnTo>
                <a:lnTo>
                  <a:pt x="10035994" y="8455"/>
                </a:lnTo>
                <a:lnTo>
                  <a:pt x="0" y="84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8197" y="757562"/>
            <a:ext cx="11718524" cy="4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9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Trends: Seasonal &amp; Monthly Patterns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197" y="1231038"/>
            <a:ext cx="11600155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analysis for predictive air quality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041" y="1585217"/>
            <a:ext cx="7041599" cy="5204851"/>
          </a:xfrm>
          <a:custGeom>
            <a:avLst/>
            <a:gdLst/>
            <a:ahLst/>
            <a:cxnLst/>
            <a:rect l="l" t="t" r="r" b="b"/>
            <a:pathLst>
              <a:path w="7538410" h="5204851">
                <a:moveTo>
                  <a:pt x="101443" y="0"/>
                </a:moveTo>
                <a:lnTo>
                  <a:pt x="7436967" y="0"/>
                </a:lnTo>
                <a:cubicBezTo>
                  <a:pt x="7492993" y="0"/>
                  <a:pt x="7538410" y="45417"/>
                  <a:pt x="7538410" y="101443"/>
                </a:cubicBezTo>
                <a:lnTo>
                  <a:pt x="7538410" y="5103408"/>
                </a:lnTo>
                <a:cubicBezTo>
                  <a:pt x="7538410" y="5159434"/>
                  <a:pt x="7492993" y="5204851"/>
                  <a:pt x="7436967" y="5204851"/>
                </a:cubicBezTo>
                <a:lnTo>
                  <a:pt x="101443" y="5204851"/>
                </a:lnTo>
                <a:cubicBezTo>
                  <a:pt x="45417" y="5204851"/>
                  <a:pt x="0" y="5159434"/>
                  <a:pt x="0" y="5103408"/>
                </a:cubicBezTo>
                <a:lnTo>
                  <a:pt x="0" y="101443"/>
                </a:lnTo>
                <a:cubicBezTo>
                  <a:pt x="0" y="45455"/>
                  <a:pt x="45455" y="0"/>
                  <a:pt x="10144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20320">
            <a:solidFill>
              <a:srgbClr val="4A6C8C">
                <a:alpha val="5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85765" y="3959864"/>
            <a:ext cx="4455745" cy="304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11130" y="4399520"/>
            <a:ext cx="4405015" cy="4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5378" y="1640256"/>
            <a:ext cx="3752295" cy="2788434"/>
          </a:xfrm>
          <a:custGeom>
            <a:avLst/>
            <a:gdLst/>
            <a:ahLst/>
            <a:cxnLst/>
            <a:rect l="l" t="t" r="r" b="b"/>
            <a:pathLst>
              <a:path w="3752295" h="2788434">
                <a:moveTo>
                  <a:pt x="101471" y="0"/>
                </a:moveTo>
                <a:lnTo>
                  <a:pt x="3650824" y="0"/>
                </a:lnTo>
                <a:cubicBezTo>
                  <a:pt x="3706865" y="0"/>
                  <a:pt x="3752295" y="45430"/>
                  <a:pt x="3752295" y="101471"/>
                </a:cubicBezTo>
                <a:lnTo>
                  <a:pt x="3752295" y="2686963"/>
                </a:lnTo>
                <a:cubicBezTo>
                  <a:pt x="3752295" y="2743004"/>
                  <a:pt x="3706865" y="2788434"/>
                  <a:pt x="3650824" y="2788434"/>
                </a:cubicBezTo>
                <a:lnTo>
                  <a:pt x="101471" y="2788434"/>
                </a:lnTo>
                <a:cubicBezTo>
                  <a:pt x="45430" y="2788434"/>
                  <a:pt x="0" y="2743004"/>
                  <a:pt x="0" y="2686963"/>
                </a:cubicBezTo>
                <a:lnTo>
                  <a:pt x="0" y="101471"/>
                </a:lnTo>
                <a:cubicBezTo>
                  <a:pt x="0" y="45468"/>
                  <a:pt x="45468" y="0"/>
                  <a:pt x="10147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99564" y="1846555"/>
            <a:ext cx="147961" cy="169098"/>
          </a:xfrm>
          <a:custGeom>
            <a:avLst/>
            <a:gdLst/>
            <a:ahLst/>
            <a:cxnLst/>
            <a:rect l="l" t="t" r="r" b="b"/>
            <a:pathLst>
              <a:path w="147961" h="169098">
                <a:moveTo>
                  <a:pt x="42275" y="0"/>
                </a:moveTo>
                <a:cubicBezTo>
                  <a:pt x="48120" y="0"/>
                  <a:pt x="52843" y="4723"/>
                  <a:pt x="52843" y="10569"/>
                </a:cubicBezTo>
                <a:lnTo>
                  <a:pt x="52843" y="21137"/>
                </a:lnTo>
                <a:lnTo>
                  <a:pt x="95118" y="21137"/>
                </a:lnTo>
                <a:lnTo>
                  <a:pt x="95118" y="10569"/>
                </a:lnTo>
                <a:cubicBezTo>
                  <a:pt x="95118" y="4723"/>
                  <a:pt x="99841" y="0"/>
                  <a:pt x="105687" y="0"/>
                </a:cubicBezTo>
                <a:cubicBezTo>
                  <a:pt x="111532" y="0"/>
                  <a:pt x="116255" y="4723"/>
                  <a:pt x="116255" y="10569"/>
                </a:cubicBezTo>
                <a:lnTo>
                  <a:pt x="116255" y="21137"/>
                </a:lnTo>
                <a:lnTo>
                  <a:pt x="126824" y="21137"/>
                </a:lnTo>
                <a:cubicBezTo>
                  <a:pt x="138482" y="21137"/>
                  <a:pt x="147961" y="30616"/>
                  <a:pt x="147961" y="42275"/>
                </a:cubicBezTo>
                <a:lnTo>
                  <a:pt x="147961" y="137393"/>
                </a:lnTo>
                <a:cubicBezTo>
                  <a:pt x="147961" y="149051"/>
                  <a:pt x="138482" y="158530"/>
                  <a:pt x="126824" y="158530"/>
                </a:cubicBezTo>
                <a:lnTo>
                  <a:pt x="21137" y="158530"/>
                </a:lnTo>
                <a:cubicBezTo>
                  <a:pt x="9479" y="158530"/>
                  <a:pt x="0" y="149051"/>
                  <a:pt x="0" y="137393"/>
                </a:cubicBezTo>
                <a:lnTo>
                  <a:pt x="0" y="42275"/>
                </a:lnTo>
                <a:cubicBezTo>
                  <a:pt x="0" y="30616"/>
                  <a:pt x="9479" y="21137"/>
                  <a:pt x="21137" y="21137"/>
                </a:cubicBezTo>
                <a:lnTo>
                  <a:pt x="31706" y="21137"/>
                </a:lnTo>
                <a:lnTo>
                  <a:pt x="31706" y="10569"/>
                </a:lnTo>
                <a:cubicBezTo>
                  <a:pt x="31706" y="4723"/>
                  <a:pt x="36429" y="0"/>
                  <a:pt x="42275" y="0"/>
                </a:cubicBezTo>
                <a:close/>
                <a:moveTo>
                  <a:pt x="21137" y="79265"/>
                </a:moveTo>
                <a:lnTo>
                  <a:pt x="21137" y="89834"/>
                </a:lnTo>
                <a:cubicBezTo>
                  <a:pt x="21137" y="92740"/>
                  <a:pt x="23515" y="95118"/>
                  <a:pt x="26422" y="95118"/>
                </a:cubicBezTo>
                <a:lnTo>
                  <a:pt x="36990" y="95118"/>
                </a:lnTo>
                <a:cubicBezTo>
                  <a:pt x="39897" y="95118"/>
                  <a:pt x="42275" y="92740"/>
                  <a:pt x="42275" y="89834"/>
                </a:cubicBezTo>
                <a:lnTo>
                  <a:pt x="42275" y="79265"/>
                </a:lnTo>
                <a:cubicBezTo>
                  <a:pt x="42275" y="76359"/>
                  <a:pt x="39897" y="73981"/>
                  <a:pt x="36990" y="73981"/>
                </a:cubicBezTo>
                <a:lnTo>
                  <a:pt x="26422" y="73981"/>
                </a:lnTo>
                <a:cubicBezTo>
                  <a:pt x="23515" y="73981"/>
                  <a:pt x="21137" y="76359"/>
                  <a:pt x="21137" y="79265"/>
                </a:cubicBezTo>
                <a:close/>
                <a:moveTo>
                  <a:pt x="63412" y="79265"/>
                </a:moveTo>
                <a:lnTo>
                  <a:pt x="63412" y="89834"/>
                </a:lnTo>
                <a:cubicBezTo>
                  <a:pt x="63412" y="92740"/>
                  <a:pt x="65790" y="95118"/>
                  <a:pt x="68696" y="95118"/>
                </a:cubicBezTo>
                <a:lnTo>
                  <a:pt x="79265" y="95118"/>
                </a:lnTo>
                <a:cubicBezTo>
                  <a:pt x="82171" y="95118"/>
                  <a:pt x="84549" y="92740"/>
                  <a:pt x="84549" y="89834"/>
                </a:cubicBezTo>
                <a:lnTo>
                  <a:pt x="84549" y="79265"/>
                </a:lnTo>
                <a:cubicBezTo>
                  <a:pt x="84549" y="76359"/>
                  <a:pt x="82171" y="73981"/>
                  <a:pt x="79265" y="73981"/>
                </a:cubicBezTo>
                <a:lnTo>
                  <a:pt x="68696" y="73981"/>
                </a:lnTo>
                <a:cubicBezTo>
                  <a:pt x="65790" y="73981"/>
                  <a:pt x="63412" y="76359"/>
                  <a:pt x="63412" y="79265"/>
                </a:cubicBezTo>
                <a:close/>
                <a:moveTo>
                  <a:pt x="110971" y="73981"/>
                </a:moveTo>
                <a:cubicBezTo>
                  <a:pt x="108064" y="73981"/>
                  <a:pt x="105687" y="76359"/>
                  <a:pt x="105687" y="79265"/>
                </a:cubicBezTo>
                <a:lnTo>
                  <a:pt x="105687" y="89834"/>
                </a:lnTo>
                <a:cubicBezTo>
                  <a:pt x="105687" y="92740"/>
                  <a:pt x="108064" y="95118"/>
                  <a:pt x="110971" y="95118"/>
                </a:cubicBezTo>
                <a:lnTo>
                  <a:pt x="121540" y="95118"/>
                </a:lnTo>
                <a:cubicBezTo>
                  <a:pt x="124446" y="95118"/>
                  <a:pt x="126824" y="92740"/>
                  <a:pt x="126824" y="89834"/>
                </a:cubicBezTo>
                <a:lnTo>
                  <a:pt x="126824" y="79265"/>
                </a:lnTo>
                <a:cubicBezTo>
                  <a:pt x="126824" y="76359"/>
                  <a:pt x="124446" y="73981"/>
                  <a:pt x="121540" y="73981"/>
                </a:cubicBezTo>
                <a:lnTo>
                  <a:pt x="110971" y="73981"/>
                </a:lnTo>
                <a:close/>
                <a:moveTo>
                  <a:pt x="21137" y="121540"/>
                </a:moveTo>
                <a:lnTo>
                  <a:pt x="21137" y="132108"/>
                </a:lnTo>
                <a:cubicBezTo>
                  <a:pt x="21137" y="135015"/>
                  <a:pt x="23515" y="137393"/>
                  <a:pt x="26422" y="137393"/>
                </a:cubicBezTo>
                <a:lnTo>
                  <a:pt x="36990" y="137393"/>
                </a:lnTo>
                <a:cubicBezTo>
                  <a:pt x="39897" y="137393"/>
                  <a:pt x="42275" y="135015"/>
                  <a:pt x="42275" y="132108"/>
                </a:cubicBezTo>
                <a:lnTo>
                  <a:pt x="42275" y="121540"/>
                </a:lnTo>
                <a:cubicBezTo>
                  <a:pt x="42275" y="118633"/>
                  <a:pt x="39897" y="116255"/>
                  <a:pt x="36990" y="116255"/>
                </a:cubicBezTo>
                <a:lnTo>
                  <a:pt x="26422" y="116255"/>
                </a:lnTo>
                <a:cubicBezTo>
                  <a:pt x="23515" y="116255"/>
                  <a:pt x="21137" y="118633"/>
                  <a:pt x="21137" y="121540"/>
                </a:cubicBezTo>
                <a:close/>
                <a:moveTo>
                  <a:pt x="68696" y="116255"/>
                </a:moveTo>
                <a:cubicBezTo>
                  <a:pt x="65790" y="116255"/>
                  <a:pt x="63412" y="118633"/>
                  <a:pt x="63412" y="121540"/>
                </a:cubicBezTo>
                <a:lnTo>
                  <a:pt x="63412" y="132108"/>
                </a:lnTo>
                <a:cubicBezTo>
                  <a:pt x="63412" y="135015"/>
                  <a:pt x="65790" y="137393"/>
                  <a:pt x="68696" y="137393"/>
                </a:cubicBezTo>
                <a:lnTo>
                  <a:pt x="79265" y="137393"/>
                </a:lnTo>
                <a:cubicBezTo>
                  <a:pt x="82171" y="137393"/>
                  <a:pt x="84549" y="135015"/>
                  <a:pt x="84549" y="132108"/>
                </a:cubicBezTo>
                <a:lnTo>
                  <a:pt x="84549" y="121540"/>
                </a:lnTo>
                <a:cubicBezTo>
                  <a:pt x="84549" y="118633"/>
                  <a:pt x="82171" y="116255"/>
                  <a:pt x="79265" y="116255"/>
                </a:cubicBezTo>
                <a:lnTo>
                  <a:pt x="68696" y="116255"/>
                </a:lnTo>
                <a:close/>
                <a:moveTo>
                  <a:pt x="105687" y="121540"/>
                </a:moveTo>
                <a:lnTo>
                  <a:pt x="105687" y="132108"/>
                </a:lnTo>
                <a:cubicBezTo>
                  <a:pt x="105687" y="135015"/>
                  <a:pt x="108064" y="137393"/>
                  <a:pt x="110971" y="137393"/>
                </a:cubicBezTo>
                <a:lnTo>
                  <a:pt x="121540" y="137393"/>
                </a:lnTo>
                <a:cubicBezTo>
                  <a:pt x="124446" y="137393"/>
                  <a:pt x="126824" y="135015"/>
                  <a:pt x="126824" y="132108"/>
                </a:cubicBezTo>
                <a:lnTo>
                  <a:pt x="126824" y="121540"/>
                </a:lnTo>
                <a:cubicBezTo>
                  <a:pt x="126824" y="118633"/>
                  <a:pt x="124446" y="116255"/>
                  <a:pt x="121540" y="116255"/>
                </a:cubicBezTo>
                <a:lnTo>
                  <a:pt x="110971" y="116255"/>
                </a:lnTo>
                <a:cubicBezTo>
                  <a:pt x="108064" y="116255"/>
                  <a:pt x="105687" y="118633"/>
                  <a:pt x="105687" y="12154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79232" y="1812735"/>
            <a:ext cx="3280510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 Patterns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1240" y="2188133"/>
            <a:ext cx="3405643" cy="615518"/>
          </a:xfrm>
          <a:custGeom>
            <a:avLst/>
            <a:gdLst/>
            <a:ahLst/>
            <a:cxnLst/>
            <a:rect l="l" t="t" r="r" b="b"/>
            <a:pathLst>
              <a:path w="3405643" h="615518">
                <a:moveTo>
                  <a:pt x="67639" y="0"/>
                </a:moveTo>
                <a:lnTo>
                  <a:pt x="3338004" y="0"/>
                </a:lnTo>
                <a:cubicBezTo>
                  <a:pt x="3375360" y="0"/>
                  <a:pt x="3405643" y="30283"/>
                  <a:pt x="3405643" y="67639"/>
                </a:cubicBezTo>
                <a:lnTo>
                  <a:pt x="3405643" y="547879"/>
                </a:lnTo>
                <a:cubicBezTo>
                  <a:pt x="3405643" y="585235"/>
                  <a:pt x="3375360" y="615518"/>
                  <a:pt x="3338004" y="615518"/>
                </a:cubicBezTo>
                <a:lnTo>
                  <a:pt x="67639" y="615518"/>
                </a:lnTo>
                <a:cubicBezTo>
                  <a:pt x="30283" y="615518"/>
                  <a:pt x="0" y="585235"/>
                  <a:pt x="0" y="547879"/>
                </a:cubicBezTo>
                <a:lnTo>
                  <a:pt x="0" y="67639"/>
                </a:lnTo>
                <a:cubicBezTo>
                  <a:pt x="0" y="30308"/>
                  <a:pt x="30308" y="0"/>
                  <a:pt x="676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76081" y="2292977"/>
            <a:ext cx="1116050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Winter (Nov-Feb)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21521" y="2309887"/>
            <a:ext cx="608755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6081" y="2529715"/>
            <a:ext cx="3255146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PM₂.₅/PM₁₀ peaks due to inversion &amp; heating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71240" y="2911876"/>
            <a:ext cx="3405643" cy="615518"/>
          </a:xfrm>
          <a:custGeom>
            <a:avLst/>
            <a:gdLst/>
            <a:ahLst/>
            <a:cxnLst/>
            <a:rect l="l" t="t" r="r" b="b"/>
            <a:pathLst>
              <a:path w="3405643" h="615518">
                <a:moveTo>
                  <a:pt x="67639" y="0"/>
                </a:moveTo>
                <a:lnTo>
                  <a:pt x="3338004" y="0"/>
                </a:lnTo>
                <a:cubicBezTo>
                  <a:pt x="3375360" y="0"/>
                  <a:pt x="3405643" y="30283"/>
                  <a:pt x="3405643" y="67639"/>
                </a:cubicBezTo>
                <a:lnTo>
                  <a:pt x="3405643" y="547879"/>
                </a:lnTo>
                <a:cubicBezTo>
                  <a:pt x="3405643" y="585235"/>
                  <a:pt x="3375360" y="615518"/>
                  <a:pt x="3338004" y="615518"/>
                </a:cubicBezTo>
                <a:lnTo>
                  <a:pt x="67639" y="615518"/>
                </a:lnTo>
                <a:cubicBezTo>
                  <a:pt x="30283" y="615518"/>
                  <a:pt x="0" y="585235"/>
                  <a:pt x="0" y="547879"/>
                </a:cubicBezTo>
                <a:lnTo>
                  <a:pt x="0" y="67639"/>
                </a:lnTo>
                <a:cubicBezTo>
                  <a:pt x="0" y="30308"/>
                  <a:pt x="30308" y="0"/>
                  <a:pt x="676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FF9F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76081" y="3016719"/>
            <a:ext cx="1166779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(Mar-Jun)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62020" y="3033629"/>
            <a:ext cx="667939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dirty="0">
                <a:solidFill>
                  <a:srgbClr val="FF9F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76081" y="3253457"/>
            <a:ext cx="3255146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dispersion, but dust storms increase PM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71240" y="3635618"/>
            <a:ext cx="3405643" cy="615518"/>
          </a:xfrm>
          <a:custGeom>
            <a:avLst/>
            <a:gdLst/>
            <a:ahLst/>
            <a:cxnLst/>
            <a:rect l="l" t="t" r="r" b="b"/>
            <a:pathLst>
              <a:path w="3405643" h="615518">
                <a:moveTo>
                  <a:pt x="67639" y="0"/>
                </a:moveTo>
                <a:lnTo>
                  <a:pt x="3338004" y="0"/>
                </a:lnTo>
                <a:cubicBezTo>
                  <a:pt x="3375360" y="0"/>
                  <a:pt x="3405643" y="30283"/>
                  <a:pt x="3405643" y="67639"/>
                </a:cubicBezTo>
                <a:lnTo>
                  <a:pt x="3405643" y="547879"/>
                </a:lnTo>
                <a:cubicBezTo>
                  <a:pt x="3405643" y="585235"/>
                  <a:pt x="3375360" y="615518"/>
                  <a:pt x="3338004" y="615518"/>
                </a:cubicBezTo>
                <a:lnTo>
                  <a:pt x="67639" y="615518"/>
                </a:lnTo>
                <a:cubicBezTo>
                  <a:pt x="30283" y="615518"/>
                  <a:pt x="0" y="585235"/>
                  <a:pt x="0" y="547879"/>
                </a:cubicBezTo>
                <a:lnTo>
                  <a:pt x="0" y="67639"/>
                </a:lnTo>
                <a:cubicBezTo>
                  <a:pt x="0" y="30308"/>
                  <a:pt x="30308" y="0"/>
                  <a:pt x="676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76081" y="3740457"/>
            <a:ext cx="1158325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Monsoon (Jul-Oct)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25009" y="3757367"/>
            <a:ext cx="600300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76081" y="3977195"/>
            <a:ext cx="3255146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Rainfall washes out particulates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95378" y="4569041"/>
            <a:ext cx="3752295" cy="1427191"/>
          </a:xfrm>
          <a:custGeom>
            <a:avLst/>
            <a:gdLst/>
            <a:ahLst/>
            <a:cxnLst/>
            <a:rect l="l" t="t" r="r" b="b"/>
            <a:pathLst>
              <a:path w="3752295" h="1427191">
                <a:moveTo>
                  <a:pt x="101459" y="0"/>
                </a:moveTo>
                <a:lnTo>
                  <a:pt x="3650836" y="0"/>
                </a:lnTo>
                <a:cubicBezTo>
                  <a:pt x="3706870" y="0"/>
                  <a:pt x="3752295" y="45425"/>
                  <a:pt x="3752295" y="101459"/>
                </a:cubicBezTo>
                <a:lnTo>
                  <a:pt x="3752295" y="1325732"/>
                </a:lnTo>
                <a:cubicBezTo>
                  <a:pt x="3752295" y="1381766"/>
                  <a:pt x="3706870" y="1427191"/>
                  <a:pt x="3650836" y="1427191"/>
                </a:cubicBezTo>
                <a:lnTo>
                  <a:pt x="101459" y="1427191"/>
                </a:lnTo>
                <a:cubicBezTo>
                  <a:pt x="45425" y="1427191"/>
                  <a:pt x="0" y="1381766"/>
                  <a:pt x="0" y="1325732"/>
                </a:cubicBezTo>
                <a:lnTo>
                  <a:pt x="0" y="101459"/>
                </a:lnTo>
                <a:cubicBezTo>
                  <a:pt x="0" y="45425"/>
                  <a:pt x="45425" y="0"/>
                  <a:pt x="10145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88996" y="4783798"/>
            <a:ext cx="152189" cy="152189"/>
          </a:xfrm>
          <a:custGeom>
            <a:avLst/>
            <a:gdLst/>
            <a:ahLst/>
            <a:cxnLst/>
            <a:rect l="l" t="t" r="r" b="b"/>
            <a:pathLst>
              <a:path w="152189" h="152189">
                <a:moveTo>
                  <a:pt x="76094" y="0"/>
                </a:moveTo>
                <a:cubicBezTo>
                  <a:pt x="118092" y="0"/>
                  <a:pt x="152189" y="34097"/>
                  <a:pt x="152189" y="76094"/>
                </a:cubicBezTo>
                <a:cubicBezTo>
                  <a:pt x="152189" y="118092"/>
                  <a:pt x="118092" y="152189"/>
                  <a:pt x="76094" y="152189"/>
                </a:cubicBezTo>
                <a:cubicBezTo>
                  <a:pt x="34097" y="152189"/>
                  <a:pt x="0" y="118092"/>
                  <a:pt x="0" y="76094"/>
                </a:cubicBezTo>
                <a:cubicBezTo>
                  <a:pt x="0" y="34097"/>
                  <a:pt x="34097" y="0"/>
                  <a:pt x="76094" y="0"/>
                </a:cubicBezTo>
                <a:close/>
                <a:moveTo>
                  <a:pt x="68960" y="35669"/>
                </a:moveTo>
                <a:lnTo>
                  <a:pt x="68960" y="76094"/>
                </a:lnTo>
                <a:cubicBezTo>
                  <a:pt x="68960" y="78472"/>
                  <a:pt x="70149" y="80702"/>
                  <a:pt x="72141" y="82039"/>
                </a:cubicBezTo>
                <a:lnTo>
                  <a:pt x="100676" y="101063"/>
                </a:lnTo>
                <a:cubicBezTo>
                  <a:pt x="103946" y="103262"/>
                  <a:pt x="108375" y="102371"/>
                  <a:pt x="110575" y="99071"/>
                </a:cubicBezTo>
                <a:cubicBezTo>
                  <a:pt x="112774" y="95772"/>
                  <a:pt x="111882" y="91373"/>
                  <a:pt x="108583" y="89173"/>
                </a:cubicBezTo>
                <a:lnTo>
                  <a:pt x="83228" y="72290"/>
                </a:lnTo>
                <a:lnTo>
                  <a:pt x="83228" y="35669"/>
                </a:lnTo>
                <a:cubicBezTo>
                  <a:pt x="83228" y="31716"/>
                  <a:pt x="80048" y="28535"/>
                  <a:pt x="76094" y="28535"/>
                </a:cubicBezTo>
                <a:cubicBezTo>
                  <a:pt x="72141" y="28535"/>
                  <a:pt x="68960" y="31716"/>
                  <a:pt x="68960" y="3566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462322" y="4741524"/>
            <a:ext cx="3288965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Diurnal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7859" y="5147360"/>
            <a:ext cx="67639" cy="67639"/>
          </a:xfrm>
          <a:custGeom>
            <a:avLst/>
            <a:gdLst/>
            <a:ahLst/>
            <a:cxnLst/>
            <a:rect l="l" t="t" r="r" b="b"/>
            <a:pathLst>
              <a:path w="67639" h="67639">
                <a:moveTo>
                  <a:pt x="33820" y="0"/>
                </a:moveTo>
                <a:lnTo>
                  <a:pt x="33820" y="0"/>
                </a:lnTo>
                <a:cubicBezTo>
                  <a:pt x="52498" y="0"/>
                  <a:pt x="67639" y="15142"/>
                  <a:pt x="67639" y="33820"/>
                </a:cubicBezTo>
                <a:lnTo>
                  <a:pt x="67639" y="33820"/>
                </a:lnTo>
                <a:cubicBezTo>
                  <a:pt x="67639" y="52498"/>
                  <a:pt x="52498" y="67639"/>
                  <a:pt x="33820" y="67639"/>
                </a:cubicBezTo>
                <a:lnTo>
                  <a:pt x="33820" y="67639"/>
                </a:lnTo>
                <a:cubicBezTo>
                  <a:pt x="15142" y="67639"/>
                  <a:pt x="0" y="52498"/>
                  <a:pt x="0" y="33820"/>
                </a:cubicBezTo>
                <a:lnTo>
                  <a:pt x="0" y="33820"/>
                </a:lnTo>
                <a:cubicBezTo>
                  <a:pt x="0" y="15142"/>
                  <a:pt x="15142" y="0"/>
                  <a:pt x="3382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403137" y="5079721"/>
            <a:ext cx="2147551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 peak (8-10 AM): Rush hour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7859" y="5417918"/>
            <a:ext cx="67639" cy="67639"/>
          </a:xfrm>
          <a:custGeom>
            <a:avLst/>
            <a:gdLst/>
            <a:ahLst/>
            <a:cxnLst/>
            <a:rect l="l" t="t" r="r" b="b"/>
            <a:pathLst>
              <a:path w="67639" h="67639">
                <a:moveTo>
                  <a:pt x="33820" y="0"/>
                </a:moveTo>
                <a:lnTo>
                  <a:pt x="33820" y="0"/>
                </a:lnTo>
                <a:cubicBezTo>
                  <a:pt x="52498" y="0"/>
                  <a:pt x="67639" y="15142"/>
                  <a:pt x="67639" y="33820"/>
                </a:cubicBezTo>
                <a:lnTo>
                  <a:pt x="67639" y="33820"/>
                </a:lnTo>
                <a:cubicBezTo>
                  <a:pt x="67639" y="52498"/>
                  <a:pt x="52498" y="67639"/>
                  <a:pt x="33820" y="67639"/>
                </a:cubicBezTo>
                <a:lnTo>
                  <a:pt x="33820" y="67639"/>
                </a:lnTo>
                <a:cubicBezTo>
                  <a:pt x="15142" y="67639"/>
                  <a:pt x="0" y="52498"/>
                  <a:pt x="0" y="33820"/>
                </a:cubicBezTo>
                <a:lnTo>
                  <a:pt x="0" y="33820"/>
                </a:lnTo>
                <a:cubicBezTo>
                  <a:pt x="0" y="15142"/>
                  <a:pt x="15142" y="0"/>
                  <a:pt x="3382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403137" y="5350278"/>
            <a:ext cx="2215190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Evening peak (5-8 PM): Return traffic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7859" y="5688475"/>
            <a:ext cx="67639" cy="67639"/>
          </a:xfrm>
          <a:custGeom>
            <a:avLst/>
            <a:gdLst/>
            <a:ahLst/>
            <a:cxnLst/>
            <a:rect l="l" t="t" r="r" b="b"/>
            <a:pathLst>
              <a:path w="67639" h="67639">
                <a:moveTo>
                  <a:pt x="33820" y="0"/>
                </a:moveTo>
                <a:lnTo>
                  <a:pt x="33820" y="0"/>
                </a:lnTo>
                <a:cubicBezTo>
                  <a:pt x="52498" y="0"/>
                  <a:pt x="67639" y="15142"/>
                  <a:pt x="67639" y="33820"/>
                </a:cubicBezTo>
                <a:lnTo>
                  <a:pt x="67639" y="33820"/>
                </a:lnTo>
                <a:cubicBezTo>
                  <a:pt x="67639" y="52498"/>
                  <a:pt x="52498" y="67639"/>
                  <a:pt x="33820" y="67639"/>
                </a:cubicBezTo>
                <a:lnTo>
                  <a:pt x="33820" y="67639"/>
                </a:lnTo>
                <a:cubicBezTo>
                  <a:pt x="15142" y="67639"/>
                  <a:pt x="0" y="52498"/>
                  <a:pt x="0" y="33820"/>
                </a:cubicBezTo>
                <a:lnTo>
                  <a:pt x="0" y="33820"/>
                </a:lnTo>
                <a:cubicBezTo>
                  <a:pt x="0" y="15142"/>
                  <a:pt x="15142" y="0"/>
                  <a:pt x="3382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403137" y="5620836"/>
            <a:ext cx="2181370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Mid-day lull: Lowest pollution levels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95378" y="6138275"/>
            <a:ext cx="3752295" cy="716978"/>
          </a:xfrm>
          <a:custGeom>
            <a:avLst/>
            <a:gdLst/>
            <a:ahLst/>
            <a:cxnLst/>
            <a:rect l="l" t="t" r="r" b="b"/>
            <a:pathLst>
              <a:path w="3752295" h="716978">
                <a:moveTo>
                  <a:pt x="101459" y="0"/>
                </a:moveTo>
                <a:lnTo>
                  <a:pt x="3650836" y="0"/>
                </a:lnTo>
                <a:cubicBezTo>
                  <a:pt x="3706870" y="0"/>
                  <a:pt x="3752295" y="45425"/>
                  <a:pt x="3752295" y="101459"/>
                </a:cubicBezTo>
                <a:lnTo>
                  <a:pt x="3752295" y="615518"/>
                </a:lnTo>
                <a:cubicBezTo>
                  <a:pt x="3752295" y="671553"/>
                  <a:pt x="3706870" y="716978"/>
                  <a:pt x="3650836" y="716978"/>
                </a:cubicBezTo>
                <a:lnTo>
                  <a:pt x="101459" y="716978"/>
                </a:lnTo>
                <a:cubicBezTo>
                  <a:pt x="45425" y="716978"/>
                  <a:pt x="0" y="671553"/>
                  <a:pt x="0" y="615518"/>
                </a:cubicBezTo>
                <a:lnTo>
                  <a:pt x="0" y="101459"/>
                </a:lnTo>
                <a:cubicBezTo>
                  <a:pt x="0" y="45425"/>
                  <a:pt x="45425" y="0"/>
                  <a:pt x="10145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5000"/>
                </a:srgbClr>
              </a:gs>
              <a:gs pos="100000">
                <a:srgbClr val="4A6C8C">
                  <a:alpha val="15000"/>
                </a:srgbClr>
              </a:gs>
            </a:gsLst>
            <a:lin ang="2700000" scaled="1"/>
          </a:gra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59404" y="6310754"/>
            <a:ext cx="118369" cy="135279"/>
          </a:xfrm>
          <a:custGeom>
            <a:avLst/>
            <a:gdLst/>
            <a:ahLst/>
            <a:cxnLst/>
            <a:rect l="l" t="t" r="r" b="b"/>
            <a:pathLst>
              <a:path w="118369" h="135279">
                <a:moveTo>
                  <a:pt x="59184" y="0"/>
                </a:moveTo>
                <a:cubicBezTo>
                  <a:pt x="54508" y="0"/>
                  <a:pt x="50730" y="3778"/>
                  <a:pt x="50730" y="8455"/>
                </a:cubicBezTo>
                <a:lnTo>
                  <a:pt x="50730" y="9300"/>
                </a:lnTo>
                <a:cubicBezTo>
                  <a:pt x="31442" y="13211"/>
                  <a:pt x="16910" y="30279"/>
                  <a:pt x="16910" y="50730"/>
                </a:cubicBezTo>
                <a:lnTo>
                  <a:pt x="16910" y="56463"/>
                </a:lnTo>
                <a:cubicBezTo>
                  <a:pt x="16910" y="69172"/>
                  <a:pt x="12577" y="81511"/>
                  <a:pt x="4650" y="91445"/>
                </a:cubicBezTo>
                <a:lnTo>
                  <a:pt x="2061" y="94669"/>
                </a:lnTo>
                <a:cubicBezTo>
                  <a:pt x="713" y="96333"/>
                  <a:pt x="0" y="98394"/>
                  <a:pt x="0" y="100534"/>
                </a:cubicBezTo>
                <a:cubicBezTo>
                  <a:pt x="0" y="105713"/>
                  <a:pt x="4201" y="109914"/>
                  <a:pt x="9380" y="109914"/>
                </a:cubicBezTo>
                <a:lnTo>
                  <a:pt x="108963" y="109914"/>
                </a:lnTo>
                <a:cubicBezTo>
                  <a:pt x="114141" y="109914"/>
                  <a:pt x="118343" y="105713"/>
                  <a:pt x="118343" y="100534"/>
                </a:cubicBezTo>
                <a:cubicBezTo>
                  <a:pt x="118343" y="98394"/>
                  <a:pt x="117629" y="96333"/>
                  <a:pt x="116282" y="94669"/>
                </a:cubicBezTo>
                <a:lnTo>
                  <a:pt x="113692" y="91445"/>
                </a:lnTo>
                <a:cubicBezTo>
                  <a:pt x="105792" y="81511"/>
                  <a:pt x="101459" y="69172"/>
                  <a:pt x="101459" y="56463"/>
                </a:cubicBezTo>
                <a:lnTo>
                  <a:pt x="101459" y="50730"/>
                </a:lnTo>
                <a:cubicBezTo>
                  <a:pt x="101459" y="30279"/>
                  <a:pt x="86927" y="13211"/>
                  <a:pt x="67639" y="9300"/>
                </a:cubicBezTo>
                <a:lnTo>
                  <a:pt x="67639" y="8455"/>
                </a:lnTo>
                <a:cubicBezTo>
                  <a:pt x="67639" y="3778"/>
                  <a:pt x="63861" y="0"/>
                  <a:pt x="59184" y="0"/>
                </a:cubicBezTo>
                <a:close/>
                <a:moveTo>
                  <a:pt x="42803" y="122596"/>
                </a:moveTo>
                <a:cubicBezTo>
                  <a:pt x="44679" y="129889"/>
                  <a:pt x="51311" y="135279"/>
                  <a:pt x="59184" y="135279"/>
                </a:cubicBezTo>
                <a:cubicBezTo>
                  <a:pt x="67058" y="135279"/>
                  <a:pt x="73690" y="129889"/>
                  <a:pt x="75566" y="122596"/>
                </a:cubicBezTo>
                <a:lnTo>
                  <a:pt x="42803" y="122596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48168" y="6276935"/>
            <a:ext cx="3328484" cy="43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capability:</a:t>
            </a:r>
            <a:r>
              <a:rPr lang="en-US" sz="106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high-risk periods for early public health warnings</a:t>
            </a:r>
            <a:endParaRPr lang="en-US" sz="1600" dirty="0"/>
          </a:p>
        </p:txBody>
      </p:sp>
      <p:pic>
        <p:nvPicPr>
          <p:cNvPr id="44" name="Picture 4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509F46E-12CD-A6E7-E92C-B152F81E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47" y="1658695"/>
            <a:ext cx="6103567" cy="5057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67FA3F-C7AF-6893-A3DE-5DCF5DDD1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761" y="1939981"/>
            <a:ext cx="1905266" cy="18004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242" y="363242"/>
            <a:ext cx="1167051" cy="330874"/>
          </a:xfrm>
          <a:custGeom>
            <a:avLst/>
            <a:gdLst/>
            <a:ahLst/>
            <a:cxnLst/>
            <a:rect l="l" t="t" r="r" b="b"/>
            <a:pathLst>
              <a:path w="1167051" h="330874">
                <a:moveTo>
                  <a:pt x="165437" y="0"/>
                </a:moveTo>
                <a:lnTo>
                  <a:pt x="1001614" y="0"/>
                </a:lnTo>
                <a:cubicBezTo>
                  <a:pt x="1092983" y="0"/>
                  <a:pt x="1167051" y="74069"/>
                  <a:pt x="1167051" y="165437"/>
                </a:cubicBezTo>
                <a:lnTo>
                  <a:pt x="1167051" y="165437"/>
                </a:lnTo>
                <a:cubicBezTo>
                  <a:pt x="1167051" y="256806"/>
                  <a:pt x="1092983" y="330874"/>
                  <a:pt x="1001614" y="330874"/>
                </a:cubicBezTo>
                <a:lnTo>
                  <a:pt x="165437" y="330874"/>
                </a:lnTo>
                <a:cubicBezTo>
                  <a:pt x="74069" y="330874"/>
                  <a:pt x="0" y="256806"/>
                  <a:pt x="0" y="165437"/>
                </a:cubicBezTo>
                <a:lnTo>
                  <a:pt x="0" y="165437"/>
                </a:lnTo>
                <a:cubicBezTo>
                  <a:pt x="0" y="74069"/>
                  <a:pt x="74069" y="0"/>
                  <a:pt x="16543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0697" y="463949"/>
            <a:ext cx="930584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kern="0" spc="5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37289" y="524182"/>
            <a:ext cx="10195965" cy="8991"/>
          </a:xfrm>
          <a:custGeom>
            <a:avLst/>
            <a:gdLst/>
            <a:ahLst/>
            <a:cxnLst/>
            <a:rect l="l" t="t" r="r" b="b"/>
            <a:pathLst>
              <a:path w="10195965" h="8991">
                <a:moveTo>
                  <a:pt x="0" y="0"/>
                </a:moveTo>
                <a:lnTo>
                  <a:pt x="10195965" y="0"/>
                </a:lnTo>
                <a:lnTo>
                  <a:pt x="10195965" y="8991"/>
                </a:lnTo>
                <a:lnTo>
                  <a:pt x="0" y="899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59646" y="805612"/>
            <a:ext cx="11688496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Policy 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9646" y="1309117"/>
            <a:ext cx="1156261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data insights into actionable urban policy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6839" y="1747885"/>
            <a:ext cx="5633855" cy="2945501"/>
          </a:xfrm>
          <a:custGeom>
            <a:avLst/>
            <a:gdLst/>
            <a:ahLst/>
            <a:cxnLst/>
            <a:rect l="l" t="t" r="r" b="b"/>
            <a:pathLst>
              <a:path w="5633855" h="2945501">
                <a:moveTo>
                  <a:pt x="107894" y="0"/>
                </a:moveTo>
                <a:lnTo>
                  <a:pt x="5525961" y="0"/>
                </a:lnTo>
                <a:cubicBezTo>
                  <a:pt x="5585549" y="0"/>
                  <a:pt x="5633855" y="48306"/>
                  <a:pt x="5633855" y="107894"/>
                </a:cubicBezTo>
                <a:lnTo>
                  <a:pt x="5633855" y="2837607"/>
                </a:lnTo>
                <a:cubicBezTo>
                  <a:pt x="5633855" y="2897195"/>
                  <a:pt x="5585549" y="2945501"/>
                  <a:pt x="5525961" y="2945501"/>
                </a:cubicBezTo>
                <a:lnTo>
                  <a:pt x="107894" y="2945501"/>
                </a:lnTo>
                <a:cubicBezTo>
                  <a:pt x="48306" y="2945501"/>
                  <a:pt x="0" y="2897195"/>
                  <a:pt x="0" y="2837607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2032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3416" y="1974458"/>
            <a:ext cx="564644" cy="564644"/>
          </a:xfrm>
          <a:custGeom>
            <a:avLst/>
            <a:gdLst/>
            <a:ahLst/>
            <a:cxnLst/>
            <a:rect l="l" t="t" r="r" b="b"/>
            <a:pathLst>
              <a:path w="564644" h="564644">
                <a:moveTo>
                  <a:pt x="107892" y="0"/>
                </a:moveTo>
                <a:lnTo>
                  <a:pt x="456752" y="0"/>
                </a:lnTo>
                <a:cubicBezTo>
                  <a:pt x="516339" y="0"/>
                  <a:pt x="564644" y="48305"/>
                  <a:pt x="564644" y="107892"/>
                </a:cubicBezTo>
                <a:lnTo>
                  <a:pt x="564644" y="456752"/>
                </a:lnTo>
                <a:cubicBezTo>
                  <a:pt x="564644" y="516339"/>
                  <a:pt x="516339" y="564644"/>
                  <a:pt x="456752" y="564644"/>
                </a:cubicBezTo>
                <a:lnTo>
                  <a:pt x="107892" y="564644"/>
                </a:lnTo>
                <a:cubicBezTo>
                  <a:pt x="48305" y="564644"/>
                  <a:pt x="0" y="516339"/>
                  <a:pt x="0" y="456752"/>
                </a:cubicBezTo>
                <a:lnTo>
                  <a:pt x="0" y="107892"/>
                </a:lnTo>
                <a:cubicBezTo>
                  <a:pt x="0" y="48345"/>
                  <a:pt x="48345" y="0"/>
                  <a:pt x="107892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016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4917" y="2123711"/>
            <a:ext cx="269735" cy="269735"/>
          </a:xfrm>
          <a:custGeom>
            <a:avLst/>
            <a:gdLst/>
            <a:ahLst/>
            <a:cxnLst/>
            <a:rect l="l" t="t" r="r" b="b"/>
            <a:pathLst>
              <a:path w="269735" h="269735">
                <a:moveTo>
                  <a:pt x="177013" y="185442"/>
                </a:moveTo>
                <a:cubicBezTo>
                  <a:pt x="228221" y="185442"/>
                  <a:pt x="269735" y="143929"/>
                  <a:pt x="269735" y="92721"/>
                </a:cubicBezTo>
                <a:cubicBezTo>
                  <a:pt x="269735" y="41514"/>
                  <a:pt x="228221" y="0"/>
                  <a:pt x="177013" y="0"/>
                </a:cubicBezTo>
                <a:cubicBezTo>
                  <a:pt x="125806" y="0"/>
                  <a:pt x="84292" y="41514"/>
                  <a:pt x="84292" y="92721"/>
                </a:cubicBezTo>
                <a:cubicBezTo>
                  <a:pt x="84292" y="102573"/>
                  <a:pt x="85820" y="112108"/>
                  <a:pt x="88665" y="121012"/>
                </a:cubicBezTo>
                <a:lnTo>
                  <a:pt x="3688" y="205989"/>
                </a:lnTo>
                <a:cubicBezTo>
                  <a:pt x="1317" y="208359"/>
                  <a:pt x="0" y="211573"/>
                  <a:pt x="0" y="214945"/>
                </a:cubicBezTo>
                <a:lnTo>
                  <a:pt x="0" y="257091"/>
                </a:lnTo>
                <a:cubicBezTo>
                  <a:pt x="0" y="264097"/>
                  <a:pt x="5637" y="269735"/>
                  <a:pt x="12644" y="269735"/>
                </a:cubicBezTo>
                <a:lnTo>
                  <a:pt x="54790" y="269735"/>
                </a:lnTo>
                <a:cubicBezTo>
                  <a:pt x="61797" y="269735"/>
                  <a:pt x="67434" y="264097"/>
                  <a:pt x="67434" y="257091"/>
                </a:cubicBezTo>
                <a:lnTo>
                  <a:pt x="67434" y="236018"/>
                </a:lnTo>
                <a:lnTo>
                  <a:pt x="88507" y="236018"/>
                </a:lnTo>
                <a:cubicBezTo>
                  <a:pt x="95513" y="236018"/>
                  <a:pt x="101150" y="230381"/>
                  <a:pt x="101150" y="223374"/>
                </a:cubicBezTo>
                <a:lnTo>
                  <a:pt x="101150" y="202301"/>
                </a:lnTo>
                <a:lnTo>
                  <a:pt x="122223" y="202301"/>
                </a:lnTo>
                <a:cubicBezTo>
                  <a:pt x="125595" y="202301"/>
                  <a:pt x="128809" y="200984"/>
                  <a:pt x="131179" y="198613"/>
                </a:cubicBezTo>
                <a:lnTo>
                  <a:pt x="148723" y="181070"/>
                </a:lnTo>
                <a:cubicBezTo>
                  <a:pt x="157626" y="183915"/>
                  <a:pt x="167162" y="185442"/>
                  <a:pt x="177013" y="185442"/>
                </a:cubicBezTo>
                <a:close/>
                <a:moveTo>
                  <a:pt x="198086" y="50575"/>
                </a:moveTo>
                <a:cubicBezTo>
                  <a:pt x="209717" y="50575"/>
                  <a:pt x="219159" y="60018"/>
                  <a:pt x="219159" y="71648"/>
                </a:cubicBezTo>
                <a:cubicBezTo>
                  <a:pt x="219159" y="83279"/>
                  <a:pt x="209717" y="92721"/>
                  <a:pt x="198086" y="92721"/>
                </a:cubicBezTo>
                <a:cubicBezTo>
                  <a:pt x="186456" y="92721"/>
                  <a:pt x="177013" y="83279"/>
                  <a:pt x="177013" y="71648"/>
                </a:cubicBezTo>
                <a:cubicBezTo>
                  <a:pt x="177013" y="60018"/>
                  <a:pt x="186456" y="50575"/>
                  <a:pt x="198086" y="5057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09112" y="2096738"/>
            <a:ext cx="1447575" cy="32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9819" y="2726119"/>
            <a:ext cx="5268814" cy="53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4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congestion is the primary driver</a:t>
            </a:r>
            <a:r>
              <a:rPr lang="en-US" sz="127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PM₂.₅ and NO₂ spikes, directly correlating with "Unhealthy" AQI categories across monitored urban areas.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3416" y="3399556"/>
            <a:ext cx="2533706" cy="762450"/>
          </a:xfrm>
          <a:custGeom>
            <a:avLst/>
            <a:gdLst/>
            <a:ahLst/>
            <a:cxnLst/>
            <a:rect l="l" t="t" r="r" b="b"/>
            <a:pathLst>
              <a:path w="2533706" h="762450">
                <a:moveTo>
                  <a:pt x="71929" y="0"/>
                </a:moveTo>
                <a:lnTo>
                  <a:pt x="2461777" y="0"/>
                </a:lnTo>
                <a:cubicBezTo>
                  <a:pt x="2501502" y="0"/>
                  <a:pt x="2533706" y="32204"/>
                  <a:pt x="2533706" y="71929"/>
                </a:cubicBezTo>
                <a:lnTo>
                  <a:pt x="2533706" y="690520"/>
                </a:lnTo>
                <a:cubicBezTo>
                  <a:pt x="2533706" y="730246"/>
                  <a:pt x="2501502" y="762450"/>
                  <a:pt x="2461777" y="762450"/>
                </a:cubicBezTo>
                <a:lnTo>
                  <a:pt x="71929" y="762450"/>
                </a:lnTo>
                <a:cubicBezTo>
                  <a:pt x="32204" y="762450"/>
                  <a:pt x="0" y="730246"/>
                  <a:pt x="0" y="690520"/>
                </a:cubicBezTo>
                <a:lnTo>
                  <a:pt x="0" y="71929"/>
                </a:lnTo>
                <a:cubicBezTo>
                  <a:pt x="0" y="32231"/>
                  <a:pt x="32231" y="0"/>
                  <a:pt x="719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3437" y="3511044"/>
            <a:ext cx="237366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PM₂.₅ Increase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473" y="3726832"/>
            <a:ext cx="2445593" cy="32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40-60%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1310" y="3399556"/>
            <a:ext cx="2533706" cy="762450"/>
          </a:xfrm>
          <a:custGeom>
            <a:avLst/>
            <a:gdLst/>
            <a:ahLst/>
            <a:cxnLst/>
            <a:rect l="l" t="t" r="r" b="b"/>
            <a:pathLst>
              <a:path w="2533706" h="762450">
                <a:moveTo>
                  <a:pt x="71929" y="0"/>
                </a:moveTo>
                <a:lnTo>
                  <a:pt x="2461777" y="0"/>
                </a:lnTo>
                <a:cubicBezTo>
                  <a:pt x="2501502" y="0"/>
                  <a:pt x="2533706" y="32204"/>
                  <a:pt x="2533706" y="71929"/>
                </a:cubicBezTo>
                <a:lnTo>
                  <a:pt x="2533706" y="690520"/>
                </a:lnTo>
                <a:cubicBezTo>
                  <a:pt x="2533706" y="730246"/>
                  <a:pt x="2501502" y="762450"/>
                  <a:pt x="2461777" y="762450"/>
                </a:cubicBezTo>
                <a:lnTo>
                  <a:pt x="71929" y="762450"/>
                </a:lnTo>
                <a:cubicBezTo>
                  <a:pt x="32204" y="762450"/>
                  <a:pt x="0" y="730246"/>
                  <a:pt x="0" y="690520"/>
                </a:cubicBezTo>
                <a:lnTo>
                  <a:pt x="0" y="71929"/>
                </a:lnTo>
                <a:cubicBezTo>
                  <a:pt x="0" y="32231"/>
                  <a:pt x="32231" y="0"/>
                  <a:pt x="719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21331" y="3511044"/>
            <a:ext cx="237366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NO₂ Increase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85366" y="3726832"/>
            <a:ext cx="2445593" cy="32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50-70%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1419" y="1744288"/>
            <a:ext cx="5644644" cy="2956290"/>
          </a:xfrm>
          <a:custGeom>
            <a:avLst/>
            <a:gdLst/>
            <a:ahLst/>
            <a:cxnLst/>
            <a:rect l="l" t="t" r="r" b="b"/>
            <a:pathLst>
              <a:path w="5644644" h="2956290">
                <a:moveTo>
                  <a:pt x="107905" y="0"/>
                </a:moveTo>
                <a:lnTo>
                  <a:pt x="5536740" y="0"/>
                </a:lnTo>
                <a:cubicBezTo>
                  <a:pt x="5596334" y="0"/>
                  <a:pt x="5644644" y="48311"/>
                  <a:pt x="5644644" y="107905"/>
                </a:cubicBezTo>
                <a:lnTo>
                  <a:pt x="5644644" y="2848386"/>
                </a:lnTo>
                <a:cubicBezTo>
                  <a:pt x="5644644" y="2907980"/>
                  <a:pt x="5596334" y="2956290"/>
                  <a:pt x="5536740" y="2956290"/>
                </a:cubicBezTo>
                <a:lnTo>
                  <a:pt x="107905" y="2956290"/>
                </a:lnTo>
                <a:cubicBezTo>
                  <a:pt x="48311" y="2956290"/>
                  <a:pt x="0" y="2907980"/>
                  <a:pt x="0" y="2848386"/>
                </a:cubicBezTo>
                <a:lnTo>
                  <a:pt x="0" y="107905"/>
                </a:lnTo>
                <a:cubicBezTo>
                  <a:pt x="0" y="48350"/>
                  <a:pt x="48350" y="0"/>
                  <a:pt x="1079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10803" y="1963671"/>
            <a:ext cx="575434" cy="575434"/>
          </a:xfrm>
          <a:custGeom>
            <a:avLst/>
            <a:gdLst/>
            <a:ahLst/>
            <a:cxnLst/>
            <a:rect l="l" t="t" r="r" b="b"/>
            <a:pathLst>
              <a:path w="575434" h="575434">
                <a:moveTo>
                  <a:pt x="107894" y="0"/>
                </a:moveTo>
                <a:lnTo>
                  <a:pt x="467540" y="0"/>
                </a:lnTo>
                <a:cubicBezTo>
                  <a:pt x="527128" y="0"/>
                  <a:pt x="575434" y="48306"/>
                  <a:pt x="575434" y="107894"/>
                </a:cubicBezTo>
                <a:lnTo>
                  <a:pt x="575434" y="467540"/>
                </a:lnTo>
                <a:cubicBezTo>
                  <a:pt x="575434" y="527128"/>
                  <a:pt x="527128" y="575434"/>
                  <a:pt x="467540" y="575434"/>
                </a:cubicBezTo>
                <a:lnTo>
                  <a:pt x="107894" y="575434"/>
                </a:lnTo>
                <a:cubicBezTo>
                  <a:pt x="48306" y="575434"/>
                  <a:pt x="0" y="527128"/>
                  <a:pt x="0" y="467540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99617" y="2116520"/>
            <a:ext cx="202301" cy="269735"/>
          </a:xfrm>
          <a:custGeom>
            <a:avLst/>
            <a:gdLst/>
            <a:ahLst/>
            <a:cxnLst/>
            <a:rect l="l" t="t" r="r" b="b"/>
            <a:pathLst>
              <a:path w="202301" h="269735">
                <a:moveTo>
                  <a:pt x="154307" y="202301"/>
                </a:moveTo>
                <a:cubicBezTo>
                  <a:pt x="158153" y="190553"/>
                  <a:pt x="165845" y="179911"/>
                  <a:pt x="174537" y="170744"/>
                </a:cubicBezTo>
                <a:cubicBezTo>
                  <a:pt x="191764" y="152621"/>
                  <a:pt x="202301" y="128124"/>
                  <a:pt x="202301" y="101150"/>
                </a:cubicBezTo>
                <a:cubicBezTo>
                  <a:pt x="202301" y="45307"/>
                  <a:pt x="156994" y="0"/>
                  <a:pt x="101150" y="0"/>
                </a:cubicBezTo>
                <a:cubicBezTo>
                  <a:pt x="45307" y="0"/>
                  <a:pt x="0" y="45307"/>
                  <a:pt x="0" y="101150"/>
                </a:cubicBezTo>
                <a:cubicBezTo>
                  <a:pt x="0" y="128124"/>
                  <a:pt x="10537" y="152621"/>
                  <a:pt x="27764" y="170744"/>
                </a:cubicBezTo>
                <a:cubicBezTo>
                  <a:pt x="36456" y="179911"/>
                  <a:pt x="44201" y="190553"/>
                  <a:pt x="47994" y="202301"/>
                </a:cubicBezTo>
                <a:lnTo>
                  <a:pt x="154254" y="202301"/>
                </a:lnTo>
                <a:close/>
                <a:moveTo>
                  <a:pt x="151726" y="227588"/>
                </a:moveTo>
                <a:lnTo>
                  <a:pt x="50575" y="227588"/>
                </a:lnTo>
                <a:lnTo>
                  <a:pt x="50575" y="236018"/>
                </a:lnTo>
                <a:cubicBezTo>
                  <a:pt x="50575" y="259303"/>
                  <a:pt x="69436" y="278164"/>
                  <a:pt x="92721" y="278164"/>
                </a:cubicBezTo>
                <a:lnTo>
                  <a:pt x="109580" y="278164"/>
                </a:lnTo>
                <a:cubicBezTo>
                  <a:pt x="132865" y="278164"/>
                  <a:pt x="151726" y="259303"/>
                  <a:pt x="151726" y="236018"/>
                </a:cubicBezTo>
                <a:lnTo>
                  <a:pt x="151726" y="227588"/>
                </a:lnTo>
                <a:close/>
                <a:moveTo>
                  <a:pt x="96936" y="59004"/>
                </a:moveTo>
                <a:cubicBezTo>
                  <a:pt x="75968" y="59004"/>
                  <a:pt x="59004" y="75968"/>
                  <a:pt x="59004" y="96936"/>
                </a:cubicBezTo>
                <a:cubicBezTo>
                  <a:pt x="59004" y="103943"/>
                  <a:pt x="53367" y="109580"/>
                  <a:pt x="46361" y="109580"/>
                </a:cubicBezTo>
                <a:cubicBezTo>
                  <a:pt x="39354" y="109580"/>
                  <a:pt x="33717" y="103943"/>
                  <a:pt x="33717" y="96936"/>
                </a:cubicBezTo>
                <a:cubicBezTo>
                  <a:pt x="33717" y="62007"/>
                  <a:pt x="62007" y="33717"/>
                  <a:pt x="96936" y="33717"/>
                </a:cubicBezTo>
                <a:cubicBezTo>
                  <a:pt x="103943" y="33717"/>
                  <a:pt x="109580" y="39354"/>
                  <a:pt x="109580" y="46361"/>
                </a:cubicBezTo>
                <a:cubicBezTo>
                  <a:pt x="109580" y="53367"/>
                  <a:pt x="103943" y="59004"/>
                  <a:pt x="96936" y="5900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0095" y="2089547"/>
            <a:ext cx="3146903" cy="32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Recommendations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8785" y="2718927"/>
            <a:ext cx="5187894" cy="809204"/>
          </a:xfrm>
          <a:custGeom>
            <a:avLst/>
            <a:gdLst/>
            <a:ahLst/>
            <a:cxnLst/>
            <a:rect l="l" t="t" r="r" b="b"/>
            <a:pathLst>
              <a:path w="5187894" h="809204">
                <a:moveTo>
                  <a:pt x="35965" y="0"/>
                </a:moveTo>
                <a:lnTo>
                  <a:pt x="5115964" y="0"/>
                </a:lnTo>
                <a:cubicBezTo>
                  <a:pt x="5155690" y="0"/>
                  <a:pt x="5187894" y="32204"/>
                  <a:pt x="5187894" y="71930"/>
                </a:cubicBezTo>
                <a:lnTo>
                  <a:pt x="5187894" y="737273"/>
                </a:lnTo>
                <a:cubicBezTo>
                  <a:pt x="5187894" y="776973"/>
                  <a:pt x="5155663" y="809204"/>
                  <a:pt x="5115964" y="809204"/>
                </a:cubicBezTo>
                <a:lnTo>
                  <a:pt x="35965" y="809204"/>
                </a:lnTo>
                <a:cubicBezTo>
                  <a:pt x="16102" y="809204"/>
                  <a:pt x="0" y="793102"/>
                  <a:pt x="0" y="773239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28785" y="2718927"/>
            <a:ext cx="35965" cy="809204"/>
          </a:xfrm>
          <a:custGeom>
            <a:avLst/>
            <a:gdLst/>
            <a:ahLst/>
            <a:cxnLst/>
            <a:rect l="l" t="t" r="r" b="b"/>
            <a:pathLst>
              <a:path w="35965" h="809204">
                <a:moveTo>
                  <a:pt x="35965" y="0"/>
                </a:moveTo>
                <a:lnTo>
                  <a:pt x="35965" y="0"/>
                </a:lnTo>
                <a:lnTo>
                  <a:pt x="35965" y="809204"/>
                </a:lnTo>
                <a:lnTo>
                  <a:pt x="35965" y="809204"/>
                </a:lnTo>
                <a:cubicBezTo>
                  <a:pt x="16102" y="809204"/>
                  <a:pt x="0" y="793102"/>
                  <a:pt x="0" y="773239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90626" y="2898750"/>
            <a:ext cx="359646" cy="359646"/>
          </a:xfrm>
          <a:custGeom>
            <a:avLst/>
            <a:gdLst/>
            <a:ahLst/>
            <a:cxnLst/>
            <a:rect l="l" t="t" r="r" b="b"/>
            <a:pathLst>
              <a:path w="359646" h="359646">
                <a:moveTo>
                  <a:pt x="71929" y="0"/>
                </a:moveTo>
                <a:lnTo>
                  <a:pt x="287717" y="0"/>
                </a:lnTo>
                <a:cubicBezTo>
                  <a:pt x="327442" y="0"/>
                  <a:pt x="359646" y="32204"/>
                  <a:pt x="359646" y="71929"/>
                </a:cubicBezTo>
                <a:lnTo>
                  <a:pt x="359646" y="287717"/>
                </a:lnTo>
                <a:cubicBezTo>
                  <a:pt x="359646" y="327442"/>
                  <a:pt x="327442" y="359646"/>
                  <a:pt x="287717" y="359646"/>
                </a:cubicBezTo>
                <a:lnTo>
                  <a:pt x="71929" y="359646"/>
                </a:lnTo>
                <a:cubicBezTo>
                  <a:pt x="32204" y="359646"/>
                  <a:pt x="0" y="327442"/>
                  <a:pt x="0" y="28771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77053" y="2952697"/>
            <a:ext cx="27872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58166" y="2862786"/>
            <a:ext cx="405500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Emission Zones (LEZ)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8166" y="3150503"/>
            <a:ext cx="4046018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Restrict high-emission vehicles in city centers during peak hours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785" y="3671989"/>
            <a:ext cx="5187894" cy="809204"/>
          </a:xfrm>
          <a:custGeom>
            <a:avLst/>
            <a:gdLst/>
            <a:ahLst/>
            <a:cxnLst/>
            <a:rect l="l" t="t" r="r" b="b"/>
            <a:pathLst>
              <a:path w="5187894" h="809204">
                <a:moveTo>
                  <a:pt x="35965" y="0"/>
                </a:moveTo>
                <a:lnTo>
                  <a:pt x="5115964" y="0"/>
                </a:lnTo>
                <a:cubicBezTo>
                  <a:pt x="5155690" y="0"/>
                  <a:pt x="5187894" y="32204"/>
                  <a:pt x="5187894" y="71930"/>
                </a:cubicBezTo>
                <a:lnTo>
                  <a:pt x="5187894" y="737273"/>
                </a:lnTo>
                <a:cubicBezTo>
                  <a:pt x="5187894" y="776973"/>
                  <a:pt x="5155663" y="809204"/>
                  <a:pt x="5115964" y="809204"/>
                </a:cubicBezTo>
                <a:lnTo>
                  <a:pt x="35965" y="809204"/>
                </a:lnTo>
                <a:cubicBezTo>
                  <a:pt x="16102" y="809204"/>
                  <a:pt x="0" y="793102"/>
                  <a:pt x="0" y="773239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28785" y="3671989"/>
            <a:ext cx="35965" cy="809204"/>
          </a:xfrm>
          <a:custGeom>
            <a:avLst/>
            <a:gdLst/>
            <a:ahLst/>
            <a:cxnLst/>
            <a:rect l="l" t="t" r="r" b="b"/>
            <a:pathLst>
              <a:path w="35965" h="809204">
                <a:moveTo>
                  <a:pt x="35965" y="0"/>
                </a:moveTo>
                <a:lnTo>
                  <a:pt x="35965" y="0"/>
                </a:lnTo>
                <a:lnTo>
                  <a:pt x="35965" y="809204"/>
                </a:lnTo>
                <a:lnTo>
                  <a:pt x="35965" y="809204"/>
                </a:lnTo>
                <a:cubicBezTo>
                  <a:pt x="16102" y="809204"/>
                  <a:pt x="0" y="793102"/>
                  <a:pt x="0" y="773239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90626" y="3851812"/>
            <a:ext cx="359646" cy="359646"/>
          </a:xfrm>
          <a:custGeom>
            <a:avLst/>
            <a:gdLst/>
            <a:ahLst/>
            <a:cxnLst/>
            <a:rect l="l" t="t" r="r" b="b"/>
            <a:pathLst>
              <a:path w="359646" h="359646">
                <a:moveTo>
                  <a:pt x="71929" y="0"/>
                </a:moveTo>
                <a:lnTo>
                  <a:pt x="287717" y="0"/>
                </a:lnTo>
                <a:cubicBezTo>
                  <a:pt x="327442" y="0"/>
                  <a:pt x="359646" y="32204"/>
                  <a:pt x="359646" y="71929"/>
                </a:cubicBezTo>
                <a:lnTo>
                  <a:pt x="359646" y="287717"/>
                </a:lnTo>
                <a:cubicBezTo>
                  <a:pt x="359646" y="327442"/>
                  <a:pt x="327442" y="359646"/>
                  <a:pt x="287717" y="359646"/>
                </a:cubicBezTo>
                <a:lnTo>
                  <a:pt x="71929" y="359646"/>
                </a:lnTo>
                <a:cubicBezTo>
                  <a:pt x="32204" y="359646"/>
                  <a:pt x="0" y="327442"/>
                  <a:pt x="0" y="28771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660757" y="3905759"/>
            <a:ext cx="30569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166" y="3815848"/>
            <a:ext cx="369536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Synchronized Traffic Signals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8166" y="4103565"/>
            <a:ext cx="3686372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smart traffic management to reduce idling time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3242" y="4887591"/>
            <a:ext cx="3720538" cy="888326"/>
          </a:xfrm>
          <a:custGeom>
            <a:avLst/>
            <a:gdLst/>
            <a:ahLst/>
            <a:cxnLst/>
            <a:rect l="l" t="t" r="r" b="b"/>
            <a:pathLst>
              <a:path w="3720538" h="888326">
                <a:moveTo>
                  <a:pt x="107896" y="0"/>
                </a:moveTo>
                <a:lnTo>
                  <a:pt x="3612642" y="0"/>
                </a:lnTo>
                <a:cubicBezTo>
                  <a:pt x="3672231" y="0"/>
                  <a:pt x="3720538" y="48307"/>
                  <a:pt x="3720538" y="107896"/>
                </a:cubicBezTo>
                <a:lnTo>
                  <a:pt x="3720538" y="780430"/>
                </a:lnTo>
                <a:cubicBezTo>
                  <a:pt x="3720538" y="840019"/>
                  <a:pt x="3672231" y="888326"/>
                  <a:pt x="3612642" y="888326"/>
                </a:cubicBezTo>
                <a:lnTo>
                  <a:pt x="107896" y="888326"/>
                </a:lnTo>
                <a:cubicBezTo>
                  <a:pt x="48307" y="888326"/>
                  <a:pt x="0" y="840019"/>
                  <a:pt x="0" y="780430"/>
                </a:cubicBezTo>
                <a:lnTo>
                  <a:pt x="0" y="107896"/>
                </a:lnTo>
                <a:cubicBezTo>
                  <a:pt x="0" y="48307"/>
                  <a:pt x="48307" y="0"/>
                  <a:pt x="1078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0697" y="5053027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>
                <a:moveTo>
                  <a:pt x="139798" y="18249"/>
                </a:moveTo>
                <a:cubicBezTo>
                  <a:pt x="141611" y="15299"/>
                  <a:pt x="144856" y="13487"/>
                  <a:pt x="148354" y="13487"/>
                </a:cubicBezTo>
                <a:lnTo>
                  <a:pt x="192186" y="13487"/>
                </a:lnTo>
                <a:cubicBezTo>
                  <a:pt x="197791" y="13487"/>
                  <a:pt x="202301" y="17996"/>
                  <a:pt x="202301" y="23602"/>
                </a:cubicBezTo>
                <a:cubicBezTo>
                  <a:pt x="202301" y="29207"/>
                  <a:pt x="197791" y="33717"/>
                  <a:pt x="192186" y="33717"/>
                </a:cubicBezTo>
                <a:lnTo>
                  <a:pt x="164538" y="33717"/>
                </a:lnTo>
                <a:lnTo>
                  <a:pt x="194967" y="96262"/>
                </a:lnTo>
                <a:cubicBezTo>
                  <a:pt x="199477" y="95039"/>
                  <a:pt x="204197" y="94407"/>
                  <a:pt x="209044" y="94407"/>
                </a:cubicBezTo>
                <a:cubicBezTo>
                  <a:pt x="238841" y="94407"/>
                  <a:pt x="262991" y="118557"/>
                  <a:pt x="262991" y="148354"/>
                </a:cubicBezTo>
                <a:cubicBezTo>
                  <a:pt x="262991" y="178151"/>
                  <a:pt x="238841" y="202301"/>
                  <a:pt x="209044" y="202301"/>
                </a:cubicBezTo>
                <a:cubicBezTo>
                  <a:pt x="179247" y="202301"/>
                  <a:pt x="155097" y="178151"/>
                  <a:pt x="155097" y="148354"/>
                </a:cubicBezTo>
                <a:cubicBezTo>
                  <a:pt x="155097" y="130653"/>
                  <a:pt x="163611" y="114974"/>
                  <a:pt x="176760" y="105112"/>
                </a:cubicBezTo>
                <a:lnTo>
                  <a:pt x="168163" y="87453"/>
                </a:lnTo>
                <a:lnTo>
                  <a:pt x="137185" y="149408"/>
                </a:lnTo>
                <a:cubicBezTo>
                  <a:pt x="136216" y="151431"/>
                  <a:pt x="134530" y="153116"/>
                  <a:pt x="132381" y="154128"/>
                </a:cubicBezTo>
                <a:cubicBezTo>
                  <a:pt x="132128" y="154254"/>
                  <a:pt x="131875" y="154339"/>
                  <a:pt x="131622" y="154423"/>
                </a:cubicBezTo>
                <a:cubicBezTo>
                  <a:pt x="130400" y="154887"/>
                  <a:pt x="129135" y="155097"/>
                  <a:pt x="127871" y="155055"/>
                </a:cubicBezTo>
                <a:lnTo>
                  <a:pt x="114216" y="155097"/>
                </a:lnTo>
                <a:cubicBezTo>
                  <a:pt x="110886" y="181691"/>
                  <a:pt x="88212" y="202301"/>
                  <a:pt x="60690" y="202301"/>
                </a:cubicBezTo>
                <a:cubicBezTo>
                  <a:pt x="30893" y="202301"/>
                  <a:pt x="6743" y="178151"/>
                  <a:pt x="6743" y="148354"/>
                </a:cubicBezTo>
                <a:cubicBezTo>
                  <a:pt x="6743" y="118557"/>
                  <a:pt x="30893" y="94407"/>
                  <a:pt x="60690" y="94407"/>
                </a:cubicBezTo>
                <a:cubicBezTo>
                  <a:pt x="65242" y="94407"/>
                  <a:pt x="69625" y="94955"/>
                  <a:pt x="73840" y="96009"/>
                </a:cubicBezTo>
                <a:lnTo>
                  <a:pt x="85851" y="72028"/>
                </a:lnTo>
                <a:lnTo>
                  <a:pt x="81005" y="60690"/>
                </a:lnTo>
                <a:lnTo>
                  <a:pt x="64062" y="60690"/>
                </a:lnTo>
                <a:cubicBezTo>
                  <a:pt x="58457" y="60690"/>
                  <a:pt x="53947" y="56181"/>
                  <a:pt x="53947" y="50575"/>
                </a:cubicBezTo>
                <a:cubicBezTo>
                  <a:pt x="53947" y="44970"/>
                  <a:pt x="58457" y="40460"/>
                  <a:pt x="64062" y="40460"/>
                </a:cubicBezTo>
                <a:lnTo>
                  <a:pt x="87664" y="40460"/>
                </a:lnTo>
                <a:cubicBezTo>
                  <a:pt x="91710" y="40460"/>
                  <a:pt x="95376" y="42863"/>
                  <a:pt x="96978" y="46571"/>
                </a:cubicBezTo>
                <a:lnTo>
                  <a:pt x="103005" y="60690"/>
                </a:lnTo>
                <a:lnTo>
                  <a:pt x="155139" y="60690"/>
                </a:lnTo>
                <a:lnTo>
                  <a:pt x="139250" y="28027"/>
                </a:lnTo>
                <a:cubicBezTo>
                  <a:pt x="137733" y="24908"/>
                  <a:pt x="137902" y="21199"/>
                  <a:pt x="139756" y="18249"/>
                </a:cubicBezTo>
                <a:close/>
                <a:moveTo>
                  <a:pt x="96304" y="96388"/>
                </a:moveTo>
                <a:lnTo>
                  <a:pt x="77085" y="134867"/>
                </a:lnTo>
                <a:lnTo>
                  <a:pt x="112825" y="134867"/>
                </a:lnTo>
                <a:lnTo>
                  <a:pt x="96346" y="96388"/>
                </a:lnTo>
                <a:close/>
                <a:moveTo>
                  <a:pt x="128840" y="120959"/>
                </a:moveTo>
                <a:lnTo>
                  <a:pt x="148860" y="80920"/>
                </a:lnTo>
                <a:lnTo>
                  <a:pt x="111687" y="80920"/>
                </a:lnTo>
                <a:lnTo>
                  <a:pt x="128840" y="120959"/>
                </a:lnTo>
                <a:close/>
                <a:moveTo>
                  <a:pt x="199941" y="152779"/>
                </a:moveTo>
                <a:lnTo>
                  <a:pt x="187423" y="127070"/>
                </a:lnTo>
                <a:cubicBezTo>
                  <a:pt x="182029" y="132549"/>
                  <a:pt x="178699" y="140051"/>
                  <a:pt x="178699" y="148354"/>
                </a:cubicBezTo>
                <a:cubicBezTo>
                  <a:pt x="178699" y="165128"/>
                  <a:pt x="192270" y="178699"/>
                  <a:pt x="209044" y="178699"/>
                </a:cubicBezTo>
                <a:cubicBezTo>
                  <a:pt x="225818" y="178699"/>
                  <a:pt x="239389" y="165128"/>
                  <a:pt x="239389" y="148354"/>
                </a:cubicBezTo>
                <a:cubicBezTo>
                  <a:pt x="239389" y="131580"/>
                  <a:pt x="225818" y="118009"/>
                  <a:pt x="209044" y="118009"/>
                </a:cubicBezTo>
                <a:cubicBezTo>
                  <a:pt x="207906" y="118009"/>
                  <a:pt x="206726" y="118093"/>
                  <a:pt x="205630" y="118220"/>
                </a:cubicBezTo>
                <a:lnTo>
                  <a:pt x="218148" y="143929"/>
                </a:lnTo>
                <a:cubicBezTo>
                  <a:pt x="220592" y="148944"/>
                  <a:pt x="218485" y="155013"/>
                  <a:pt x="213470" y="157458"/>
                </a:cubicBezTo>
                <a:cubicBezTo>
                  <a:pt x="208454" y="159902"/>
                  <a:pt x="202385" y="157795"/>
                  <a:pt x="199941" y="152779"/>
                </a:cubicBezTo>
                <a:close/>
                <a:moveTo>
                  <a:pt x="62882" y="155097"/>
                </a:moveTo>
                <a:cubicBezTo>
                  <a:pt x="54368" y="155097"/>
                  <a:pt x="48805" y="146120"/>
                  <a:pt x="52640" y="138492"/>
                </a:cubicBezTo>
                <a:lnTo>
                  <a:pt x="62840" y="118051"/>
                </a:lnTo>
                <a:cubicBezTo>
                  <a:pt x="62123" y="118009"/>
                  <a:pt x="61407" y="117967"/>
                  <a:pt x="60690" y="117967"/>
                </a:cubicBezTo>
                <a:cubicBezTo>
                  <a:pt x="43916" y="117967"/>
                  <a:pt x="30345" y="131538"/>
                  <a:pt x="30345" y="148312"/>
                </a:cubicBezTo>
                <a:cubicBezTo>
                  <a:pt x="30345" y="165086"/>
                  <a:pt x="43916" y="178657"/>
                  <a:pt x="60690" y="178657"/>
                </a:cubicBezTo>
                <a:cubicBezTo>
                  <a:pt x="75146" y="178657"/>
                  <a:pt x="87200" y="168584"/>
                  <a:pt x="90277" y="155055"/>
                </a:cubicBezTo>
                <a:lnTo>
                  <a:pt x="62882" y="15505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88326" y="5035044"/>
            <a:ext cx="115086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Mobility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0697" y="5394690"/>
            <a:ext cx="3497558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 cycling &amp; walking infrastructure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6742" y="4887591"/>
            <a:ext cx="3720538" cy="888326"/>
          </a:xfrm>
          <a:custGeom>
            <a:avLst/>
            <a:gdLst/>
            <a:ahLst/>
            <a:cxnLst/>
            <a:rect l="l" t="t" r="r" b="b"/>
            <a:pathLst>
              <a:path w="3720538" h="888326">
                <a:moveTo>
                  <a:pt x="107896" y="0"/>
                </a:moveTo>
                <a:lnTo>
                  <a:pt x="3612642" y="0"/>
                </a:lnTo>
                <a:cubicBezTo>
                  <a:pt x="3672231" y="0"/>
                  <a:pt x="3720538" y="48307"/>
                  <a:pt x="3720538" y="107896"/>
                </a:cubicBezTo>
                <a:lnTo>
                  <a:pt x="3720538" y="780430"/>
                </a:lnTo>
                <a:cubicBezTo>
                  <a:pt x="3720538" y="840019"/>
                  <a:pt x="3672231" y="888326"/>
                  <a:pt x="3612642" y="888326"/>
                </a:cubicBezTo>
                <a:lnTo>
                  <a:pt x="107896" y="888326"/>
                </a:lnTo>
                <a:cubicBezTo>
                  <a:pt x="48307" y="888326"/>
                  <a:pt x="0" y="840019"/>
                  <a:pt x="0" y="780430"/>
                </a:cubicBezTo>
                <a:lnTo>
                  <a:pt x="0" y="107896"/>
                </a:lnTo>
                <a:cubicBezTo>
                  <a:pt x="0" y="48307"/>
                  <a:pt x="48307" y="0"/>
                  <a:pt x="1078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397684" y="5053027"/>
            <a:ext cx="242761" cy="215788"/>
          </a:xfrm>
          <a:custGeom>
            <a:avLst/>
            <a:gdLst/>
            <a:ahLst/>
            <a:cxnLst/>
            <a:rect l="l" t="t" r="r" b="b"/>
            <a:pathLst>
              <a:path w="242761" h="215788">
                <a:moveTo>
                  <a:pt x="26973" y="26973"/>
                </a:moveTo>
                <a:cubicBezTo>
                  <a:pt x="26973" y="12096"/>
                  <a:pt x="39069" y="0"/>
                  <a:pt x="53947" y="0"/>
                </a:cubicBezTo>
                <a:lnTo>
                  <a:pt x="121381" y="0"/>
                </a:lnTo>
                <a:cubicBezTo>
                  <a:pt x="136258" y="0"/>
                  <a:pt x="148354" y="12096"/>
                  <a:pt x="148354" y="26973"/>
                </a:cubicBezTo>
                <a:lnTo>
                  <a:pt x="148354" y="121381"/>
                </a:lnTo>
                <a:cubicBezTo>
                  <a:pt x="166983" y="121381"/>
                  <a:pt x="182071" y="136469"/>
                  <a:pt x="182071" y="155097"/>
                </a:cubicBezTo>
                <a:lnTo>
                  <a:pt x="182071" y="160155"/>
                </a:lnTo>
                <a:cubicBezTo>
                  <a:pt x="182071" y="164791"/>
                  <a:pt x="185864" y="168584"/>
                  <a:pt x="190500" y="168584"/>
                </a:cubicBezTo>
                <a:cubicBezTo>
                  <a:pt x="195136" y="168584"/>
                  <a:pt x="198929" y="164791"/>
                  <a:pt x="198929" y="160155"/>
                </a:cubicBezTo>
                <a:lnTo>
                  <a:pt x="198929" y="106334"/>
                </a:lnTo>
                <a:cubicBezTo>
                  <a:pt x="185232" y="102036"/>
                  <a:pt x="175327" y="89265"/>
                  <a:pt x="175327" y="74177"/>
                </a:cubicBezTo>
                <a:lnTo>
                  <a:pt x="175327" y="60690"/>
                </a:lnTo>
                <a:cubicBezTo>
                  <a:pt x="175327" y="56981"/>
                  <a:pt x="178362" y="53947"/>
                  <a:pt x="182071" y="53947"/>
                </a:cubicBezTo>
                <a:lnTo>
                  <a:pt x="188814" y="53947"/>
                </a:lnTo>
                <a:lnTo>
                  <a:pt x="188814" y="33717"/>
                </a:lnTo>
                <a:cubicBezTo>
                  <a:pt x="188814" y="30008"/>
                  <a:pt x="191849" y="26973"/>
                  <a:pt x="195558" y="26973"/>
                </a:cubicBezTo>
                <a:cubicBezTo>
                  <a:pt x="199266" y="26973"/>
                  <a:pt x="202301" y="30008"/>
                  <a:pt x="202301" y="33717"/>
                </a:cubicBezTo>
                <a:lnTo>
                  <a:pt x="202301" y="53947"/>
                </a:lnTo>
                <a:lnTo>
                  <a:pt x="215788" y="53947"/>
                </a:lnTo>
                <a:lnTo>
                  <a:pt x="215788" y="33717"/>
                </a:lnTo>
                <a:cubicBezTo>
                  <a:pt x="215788" y="30008"/>
                  <a:pt x="218822" y="26973"/>
                  <a:pt x="222531" y="26973"/>
                </a:cubicBezTo>
                <a:cubicBezTo>
                  <a:pt x="226240" y="26973"/>
                  <a:pt x="229274" y="30008"/>
                  <a:pt x="229274" y="33717"/>
                </a:cubicBezTo>
                <a:lnTo>
                  <a:pt x="229274" y="53947"/>
                </a:lnTo>
                <a:lnTo>
                  <a:pt x="236018" y="53947"/>
                </a:lnTo>
                <a:cubicBezTo>
                  <a:pt x="239727" y="53947"/>
                  <a:pt x="242761" y="56981"/>
                  <a:pt x="242761" y="60690"/>
                </a:cubicBezTo>
                <a:lnTo>
                  <a:pt x="242761" y="74177"/>
                </a:lnTo>
                <a:cubicBezTo>
                  <a:pt x="242761" y="89265"/>
                  <a:pt x="232857" y="102036"/>
                  <a:pt x="219159" y="106334"/>
                </a:cubicBezTo>
                <a:lnTo>
                  <a:pt x="219159" y="160155"/>
                </a:lnTo>
                <a:cubicBezTo>
                  <a:pt x="219159" y="176002"/>
                  <a:pt x="206347" y="188814"/>
                  <a:pt x="190500" y="188814"/>
                </a:cubicBezTo>
                <a:cubicBezTo>
                  <a:pt x="174653" y="188814"/>
                  <a:pt x="161841" y="176002"/>
                  <a:pt x="161841" y="160155"/>
                </a:cubicBezTo>
                <a:lnTo>
                  <a:pt x="161841" y="155097"/>
                </a:lnTo>
                <a:cubicBezTo>
                  <a:pt x="161841" y="147638"/>
                  <a:pt x="155814" y="141611"/>
                  <a:pt x="148354" y="141611"/>
                </a:cubicBezTo>
                <a:lnTo>
                  <a:pt x="148354" y="196148"/>
                </a:lnTo>
                <a:cubicBezTo>
                  <a:pt x="152274" y="197538"/>
                  <a:pt x="155097" y="201289"/>
                  <a:pt x="155097" y="205673"/>
                </a:cubicBezTo>
                <a:cubicBezTo>
                  <a:pt x="155097" y="211278"/>
                  <a:pt x="150588" y="215788"/>
                  <a:pt x="144982" y="215788"/>
                </a:cubicBezTo>
                <a:lnTo>
                  <a:pt x="30345" y="215788"/>
                </a:lnTo>
                <a:cubicBezTo>
                  <a:pt x="24740" y="215788"/>
                  <a:pt x="20230" y="211278"/>
                  <a:pt x="20230" y="205673"/>
                </a:cubicBezTo>
                <a:cubicBezTo>
                  <a:pt x="20230" y="201247"/>
                  <a:pt x="23054" y="197538"/>
                  <a:pt x="26973" y="196148"/>
                </a:cubicBezTo>
                <a:lnTo>
                  <a:pt x="26973" y="26973"/>
                </a:lnTo>
                <a:close/>
                <a:moveTo>
                  <a:pt x="61828" y="79951"/>
                </a:moveTo>
                <a:lnTo>
                  <a:pt x="78265" y="79951"/>
                </a:lnTo>
                <a:lnTo>
                  <a:pt x="69457" y="108147"/>
                </a:lnTo>
                <a:cubicBezTo>
                  <a:pt x="68445" y="111350"/>
                  <a:pt x="70847" y="114637"/>
                  <a:pt x="74219" y="114637"/>
                </a:cubicBezTo>
                <a:cubicBezTo>
                  <a:pt x="75441" y="114637"/>
                  <a:pt x="76579" y="114216"/>
                  <a:pt x="77507" y="113415"/>
                </a:cubicBezTo>
                <a:lnTo>
                  <a:pt x="117377" y="78855"/>
                </a:lnTo>
                <a:cubicBezTo>
                  <a:pt x="118683" y="77717"/>
                  <a:pt x="119442" y="76074"/>
                  <a:pt x="119442" y="74346"/>
                </a:cubicBezTo>
                <a:cubicBezTo>
                  <a:pt x="119442" y="71058"/>
                  <a:pt x="116787" y="68403"/>
                  <a:pt x="113499" y="68403"/>
                </a:cubicBezTo>
                <a:lnTo>
                  <a:pt x="97062" y="68403"/>
                </a:lnTo>
                <a:lnTo>
                  <a:pt x="105871" y="40207"/>
                </a:lnTo>
                <a:cubicBezTo>
                  <a:pt x="106882" y="37004"/>
                  <a:pt x="104480" y="33717"/>
                  <a:pt x="101108" y="33717"/>
                </a:cubicBezTo>
                <a:cubicBezTo>
                  <a:pt x="99886" y="33717"/>
                  <a:pt x="98748" y="34138"/>
                  <a:pt x="97821" y="34939"/>
                </a:cubicBezTo>
                <a:lnTo>
                  <a:pt x="57951" y="69499"/>
                </a:lnTo>
                <a:cubicBezTo>
                  <a:pt x="56644" y="70637"/>
                  <a:pt x="55886" y="72280"/>
                  <a:pt x="55886" y="74008"/>
                </a:cubicBezTo>
                <a:cubicBezTo>
                  <a:pt x="55886" y="77296"/>
                  <a:pt x="58541" y="79951"/>
                  <a:pt x="61828" y="7995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61826" y="5035044"/>
            <a:ext cx="105196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 Incentives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84198" y="5394690"/>
            <a:ext cx="3497558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 electric vehicle adoption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10242" y="4887591"/>
            <a:ext cx="3720538" cy="888326"/>
          </a:xfrm>
          <a:custGeom>
            <a:avLst/>
            <a:gdLst/>
            <a:ahLst/>
            <a:cxnLst/>
            <a:rect l="l" t="t" r="r" b="b"/>
            <a:pathLst>
              <a:path w="3720538" h="888326">
                <a:moveTo>
                  <a:pt x="107896" y="0"/>
                </a:moveTo>
                <a:lnTo>
                  <a:pt x="3612642" y="0"/>
                </a:lnTo>
                <a:cubicBezTo>
                  <a:pt x="3672231" y="0"/>
                  <a:pt x="3720538" y="48307"/>
                  <a:pt x="3720538" y="107896"/>
                </a:cubicBezTo>
                <a:lnTo>
                  <a:pt x="3720538" y="780430"/>
                </a:lnTo>
                <a:cubicBezTo>
                  <a:pt x="3720538" y="840019"/>
                  <a:pt x="3672231" y="888326"/>
                  <a:pt x="3612642" y="888326"/>
                </a:cubicBezTo>
                <a:lnTo>
                  <a:pt x="107896" y="888326"/>
                </a:lnTo>
                <a:cubicBezTo>
                  <a:pt x="48307" y="888326"/>
                  <a:pt x="0" y="840019"/>
                  <a:pt x="0" y="780430"/>
                </a:cubicBezTo>
                <a:lnTo>
                  <a:pt x="0" y="107896"/>
                </a:lnTo>
                <a:cubicBezTo>
                  <a:pt x="0" y="48307"/>
                  <a:pt x="48307" y="0"/>
                  <a:pt x="1078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98157" y="5053027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94407" y="0"/>
                </a:moveTo>
                <a:cubicBezTo>
                  <a:pt x="86947" y="0"/>
                  <a:pt x="80920" y="6027"/>
                  <a:pt x="80920" y="13487"/>
                </a:cubicBezTo>
                <a:lnTo>
                  <a:pt x="80920" y="14835"/>
                </a:lnTo>
                <a:cubicBezTo>
                  <a:pt x="50154" y="21073"/>
                  <a:pt x="26973" y="48299"/>
                  <a:pt x="26973" y="80920"/>
                </a:cubicBezTo>
                <a:lnTo>
                  <a:pt x="26973" y="90066"/>
                </a:lnTo>
                <a:cubicBezTo>
                  <a:pt x="26973" y="110338"/>
                  <a:pt x="20062" y="130020"/>
                  <a:pt x="7418" y="145867"/>
                </a:cubicBezTo>
                <a:lnTo>
                  <a:pt x="3287" y="151009"/>
                </a:lnTo>
                <a:cubicBezTo>
                  <a:pt x="1138" y="153664"/>
                  <a:pt x="0" y="156952"/>
                  <a:pt x="0" y="160366"/>
                </a:cubicBezTo>
                <a:cubicBezTo>
                  <a:pt x="0" y="168626"/>
                  <a:pt x="6701" y="175327"/>
                  <a:pt x="14962" y="175327"/>
                </a:cubicBezTo>
                <a:lnTo>
                  <a:pt x="173810" y="175327"/>
                </a:lnTo>
                <a:cubicBezTo>
                  <a:pt x="182071" y="175327"/>
                  <a:pt x="188772" y="168626"/>
                  <a:pt x="188772" y="160366"/>
                </a:cubicBezTo>
                <a:cubicBezTo>
                  <a:pt x="188772" y="156952"/>
                  <a:pt x="187634" y="153664"/>
                  <a:pt x="185485" y="151009"/>
                </a:cubicBezTo>
                <a:lnTo>
                  <a:pt x="181354" y="145867"/>
                </a:lnTo>
                <a:cubicBezTo>
                  <a:pt x="168753" y="130020"/>
                  <a:pt x="161841" y="110338"/>
                  <a:pt x="161841" y="90066"/>
                </a:cubicBezTo>
                <a:lnTo>
                  <a:pt x="161841" y="80920"/>
                </a:lnTo>
                <a:cubicBezTo>
                  <a:pt x="161841" y="48299"/>
                  <a:pt x="138660" y="21073"/>
                  <a:pt x="107894" y="14835"/>
                </a:cubicBezTo>
                <a:lnTo>
                  <a:pt x="107894" y="13487"/>
                </a:lnTo>
                <a:cubicBezTo>
                  <a:pt x="107894" y="6027"/>
                  <a:pt x="101867" y="0"/>
                  <a:pt x="94407" y="0"/>
                </a:cubicBezTo>
                <a:close/>
                <a:moveTo>
                  <a:pt x="68277" y="195558"/>
                </a:moveTo>
                <a:cubicBezTo>
                  <a:pt x="71269" y="207190"/>
                  <a:pt x="81848" y="215788"/>
                  <a:pt x="94407" y="215788"/>
                </a:cubicBezTo>
                <a:cubicBezTo>
                  <a:pt x="106967" y="215788"/>
                  <a:pt x="117545" y="207190"/>
                  <a:pt x="120538" y="195558"/>
                </a:cubicBezTo>
                <a:lnTo>
                  <a:pt x="68277" y="195558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635326" y="5035044"/>
            <a:ext cx="1078938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7697" y="5394690"/>
            <a:ext cx="3497558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public health alerts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3242" y="5962929"/>
            <a:ext cx="11470910" cy="897317"/>
          </a:xfrm>
          <a:custGeom>
            <a:avLst/>
            <a:gdLst/>
            <a:ahLst/>
            <a:cxnLst/>
            <a:rect l="l" t="t" r="r" b="b"/>
            <a:pathLst>
              <a:path w="11470910" h="897317">
                <a:moveTo>
                  <a:pt x="107893" y="0"/>
                </a:moveTo>
                <a:lnTo>
                  <a:pt x="11363016" y="0"/>
                </a:lnTo>
                <a:cubicBezTo>
                  <a:pt x="11422604" y="0"/>
                  <a:pt x="11470910" y="48306"/>
                  <a:pt x="11470910" y="107893"/>
                </a:cubicBezTo>
                <a:lnTo>
                  <a:pt x="11470910" y="789423"/>
                </a:lnTo>
                <a:cubicBezTo>
                  <a:pt x="11470910" y="849011"/>
                  <a:pt x="11422604" y="897317"/>
                  <a:pt x="11363016" y="897317"/>
                </a:cubicBezTo>
                <a:lnTo>
                  <a:pt x="107893" y="897317"/>
                </a:lnTo>
                <a:cubicBezTo>
                  <a:pt x="48306" y="897317"/>
                  <a:pt x="0" y="849011"/>
                  <a:pt x="0" y="789423"/>
                </a:cubicBezTo>
                <a:lnTo>
                  <a:pt x="0" y="107893"/>
                </a:lnTo>
                <a:cubicBezTo>
                  <a:pt x="0" y="48345"/>
                  <a:pt x="48345" y="0"/>
                  <a:pt x="10789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46662" y="6157595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04007" y="6301453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0" y="91035"/>
                </a:moveTo>
                <a:cubicBezTo>
                  <a:pt x="0" y="63093"/>
                  <a:pt x="22632" y="40460"/>
                  <a:pt x="50575" y="40460"/>
                </a:cubicBezTo>
                <a:lnTo>
                  <a:pt x="53947" y="40460"/>
                </a:lnTo>
                <a:cubicBezTo>
                  <a:pt x="61407" y="40460"/>
                  <a:pt x="67434" y="46487"/>
                  <a:pt x="67434" y="53947"/>
                </a:cubicBezTo>
                <a:cubicBezTo>
                  <a:pt x="67434" y="61407"/>
                  <a:pt x="61407" y="67434"/>
                  <a:pt x="53947" y="67434"/>
                </a:cubicBezTo>
                <a:lnTo>
                  <a:pt x="50575" y="67434"/>
                </a:lnTo>
                <a:cubicBezTo>
                  <a:pt x="37552" y="67434"/>
                  <a:pt x="26973" y="78012"/>
                  <a:pt x="26973" y="91035"/>
                </a:cubicBezTo>
                <a:lnTo>
                  <a:pt x="26973" y="94407"/>
                </a:lnTo>
                <a:lnTo>
                  <a:pt x="53947" y="94407"/>
                </a:lnTo>
                <a:cubicBezTo>
                  <a:pt x="68824" y="94407"/>
                  <a:pt x="80920" y="106503"/>
                  <a:pt x="80920" y="121381"/>
                </a:cubicBezTo>
                <a:lnTo>
                  <a:pt x="80920" y="148354"/>
                </a:lnTo>
                <a:cubicBezTo>
                  <a:pt x="80920" y="163232"/>
                  <a:pt x="68824" y="175327"/>
                  <a:pt x="53947" y="175327"/>
                </a:cubicBezTo>
                <a:lnTo>
                  <a:pt x="26973" y="175327"/>
                </a:lnTo>
                <a:cubicBezTo>
                  <a:pt x="12096" y="175327"/>
                  <a:pt x="0" y="163232"/>
                  <a:pt x="0" y="148354"/>
                </a:cubicBezTo>
                <a:lnTo>
                  <a:pt x="0" y="91035"/>
                </a:lnTo>
                <a:close/>
                <a:moveTo>
                  <a:pt x="107894" y="91035"/>
                </a:moveTo>
                <a:cubicBezTo>
                  <a:pt x="107894" y="63093"/>
                  <a:pt x="130526" y="40460"/>
                  <a:pt x="158469" y="40460"/>
                </a:cubicBezTo>
                <a:lnTo>
                  <a:pt x="161841" y="40460"/>
                </a:lnTo>
                <a:cubicBezTo>
                  <a:pt x="169301" y="40460"/>
                  <a:pt x="175327" y="46487"/>
                  <a:pt x="175327" y="53947"/>
                </a:cubicBezTo>
                <a:cubicBezTo>
                  <a:pt x="175327" y="61407"/>
                  <a:pt x="169301" y="67434"/>
                  <a:pt x="161841" y="67434"/>
                </a:cubicBezTo>
                <a:lnTo>
                  <a:pt x="158469" y="67434"/>
                </a:lnTo>
                <a:cubicBezTo>
                  <a:pt x="145446" y="67434"/>
                  <a:pt x="134867" y="78012"/>
                  <a:pt x="134867" y="91035"/>
                </a:cubicBezTo>
                <a:lnTo>
                  <a:pt x="134867" y="94407"/>
                </a:lnTo>
                <a:lnTo>
                  <a:pt x="161841" y="94407"/>
                </a:lnTo>
                <a:cubicBezTo>
                  <a:pt x="176718" y="94407"/>
                  <a:pt x="188814" y="106503"/>
                  <a:pt x="188814" y="121381"/>
                </a:cubicBezTo>
                <a:lnTo>
                  <a:pt x="188814" y="148354"/>
                </a:lnTo>
                <a:cubicBezTo>
                  <a:pt x="188814" y="163232"/>
                  <a:pt x="176718" y="175327"/>
                  <a:pt x="161841" y="175327"/>
                </a:cubicBezTo>
                <a:lnTo>
                  <a:pt x="134867" y="175327"/>
                </a:lnTo>
                <a:cubicBezTo>
                  <a:pt x="119990" y="175327"/>
                  <a:pt x="107894" y="163232"/>
                  <a:pt x="107894" y="148354"/>
                </a:cubicBezTo>
                <a:lnTo>
                  <a:pt x="107894" y="9103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194025" y="6146356"/>
            <a:ext cx="10537628" cy="53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 visualization bridges the gap between </a:t>
            </a:r>
            <a:r>
              <a:rPr lang="en-US" sz="1274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environmental science</a:t>
            </a:r>
            <a:r>
              <a:rPr lang="en-US" sz="127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274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public policy</a:t>
            </a:r>
            <a:r>
              <a:rPr lang="en-US" sz="127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enabling evidence-based decision making for healthier cities."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c3f241edcab9839123d11b02b7556683b16c325e.webp"/>
          <p:cNvPicPr>
            <a:picLocks noChangeAspect="1"/>
          </p:cNvPicPr>
          <p:nvPr/>
        </p:nvPicPr>
        <p:blipFill>
          <a:blip r:embed="rId3">
            <a:alphaModFix amt="20000"/>
          </a:blip>
          <a:srcRect l="1481" r="14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589224" y="-118433"/>
            <a:ext cx="1015388" cy="1015388"/>
          </a:xfrm>
          <a:custGeom>
            <a:avLst/>
            <a:gdLst/>
            <a:ahLst/>
            <a:cxnLst/>
            <a:rect l="l" t="t" r="r" b="b"/>
            <a:pathLst>
              <a:path w="1015388" h="1015388">
                <a:moveTo>
                  <a:pt x="220339" y="0"/>
                </a:moveTo>
                <a:lnTo>
                  <a:pt x="795049" y="0"/>
                </a:lnTo>
                <a:cubicBezTo>
                  <a:pt x="916739" y="0"/>
                  <a:pt x="1015388" y="98649"/>
                  <a:pt x="1015388" y="220339"/>
                </a:cubicBezTo>
                <a:lnTo>
                  <a:pt x="1015388" y="795049"/>
                </a:lnTo>
                <a:cubicBezTo>
                  <a:pt x="1015388" y="916739"/>
                  <a:pt x="916739" y="1015388"/>
                  <a:pt x="795049" y="1015388"/>
                </a:cubicBezTo>
                <a:lnTo>
                  <a:pt x="220339" y="1015388"/>
                </a:lnTo>
                <a:cubicBezTo>
                  <a:pt x="98649" y="1015388"/>
                  <a:pt x="0" y="916739"/>
                  <a:pt x="0" y="795049"/>
                </a:cubicBezTo>
                <a:lnTo>
                  <a:pt x="0" y="220339"/>
                </a:lnTo>
                <a:cubicBezTo>
                  <a:pt x="0" y="98649"/>
                  <a:pt x="98649" y="0"/>
                  <a:pt x="22033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2032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20578" y="112921"/>
            <a:ext cx="550843" cy="550843"/>
          </a:xfrm>
          <a:custGeom>
            <a:avLst/>
            <a:gdLst/>
            <a:ahLst/>
            <a:cxnLst/>
            <a:rect l="l" t="t" r="r" b="b"/>
            <a:pathLst>
              <a:path w="550843" h="550843">
                <a:moveTo>
                  <a:pt x="507056" y="7208"/>
                </a:moveTo>
                <a:cubicBezTo>
                  <a:pt x="513941" y="646"/>
                  <a:pt x="523947" y="-1721"/>
                  <a:pt x="533199" y="1291"/>
                </a:cubicBezTo>
                <a:cubicBezTo>
                  <a:pt x="543743" y="4841"/>
                  <a:pt x="550843" y="14739"/>
                  <a:pt x="550843" y="25821"/>
                </a:cubicBezTo>
                <a:lnTo>
                  <a:pt x="550843" y="226900"/>
                </a:lnTo>
                <a:cubicBezTo>
                  <a:pt x="550843" y="368054"/>
                  <a:pt x="434542" y="481988"/>
                  <a:pt x="293927" y="481988"/>
                </a:cubicBezTo>
                <a:cubicBezTo>
                  <a:pt x="211085" y="481988"/>
                  <a:pt x="139647" y="428733"/>
                  <a:pt x="113719" y="354283"/>
                </a:cubicBezTo>
                <a:cubicBezTo>
                  <a:pt x="75633" y="387419"/>
                  <a:pt x="51642" y="436156"/>
                  <a:pt x="51642" y="490595"/>
                </a:cubicBezTo>
                <a:cubicBezTo>
                  <a:pt x="51642" y="504904"/>
                  <a:pt x="40130" y="516416"/>
                  <a:pt x="25821" y="516416"/>
                </a:cubicBezTo>
                <a:cubicBezTo>
                  <a:pt x="11512" y="516416"/>
                  <a:pt x="0" y="504904"/>
                  <a:pt x="0" y="490595"/>
                </a:cubicBezTo>
                <a:cubicBezTo>
                  <a:pt x="0" y="410013"/>
                  <a:pt x="41098" y="339005"/>
                  <a:pt x="103391" y="297262"/>
                </a:cubicBezTo>
                <a:cubicBezTo>
                  <a:pt x="141369" y="271871"/>
                  <a:pt x="186663" y="258208"/>
                  <a:pt x="232387" y="258208"/>
                </a:cubicBezTo>
                <a:lnTo>
                  <a:pt x="318456" y="258208"/>
                </a:lnTo>
                <a:cubicBezTo>
                  <a:pt x="332765" y="258208"/>
                  <a:pt x="344277" y="246696"/>
                  <a:pt x="344277" y="232387"/>
                </a:cubicBezTo>
                <a:cubicBezTo>
                  <a:pt x="344277" y="218078"/>
                  <a:pt x="332765" y="206566"/>
                  <a:pt x="318456" y="206566"/>
                </a:cubicBezTo>
                <a:lnTo>
                  <a:pt x="232387" y="206566"/>
                </a:lnTo>
                <a:cubicBezTo>
                  <a:pt x="189675" y="206566"/>
                  <a:pt x="149223" y="216034"/>
                  <a:pt x="112966" y="232925"/>
                </a:cubicBezTo>
                <a:cubicBezTo>
                  <a:pt x="138034" y="157614"/>
                  <a:pt x="208933" y="103283"/>
                  <a:pt x="292636" y="103283"/>
                </a:cubicBezTo>
                <a:cubicBezTo>
                  <a:pt x="364073" y="103283"/>
                  <a:pt x="417221" y="79506"/>
                  <a:pt x="452617" y="55945"/>
                </a:cubicBezTo>
                <a:cubicBezTo>
                  <a:pt x="473273" y="42174"/>
                  <a:pt x="490810" y="25713"/>
                  <a:pt x="507163" y="720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432892" y="1196246"/>
            <a:ext cx="7326217" cy="137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3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37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5518" y="2793692"/>
            <a:ext cx="7160964" cy="71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3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complex sensor data into actionable insights for healthier, more sustainable cities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24430" y="3880690"/>
            <a:ext cx="1779224" cy="1806766"/>
          </a:xfrm>
          <a:custGeom>
            <a:avLst/>
            <a:gdLst/>
            <a:ahLst/>
            <a:cxnLst/>
            <a:rect l="l" t="t" r="r" b="b"/>
            <a:pathLst>
              <a:path w="1779224" h="1806766">
                <a:moveTo>
                  <a:pt x="110170" y="0"/>
                </a:moveTo>
                <a:lnTo>
                  <a:pt x="1669055" y="0"/>
                </a:lnTo>
                <a:cubicBezTo>
                  <a:pt x="1729900" y="0"/>
                  <a:pt x="1779224" y="49325"/>
                  <a:pt x="1779224" y="110170"/>
                </a:cubicBezTo>
                <a:lnTo>
                  <a:pt x="1779224" y="1696597"/>
                </a:lnTo>
                <a:cubicBezTo>
                  <a:pt x="1779224" y="1757442"/>
                  <a:pt x="1729900" y="1806766"/>
                  <a:pt x="1669055" y="1806766"/>
                </a:cubicBezTo>
                <a:lnTo>
                  <a:pt x="110170" y="1806766"/>
                </a:lnTo>
                <a:cubicBezTo>
                  <a:pt x="49325" y="1806766"/>
                  <a:pt x="0" y="1757442"/>
                  <a:pt x="0" y="1696597"/>
                </a:cubicBezTo>
                <a:lnTo>
                  <a:pt x="0" y="110170"/>
                </a:lnTo>
                <a:cubicBezTo>
                  <a:pt x="0" y="49325"/>
                  <a:pt x="49325" y="0"/>
                  <a:pt x="1101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720717" y="410470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879085" y="4260779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34428" y="34428"/>
                </a:moveTo>
                <a:cubicBezTo>
                  <a:pt x="34428" y="24906"/>
                  <a:pt x="26735" y="17214"/>
                  <a:pt x="17214" y="17214"/>
                </a:cubicBezTo>
                <a:cubicBezTo>
                  <a:pt x="7692" y="17214"/>
                  <a:pt x="0" y="24906"/>
                  <a:pt x="0" y="34428"/>
                </a:cubicBezTo>
                <a:lnTo>
                  <a:pt x="0" y="215173"/>
                </a:lnTo>
                <a:cubicBezTo>
                  <a:pt x="0" y="238950"/>
                  <a:pt x="19258" y="258208"/>
                  <a:pt x="43035" y="258208"/>
                </a:cubicBezTo>
                <a:lnTo>
                  <a:pt x="258208" y="258208"/>
                </a:lnTo>
                <a:cubicBezTo>
                  <a:pt x="267729" y="258208"/>
                  <a:pt x="275422" y="250515"/>
                  <a:pt x="275422" y="240994"/>
                </a:cubicBezTo>
                <a:cubicBezTo>
                  <a:pt x="275422" y="231473"/>
                  <a:pt x="267729" y="223780"/>
                  <a:pt x="258208" y="223780"/>
                </a:cubicBezTo>
                <a:lnTo>
                  <a:pt x="43035" y="223780"/>
                </a:lnTo>
                <a:cubicBezTo>
                  <a:pt x="38301" y="223780"/>
                  <a:pt x="34428" y="219907"/>
                  <a:pt x="34428" y="215173"/>
                </a:cubicBezTo>
                <a:lnTo>
                  <a:pt x="34428" y="34428"/>
                </a:lnTo>
                <a:close/>
                <a:moveTo>
                  <a:pt x="253151" y="81013"/>
                </a:moveTo>
                <a:cubicBezTo>
                  <a:pt x="259875" y="74289"/>
                  <a:pt x="259875" y="63369"/>
                  <a:pt x="253151" y="56644"/>
                </a:cubicBezTo>
                <a:cubicBezTo>
                  <a:pt x="246427" y="49920"/>
                  <a:pt x="235507" y="49920"/>
                  <a:pt x="228783" y="56644"/>
                </a:cubicBezTo>
                <a:lnTo>
                  <a:pt x="172139" y="113342"/>
                </a:lnTo>
                <a:lnTo>
                  <a:pt x="141261" y="82519"/>
                </a:lnTo>
                <a:cubicBezTo>
                  <a:pt x="134537" y="75795"/>
                  <a:pt x="123617" y="75795"/>
                  <a:pt x="116893" y="82519"/>
                </a:cubicBezTo>
                <a:lnTo>
                  <a:pt x="65251" y="134160"/>
                </a:lnTo>
                <a:cubicBezTo>
                  <a:pt x="58527" y="140885"/>
                  <a:pt x="58527" y="151805"/>
                  <a:pt x="65251" y="158529"/>
                </a:cubicBezTo>
                <a:cubicBezTo>
                  <a:pt x="71975" y="165253"/>
                  <a:pt x="82895" y="165253"/>
                  <a:pt x="89620" y="158529"/>
                </a:cubicBezTo>
                <a:lnTo>
                  <a:pt x="129104" y="119045"/>
                </a:lnTo>
                <a:lnTo>
                  <a:pt x="159981" y="149922"/>
                </a:lnTo>
                <a:cubicBezTo>
                  <a:pt x="166705" y="156646"/>
                  <a:pt x="177625" y="156646"/>
                  <a:pt x="184350" y="149922"/>
                </a:cubicBezTo>
                <a:lnTo>
                  <a:pt x="253205" y="8106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79584" y="4839164"/>
            <a:ext cx="1468916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11716" y="5243116"/>
            <a:ext cx="140465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 Analyzed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05814" y="3880690"/>
            <a:ext cx="1779224" cy="1806766"/>
          </a:xfrm>
          <a:custGeom>
            <a:avLst/>
            <a:gdLst/>
            <a:ahLst/>
            <a:cxnLst/>
            <a:rect l="l" t="t" r="r" b="b"/>
            <a:pathLst>
              <a:path w="1779224" h="1806766">
                <a:moveTo>
                  <a:pt x="110170" y="0"/>
                </a:moveTo>
                <a:lnTo>
                  <a:pt x="1669055" y="0"/>
                </a:lnTo>
                <a:cubicBezTo>
                  <a:pt x="1729900" y="0"/>
                  <a:pt x="1779224" y="49325"/>
                  <a:pt x="1779224" y="110170"/>
                </a:cubicBezTo>
                <a:lnTo>
                  <a:pt x="1779224" y="1696597"/>
                </a:lnTo>
                <a:cubicBezTo>
                  <a:pt x="1779224" y="1757442"/>
                  <a:pt x="1729900" y="1806766"/>
                  <a:pt x="1669055" y="1806766"/>
                </a:cubicBezTo>
                <a:lnTo>
                  <a:pt x="110170" y="1806766"/>
                </a:lnTo>
                <a:cubicBezTo>
                  <a:pt x="49325" y="1806766"/>
                  <a:pt x="0" y="1757442"/>
                  <a:pt x="0" y="1696597"/>
                </a:cubicBezTo>
                <a:lnTo>
                  <a:pt x="0" y="110170"/>
                </a:lnTo>
                <a:cubicBezTo>
                  <a:pt x="0" y="49325"/>
                  <a:pt x="49325" y="0"/>
                  <a:pt x="1101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802102" y="410470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943256" y="4260779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172139" y="0"/>
                </a:moveTo>
                <a:cubicBezTo>
                  <a:pt x="153150" y="0"/>
                  <a:pt x="137711" y="15439"/>
                  <a:pt x="137711" y="34428"/>
                </a:cubicBezTo>
                <a:lnTo>
                  <a:pt x="137711" y="51642"/>
                </a:lnTo>
                <a:lnTo>
                  <a:pt x="111890" y="51642"/>
                </a:lnTo>
                <a:lnTo>
                  <a:pt x="111890" y="12910"/>
                </a:lnTo>
                <a:cubicBezTo>
                  <a:pt x="111890" y="5756"/>
                  <a:pt x="106134" y="0"/>
                  <a:pt x="98980" y="0"/>
                </a:cubicBezTo>
                <a:cubicBezTo>
                  <a:pt x="91825" y="0"/>
                  <a:pt x="86069" y="5756"/>
                  <a:pt x="86069" y="12910"/>
                </a:cubicBezTo>
                <a:lnTo>
                  <a:pt x="86069" y="51642"/>
                </a:lnTo>
                <a:lnTo>
                  <a:pt x="51642" y="51642"/>
                </a:lnTo>
                <a:lnTo>
                  <a:pt x="51642" y="12910"/>
                </a:lnTo>
                <a:cubicBezTo>
                  <a:pt x="51642" y="5756"/>
                  <a:pt x="45886" y="0"/>
                  <a:pt x="38731" y="0"/>
                </a:cubicBezTo>
                <a:cubicBezTo>
                  <a:pt x="31577" y="0"/>
                  <a:pt x="25821" y="5756"/>
                  <a:pt x="25821" y="12910"/>
                </a:cubicBezTo>
                <a:lnTo>
                  <a:pt x="25821" y="52717"/>
                </a:lnTo>
                <a:cubicBezTo>
                  <a:pt x="10974" y="56537"/>
                  <a:pt x="0" y="70039"/>
                  <a:pt x="0" y="86069"/>
                </a:cubicBezTo>
                <a:lnTo>
                  <a:pt x="0" y="240994"/>
                </a:lnTo>
                <a:cubicBezTo>
                  <a:pt x="0" y="259983"/>
                  <a:pt x="15439" y="275422"/>
                  <a:pt x="34428" y="275422"/>
                </a:cubicBezTo>
                <a:lnTo>
                  <a:pt x="275422" y="275422"/>
                </a:lnTo>
                <a:cubicBezTo>
                  <a:pt x="294411" y="275422"/>
                  <a:pt x="309849" y="259983"/>
                  <a:pt x="309849" y="240994"/>
                </a:cubicBezTo>
                <a:lnTo>
                  <a:pt x="309849" y="137711"/>
                </a:lnTo>
                <a:cubicBezTo>
                  <a:pt x="309849" y="118722"/>
                  <a:pt x="294411" y="103283"/>
                  <a:pt x="275422" y="103283"/>
                </a:cubicBezTo>
                <a:lnTo>
                  <a:pt x="240994" y="103283"/>
                </a:lnTo>
                <a:lnTo>
                  <a:pt x="240994" y="34428"/>
                </a:lnTo>
                <a:cubicBezTo>
                  <a:pt x="240994" y="15439"/>
                  <a:pt x="225555" y="0"/>
                  <a:pt x="206566" y="0"/>
                </a:cubicBezTo>
                <a:lnTo>
                  <a:pt x="172139" y="0"/>
                </a:lnTo>
                <a:close/>
                <a:moveTo>
                  <a:pt x="206566" y="60248"/>
                </a:moveTo>
                <a:lnTo>
                  <a:pt x="206566" y="77462"/>
                </a:lnTo>
                <a:cubicBezTo>
                  <a:pt x="206566" y="82196"/>
                  <a:pt x="202693" y="86069"/>
                  <a:pt x="197959" y="86069"/>
                </a:cubicBezTo>
                <a:lnTo>
                  <a:pt x="180745" y="86069"/>
                </a:lnTo>
                <a:cubicBezTo>
                  <a:pt x="176012" y="86069"/>
                  <a:pt x="172139" y="82196"/>
                  <a:pt x="172139" y="77462"/>
                </a:cubicBezTo>
                <a:lnTo>
                  <a:pt x="172139" y="60248"/>
                </a:lnTo>
                <a:cubicBezTo>
                  <a:pt x="172139" y="55515"/>
                  <a:pt x="176012" y="51642"/>
                  <a:pt x="180745" y="51642"/>
                </a:cubicBezTo>
                <a:lnTo>
                  <a:pt x="197959" y="51642"/>
                </a:lnTo>
                <a:cubicBezTo>
                  <a:pt x="202693" y="51642"/>
                  <a:pt x="206566" y="55515"/>
                  <a:pt x="206566" y="60248"/>
                </a:cubicBezTo>
                <a:close/>
                <a:moveTo>
                  <a:pt x="197959" y="103283"/>
                </a:moveTo>
                <a:cubicBezTo>
                  <a:pt x="202693" y="103283"/>
                  <a:pt x="206566" y="107156"/>
                  <a:pt x="206566" y="111890"/>
                </a:cubicBezTo>
                <a:lnTo>
                  <a:pt x="206566" y="129104"/>
                </a:lnTo>
                <a:cubicBezTo>
                  <a:pt x="206566" y="133838"/>
                  <a:pt x="202693" y="137711"/>
                  <a:pt x="197959" y="137711"/>
                </a:cubicBezTo>
                <a:lnTo>
                  <a:pt x="180745" y="137711"/>
                </a:lnTo>
                <a:cubicBezTo>
                  <a:pt x="176012" y="137711"/>
                  <a:pt x="172139" y="133838"/>
                  <a:pt x="172139" y="129104"/>
                </a:cubicBezTo>
                <a:lnTo>
                  <a:pt x="172139" y="111890"/>
                </a:lnTo>
                <a:cubicBezTo>
                  <a:pt x="172139" y="107156"/>
                  <a:pt x="176012" y="103283"/>
                  <a:pt x="180745" y="103283"/>
                </a:cubicBezTo>
                <a:lnTo>
                  <a:pt x="197959" y="103283"/>
                </a:lnTo>
                <a:close/>
                <a:moveTo>
                  <a:pt x="206566" y="163532"/>
                </a:moveTo>
                <a:lnTo>
                  <a:pt x="206566" y="180745"/>
                </a:lnTo>
                <a:cubicBezTo>
                  <a:pt x="206566" y="185479"/>
                  <a:pt x="202693" y="189352"/>
                  <a:pt x="197959" y="189352"/>
                </a:cubicBezTo>
                <a:lnTo>
                  <a:pt x="180745" y="189352"/>
                </a:lnTo>
                <a:cubicBezTo>
                  <a:pt x="176012" y="189352"/>
                  <a:pt x="172139" y="185479"/>
                  <a:pt x="172139" y="180745"/>
                </a:cubicBezTo>
                <a:lnTo>
                  <a:pt x="172139" y="163532"/>
                </a:lnTo>
                <a:cubicBezTo>
                  <a:pt x="172139" y="158798"/>
                  <a:pt x="176012" y="154925"/>
                  <a:pt x="180745" y="154925"/>
                </a:cubicBezTo>
                <a:lnTo>
                  <a:pt x="197959" y="154925"/>
                </a:lnTo>
                <a:cubicBezTo>
                  <a:pt x="202693" y="154925"/>
                  <a:pt x="206566" y="158798"/>
                  <a:pt x="206566" y="163532"/>
                </a:cubicBezTo>
                <a:close/>
                <a:moveTo>
                  <a:pt x="266815" y="154925"/>
                </a:moveTo>
                <a:cubicBezTo>
                  <a:pt x="271549" y="154925"/>
                  <a:pt x="275422" y="158798"/>
                  <a:pt x="275422" y="163532"/>
                </a:cubicBezTo>
                <a:lnTo>
                  <a:pt x="275422" y="180745"/>
                </a:lnTo>
                <a:cubicBezTo>
                  <a:pt x="275422" y="185479"/>
                  <a:pt x="271549" y="189352"/>
                  <a:pt x="266815" y="189352"/>
                </a:cubicBezTo>
                <a:lnTo>
                  <a:pt x="249601" y="189352"/>
                </a:lnTo>
                <a:cubicBezTo>
                  <a:pt x="244867" y="189352"/>
                  <a:pt x="240994" y="185479"/>
                  <a:pt x="240994" y="180745"/>
                </a:cubicBezTo>
                <a:lnTo>
                  <a:pt x="240994" y="163532"/>
                </a:lnTo>
                <a:cubicBezTo>
                  <a:pt x="240994" y="158798"/>
                  <a:pt x="244867" y="154925"/>
                  <a:pt x="249601" y="154925"/>
                </a:cubicBezTo>
                <a:lnTo>
                  <a:pt x="266815" y="154925"/>
                </a:lnTo>
                <a:close/>
                <a:moveTo>
                  <a:pt x="137711" y="163532"/>
                </a:moveTo>
                <a:lnTo>
                  <a:pt x="137711" y="180745"/>
                </a:lnTo>
                <a:cubicBezTo>
                  <a:pt x="137711" y="185479"/>
                  <a:pt x="133838" y="189352"/>
                  <a:pt x="129104" y="189352"/>
                </a:cubicBezTo>
                <a:lnTo>
                  <a:pt x="111890" y="189352"/>
                </a:lnTo>
                <a:cubicBezTo>
                  <a:pt x="107156" y="189352"/>
                  <a:pt x="103283" y="185479"/>
                  <a:pt x="103283" y="180745"/>
                </a:cubicBezTo>
                <a:lnTo>
                  <a:pt x="103283" y="163532"/>
                </a:lnTo>
                <a:cubicBezTo>
                  <a:pt x="103283" y="158798"/>
                  <a:pt x="107156" y="154925"/>
                  <a:pt x="111890" y="154925"/>
                </a:cubicBezTo>
                <a:lnTo>
                  <a:pt x="129104" y="154925"/>
                </a:lnTo>
                <a:cubicBezTo>
                  <a:pt x="133838" y="154925"/>
                  <a:pt x="137711" y="158798"/>
                  <a:pt x="137711" y="163532"/>
                </a:cubicBezTo>
                <a:close/>
                <a:moveTo>
                  <a:pt x="129104" y="103283"/>
                </a:moveTo>
                <a:cubicBezTo>
                  <a:pt x="133838" y="103283"/>
                  <a:pt x="137711" y="107156"/>
                  <a:pt x="137711" y="111890"/>
                </a:cubicBezTo>
                <a:lnTo>
                  <a:pt x="137711" y="129104"/>
                </a:lnTo>
                <a:cubicBezTo>
                  <a:pt x="137711" y="133838"/>
                  <a:pt x="133838" y="137711"/>
                  <a:pt x="129104" y="137711"/>
                </a:cubicBezTo>
                <a:lnTo>
                  <a:pt x="111890" y="137711"/>
                </a:lnTo>
                <a:cubicBezTo>
                  <a:pt x="107156" y="137711"/>
                  <a:pt x="103283" y="133838"/>
                  <a:pt x="103283" y="129104"/>
                </a:cubicBezTo>
                <a:lnTo>
                  <a:pt x="103283" y="111890"/>
                </a:lnTo>
                <a:cubicBezTo>
                  <a:pt x="103283" y="107156"/>
                  <a:pt x="107156" y="103283"/>
                  <a:pt x="111890" y="103283"/>
                </a:cubicBezTo>
                <a:lnTo>
                  <a:pt x="129104" y="103283"/>
                </a:lnTo>
                <a:close/>
                <a:moveTo>
                  <a:pt x="68855" y="163532"/>
                </a:moveTo>
                <a:lnTo>
                  <a:pt x="68855" y="180745"/>
                </a:lnTo>
                <a:cubicBezTo>
                  <a:pt x="68855" y="185479"/>
                  <a:pt x="64982" y="189352"/>
                  <a:pt x="60248" y="189352"/>
                </a:cubicBezTo>
                <a:lnTo>
                  <a:pt x="43035" y="189352"/>
                </a:lnTo>
                <a:cubicBezTo>
                  <a:pt x="38301" y="189352"/>
                  <a:pt x="34428" y="185479"/>
                  <a:pt x="34428" y="180745"/>
                </a:cubicBezTo>
                <a:lnTo>
                  <a:pt x="34428" y="163532"/>
                </a:lnTo>
                <a:cubicBezTo>
                  <a:pt x="34428" y="158798"/>
                  <a:pt x="38301" y="154925"/>
                  <a:pt x="43035" y="154925"/>
                </a:cubicBezTo>
                <a:lnTo>
                  <a:pt x="60248" y="154925"/>
                </a:lnTo>
                <a:cubicBezTo>
                  <a:pt x="64982" y="154925"/>
                  <a:pt x="68855" y="158798"/>
                  <a:pt x="68855" y="163532"/>
                </a:cubicBezTo>
                <a:close/>
                <a:moveTo>
                  <a:pt x="60248" y="103283"/>
                </a:moveTo>
                <a:cubicBezTo>
                  <a:pt x="64982" y="103283"/>
                  <a:pt x="68855" y="107156"/>
                  <a:pt x="68855" y="111890"/>
                </a:cubicBezTo>
                <a:lnTo>
                  <a:pt x="68855" y="129104"/>
                </a:lnTo>
                <a:cubicBezTo>
                  <a:pt x="68855" y="133838"/>
                  <a:pt x="64982" y="137711"/>
                  <a:pt x="60248" y="137711"/>
                </a:cubicBezTo>
                <a:lnTo>
                  <a:pt x="43035" y="137711"/>
                </a:lnTo>
                <a:cubicBezTo>
                  <a:pt x="38301" y="137711"/>
                  <a:pt x="34428" y="133838"/>
                  <a:pt x="34428" y="129104"/>
                </a:cubicBezTo>
                <a:lnTo>
                  <a:pt x="34428" y="111890"/>
                </a:lnTo>
                <a:cubicBezTo>
                  <a:pt x="34428" y="107156"/>
                  <a:pt x="38301" y="103283"/>
                  <a:pt x="43035" y="103283"/>
                </a:cubicBezTo>
                <a:lnTo>
                  <a:pt x="60248" y="103283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360968" y="4839164"/>
            <a:ext cx="1468916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93101" y="5243116"/>
            <a:ext cx="140465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Coverage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87199" y="3880690"/>
            <a:ext cx="1779224" cy="1806766"/>
          </a:xfrm>
          <a:custGeom>
            <a:avLst/>
            <a:gdLst/>
            <a:ahLst/>
            <a:cxnLst/>
            <a:rect l="l" t="t" r="r" b="b"/>
            <a:pathLst>
              <a:path w="1779224" h="1806766">
                <a:moveTo>
                  <a:pt x="110170" y="0"/>
                </a:moveTo>
                <a:lnTo>
                  <a:pt x="1669055" y="0"/>
                </a:lnTo>
                <a:cubicBezTo>
                  <a:pt x="1729900" y="0"/>
                  <a:pt x="1779224" y="49325"/>
                  <a:pt x="1779224" y="110170"/>
                </a:cubicBezTo>
                <a:lnTo>
                  <a:pt x="1779224" y="1696597"/>
                </a:lnTo>
                <a:cubicBezTo>
                  <a:pt x="1779224" y="1757442"/>
                  <a:pt x="1729900" y="1806766"/>
                  <a:pt x="1669055" y="1806766"/>
                </a:cubicBezTo>
                <a:lnTo>
                  <a:pt x="110170" y="1806766"/>
                </a:lnTo>
                <a:cubicBezTo>
                  <a:pt x="49325" y="1806766"/>
                  <a:pt x="0" y="1757442"/>
                  <a:pt x="0" y="1696597"/>
                </a:cubicBezTo>
                <a:lnTo>
                  <a:pt x="0" y="110170"/>
                </a:lnTo>
                <a:cubicBezTo>
                  <a:pt x="0" y="49325"/>
                  <a:pt x="49325" y="0"/>
                  <a:pt x="1101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883487" y="410470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028084" y="4222216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240994" y="137711"/>
                </a:moveTo>
                <a:cubicBezTo>
                  <a:pt x="240994" y="80707"/>
                  <a:pt x="194714" y="34428"/>
                  <a:pt x="137711" y="34428"/>
                </a:cubicBezTo>
                <a:cubicBezTo>
                  <a:pt x="80707" y="34428"/>
                  <a:pt x="34428" y="80707"/>
                  <a:pt x="34428" y="137711"/>
                </a:cubicBezTo>
                <a:cubicBezTo>
                  <a:pt x="34428" y="194714"/>
                  <a:pt x="80707" y="240994"/>
                  <a:pt x="137711" y="240994"/>
                </a:cubicBezTo>
                <a:cubicBezTo>
                  <a:pt x="194714" y="240994"/>
                  <a:pt x="240994" y="194714"/>
                  <a:pt x="240994" y="137711"/>
                </a:cubicBezTo>
                <a:close/>
                <a:moveTo>
                  <a:pt x="0" y="137711"/>
                </a:moveTo>
                <a:cubicBezTo>
                  <a:pt x="0" y="61706"/>
                  <a:pt x="61706" y="0"/>
                  <a:pt x="137711" y="0"/>
                </a:cubicBezTo>
                <a:cubicBezTo>
                  <a:pt x="213716" y="0"/>
                  <a:pt x="275422" y="61706"/>
                  <a:pt x="275422" y="137711"/>
                </a:cubicBezTo>
                <a:cubicBezTo>
                  <a:pt x="275422" y="213716"/>
                  <a:pt x="213716" y="275422"/>
                  <a:pt x="137711" y="275422"/>
                </a:cubicBezTo>
                <a:cubicBezTo>
                  <a:pt x="61706" y="275422"/>
                  <a:pt x="0" y="213716"/>
                  <a:pt x="0" y="137711"/>
                </a:cubicBezTo>
                <a:close/>
                <a:moveTo>
                  <a:pt x="137711" y="180745"/>
                </a:moveTo>
                <a:cubicBezTo>
                  <a:pt x="161462" y="180745"/>
                  <a:pt x="180745" y="161462"/>
                  <a:pt x="180745" y="137711"/>
                </a:cubicBezTo>
                <a:cubicBezTo>
                  <a:pt x="180745" y="113959"/>
                  <a:pt x="161462" y="94676"/>
                  <a:pt x="137711" y="94676"/>
                </a:cubicBezTo>
                <a:cubicBezTo>
                  <a:pt x="113959" y="94676"/>
                  <a:pt x="94676" y="113959"/>
                  <a:pt x="94676" y="137711"/>
                </a:cubicBezTo>
                <a:cubicBezTo>
                  <a:pt x="94676" y="161462"/>
                  <a:pt x="113959" y="180745"/>
                  <a:pt x="137711" y="180745"/>
                </a:cubicBezTo>
                <a:close/>
                <a:moveTo>
                  <a:pt x="137711" y="60248"/>
                </a:moveTo>
                <a:cubicBezTo>
                  <a:pt x="180463" y="60248"/>
                  <a:pt x="215173" y="94958"/>
                  <a:pt x="215173" y="137711"/>
                </a:cubicBezTo>
                <a:cubicBezTo>
                  <a:pt x="215173" y="180463"/>
                  <a:pt x="180463" y="215173"/>
                  <a:pt x="137711" y="215173"/>
                </a:cubicBezTo>
                <a:cubicBezTo>
                  <a:pt x="94958" y="215173"/>
                  <a:pt x="60248" y="180463"/>
                  <a:pt x="60248" y="137711"/>
                </a:cubicBezTo>
                <a:cubicBezTo>
                  <a:pt x="60248" y="94958"/>
                  <a:pt x="94958" y="60248"/>
                  <a:pt x="137711" y="60248"/>
                </a:cubicBezTo>
                <a:close/>
                <a:moveTo>
                  <a:pt x="120497" y="137711"/>
                </a:moveTo>
                <a:cubicBezTo>
                  <a:pt x="120497" y="128210"/>
                  <a:pt x="128210" y="120497"/>
                  <a:pt x="137711" y="120497"/>
                </a:cubicBezTo>
                <a:cubicBezTo>
                  <a:pt x="147211" y="120497"/>
                  <a:pt x="154925" y="128210"/>
                  <a:pt x="154925" y="137711"/>
                </a:cubicBezTo>
                <a:cubicBezTo>
                  <a:pt x="154925" y="147211"/>
                  <a:pt x="147211" y="154925"/>
                  <a:pt x="137711" y="154925"/>
                </a:cubicBezTo>
                <a:cubicBezTo>
                  <a:pt x="128210" y="154925"/>
                  <a:pt x="120497" y="147211"/>
                  <a:pt x="120497" y="13771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442353" y="4839164"/>
            <a:ext cx="1468916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74486" y="5243116"/>
            <a:ext cx="140465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Insights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882538" y="6062035"/>
            <a:ext cx="2423711" cy="7345"/>
          </a:xfrm>
          <a:custGeom>
            <a:avLst/>
            <a:gdLst/>
            <a:ahLst/>
            <a:cxnLst/>
            <a:rect l="l" t="t" r="r" b="b"/>
            <a:pathLst>
              <a:path w="2423711" h="7345">
                <a:moveTo>
                  <a:pt x="0" y="0"/>
                </a:moveTo>
                <a:lnTo>
                  <a:pt x="2423711" y="0"/>
                </a:lnTo>
                <a:lnTo>
                  <a:pt x="2423711" y="7345"/>
                </a:lnTo>
                <a:lnTo>
                  <a:pt x="0" y="734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36634" y="6359489"/>
            <a:ext cx="2515518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41225" y="6726717"/>
            <a:ext cx="2506337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1260</Words>
  <Application>Microsoft Office PowerPoint</Application>
  <PresentationFormat>Widescreen</PresentationFormat>
  <Paragraphs>255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Quattrocento Sans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Analysis of Urban Air Quality &amp; Traffic Impact</dc:title>
  <dc:subject>Data-Driven Analysis of Urban Air Quality &amp; Traffic Impact</dc:subject>
  <dc:creator>Kimi</dc:creator>
  <cp:lastModifiedBy>CS7-39 Sujal Chaudhari</cp:lastModifiedBy>
  <cp:revision>2</cp:revision>
  <dcterms:created xsi:type="dcterms:W3CDTF">2026-02-28T09:56:24Z</dcterms:created>
  <dcterms:modified xsi:type="dcterms:W3CDTF">2026-02-28T10:48:59Z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{"Label":"Data-Driven Analysis of Urban Air Quality &amp; Traffic Impact","ContentProducer":"001191110108MACG2KBH8F10000","ProduceID":"19ca3a8a-5342-865a-8000-0000fcf13b15","ReservedCode1":"","ContentPropagator":"001191110108MACG2KBH8F20000","PropagateID":"19ca3a8a-5342-865a-8000-0000fcf13b15","ReservedCode2":""}</vt:lpwstr>
  </property>
</Properties>
</file>